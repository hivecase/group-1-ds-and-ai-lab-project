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Instances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scratch</c:v>
                </c:pt>
                <c:pt idx="1">
                  <c:v>dent</c:v>
                </c:pt>
                <c:pt idx="2">
                  <c:v>crack</c:v>
                </c:pt>
                <c:pt idx="3">
                  <c:v>broken_lamp</c:v>
                </c:pt>
                <c:pt idx="4">
                  <c:v>flat_tyre</c:v>
                </c:pt>
                <c:pt idx="5">
                  <c:v>shattered_glass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14646</c:v>
                </c:pt>
                <c:pt idx="1">
                  <c:v>5681</c:v>
                </c:pt>
                <c:pt idx="2">
                  <c:v>5509</c:v>
                </c:pt>
                <c:pt idx="3">
                  <c:v>2782</c:v>
                </c:pt>
                <c:pt idx="4">
                  <c:v>2423</c:v>
                </c:pt>
                <c:pt idx="5">
                  <c:v>2221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10566016"/>
        <c:axId val="410567104"/>
      </c:barChart>
      <c:catAx>
        <c:axId val="4105660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410567104"/>
        <c:crosses val="autoZero"/>
        <c:auto val="1"/>
        <c:lblAlgn val="ctr"/>
        <c:lblOffset val="100"/>
        <c:noMultiLvlLbl val="1"/>
      </c:catAx>
      <c:valAx>
        <c:axId val="41056710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410566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5B6B8C"/>
              </a:solidFill>
              <a:effectLst/>
            </c:spPr>
          </c:dPt>
          <c:dPt>
            <c:idx val="2"/>
            <c:bubble3D val="0"/>
            <c:spPr>
              <a:solidFill>
                <a:srgbClr val="E8734A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Train (9,558)</c:v>
                </c:pt>
                <c:pt idx="1">
                  <c:v>Val (2,048)</c:v>
                </c:pt>
                <c:pt idx="2">
                  <c:v>Test (2,049)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9558</c:v>
                </c:pt>
                <c:pt idx="1">
                  <c:v>2048</c:v>
                </c:pt>
                <c:pt idx="2">
                  <c:v>2049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Chunks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dent</c:v>
                </c:pt>
                <c:pt idx="1">
                  <c:v>flat_tyre</c:v>
                </c:pt>
                <c:pt idx="2">
                  <c:v>shattered_glass</c:v>
                </c:pt>
                <c:pt idx="3">
                  <c:v>scratch</c:v>
                </c:pt>
                <c:pt idx="4">
                  <c:v>broken_lamp</c:v>
                </c:pt>
                <c:pt idx="5">
                  <c:v>crack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</c:v>
                </c:pt>
                <c:pt idx="1">
                  <c:v>32</c:v>
                </c:pt>
                <c:pt idx="2">
                  <c:v>29</c:v>
                </c:pt>
                <c:pt idx="3">
                  <c:v>28</c:v>
                </c:pt>
                <c:pt idx="4">
                  <c:v>27</c:v>
                </c:pt>
                <c:pt idx="5">
                  <c:v>21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10567648"/>
        <c:axId val="410566560"/>
      </c:barChart>
      <c:catAx>
        <c:axId val="4105676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410566560"/>
        <c:crosses val="autoZero"/>
        <c:auto val="1"/>
        <c:lblAlgn val="ctr"/>
        <c:lblOffset val="100"/>
        <c:noMultiLvlLbl val="1"/>
      </c:catAx>
      <c:valAx>
        <c:axId val="410566560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410567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Clause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E4E8C"/>
              </a:solidFill>
              <a:effectLst/>
            </c:spPr>
          </c:dPt>
          <c:dPt>
            <c:idx val="2"/>
            <c:bubble3D val="0"/>
            <c:spPr>
              <a:solidFill>
                <a:srgbClr val="5B6B8C"/>
              </a:solidFill>
              <a:effectLst/>
            </c:spPr>
          </c:dPt>
          <c:dPt>
            <c:idx val="3"/>
            <c:bubble3D val="0"/>
            <c:spPr>
              <a:solidFill>
                <a:srgbClr val="CADCFC"/>
              </a:solidFill>
              <a:effectLst/>
            </c:spPr>
          </c:dPt>
          <c:dPt>
            <c:idx val="4"/>
            <c:bubble3D val="0"/>
            <c:spPr>
              <a:solidFill>
                <a:srgbClr val="E8734A"/>
              </a:solidFill>
              <a:effectLst/>
            </c:spPr>
          </c:dPt>
          <c:dPt>
            <c:idx val="5"/>
            <c:bubble3D val="0"/>
            <c:spPr>
              <a:solidFill>
                <a:srgbClr val="F2A98D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general</c:v>
                </c:pt>
                <c:pt idx="1">
                  <c:v>coverage</c:v>
                </c:pt>
                <c:pt idx="2">
                  <c:v>sub_limit</c:v>
                </c:pt>
                <c:pt idx="3">
                  <c:v>exclusion</c:v>
                </c:pt>
                <c:pt idx="4">
                  <c:v>condition</c:v>
                </c:pt>
                <c:pt idx="5">
                  <c:v>definition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113</c:v>
                </c:pt>
                <c:pt idx="1">
                  <c:v>28</c:v>
                </c:pt>
                <c:pt idx="2">
                  <c:v>19</c:v>
                </c:pt>
                <c:pt idx="3">
                  <c:v>13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936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94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05840"/>
            <a:ext cx="1920240" cy="1371600"/>
          </a:xfrm>
          <a:prstGeom prst="rect">
            <a:avLst/>
          </a:prstGeom>
          <a:ln w="25400">
            <a:solidFill>
              <a:srgbClr val="E87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2651760"/>
            <a:ext cx="2377440" cy="1737360"/>
          </a:xfrm>
          <a:prstGeom prst="rect">
            <a:avLst/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4206240"/>
            <a:ext cx="1463040" cy="1188720"/>
          </a:xfrm>
          <a:prstGeom prst="rect">
            <a:avLst/>
          </a:prstGeom>
          <a:ln w="19050">
            <a:solidFill>
              <a:srgbClr val="E87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5120640"/>
            <a:ext cx="1737360" cy="1234440"/>
          </a:xfrm>
          <a:prstGeom prst="rect">
            <a:avLst/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AI LAB  ·  MAY 2026  ·  GROUP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Damage Assessment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Insurance Claims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3291840" cy="5669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947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</a:t>
            </a: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Satyajeet Kumar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 Gautam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Pranab Kumar Manna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Siva Kamal Guddanti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Milestone 1 to a Training-Ready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defined a multi-agent RAG system that reads damage photos and policy PDFs, detects and classifies damage, retrieves relevant policy clauses, and drafts a preliminary claim </a:t>
            </a:r>
            <a:r>
              <a:rPr lang="en-US" sz="1350" dirty="0" smtClean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</a:t>
            </a:r>
            <a:r>
              <a:rPr lang="en-US" sz="13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LangGraph orchestrator routing each claim across four specialist agents and escalating low-confidence cases to human review.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OBJECTIVES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611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verification &amp; download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80" y="390448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provenance, confirm licensing, download every dataset each agent needs.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4531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data preparation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97280" y="474573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remap, dedupe, augment and split VehiDE into training-ready artefacts.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3400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52943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corpus construction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558698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Author, chunk, embed and index a synthetic policy corpus for the Policy Agent.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1508760"/>
            <a:ext cx="507492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FOUR-AGENT ORCHESTRATION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2194560"/>
            <a:ext cx="4434840" cy="841248"/>
          </a:xfrm>
          <a:prstGeom prst="roundRect">
            <a:avLst>
              <a:gd name="adj" fmla="val 6522"/>
            </a:avLst>
          </a:prstGeom>
          <a:solidFill>
            <a:srgbClr val="141B47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2768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Agent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25786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detection of 6 damage classes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0" y="3182112"/>
            <a:ext cx="4434840" cy="841248"/>
          </a:xfrm>
          <a:prstGeom prst="roundRect">
            <a:avLst>
              <a:gd name="adj" fmla="val 6522"/>
            </a:avLst>
          </a:prstGeom>
          <a:solidFill>
            <a:srgbClr val="141B47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3264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Agent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3566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Bounding-box area-ratio scoring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0" y="4169664"/>
            <a:ext cx="4434840" cy="841248"/>
          </a:xfrm>
          <a:prstGeom prst="roundRect">
            <a:avLst>
              <a:gd name="adj" fmla="val 6522"/>
            </a:avLst>
          </a:prstGeom>
          <a:solidFill>
            <a:srgbClr val="141B47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4251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Agent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45537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synthetic policy corpus (MCP tool)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0" y="5157216"/>
            <a:ext cx="4434840" cy="841248"/>
          </a:xfrm>
          <a:prstGeom prst="roundRect">
            <a:avLst>
              <a:gd name="adj" fmla="val 6522"/>
            </a:avLst>
          </a:prstGeom>
          <a:solidFill>
            <a:srgbClr val="141B47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5239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Agent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55412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preliminary claim report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0" y="62179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outputs escalate to a human review queue.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Dataset Preparation · Group 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DATASET IDENTIFICATION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Datasets, Four Agents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441418"/>
              </p:ext>
            </p:extLst>
          </p:nvPr>
        </p:nvGraphicFramePr>
        <p:xfrm>
          <a:off x="548640" y="1554480"/>
          <a:ext cx="11247120" cy="3584448"/>
        </p:xfrm>
        <a:graphic>
          <a:graphicData uri="http://schemas.openxmlformats.org/drawingml/2006/table">
            <a:tbl>
              <a:tblPr/>
              <a:tblGrid>
                <a:gridCol w="2606040"/>
                <a:gridCol w="1965960"/>
                <a:gridCol w="5074920"/>
                <a:gridCol w="1600200"/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VehiDE (primary)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 + 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6-class YOLO fine-tuning &amp; severity 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 smtClean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Pixel-level segmentation masks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Damage 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Human-labelled Minor/Moderate/Severe ground truth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smtClean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 Car Damage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 (comparison)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sanity-check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policy PDFs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retrieval corpus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incident descriptions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+ Eval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Ground-truth incident/report pairs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1109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VehiDE is the largest publicly available annotated vehicle-damage dataset (13,945 images, 36,081 raw instances</a:t>
            </a:r>
            <a:r>
              <a:rPr lang="en-US" sz="1150" i="1" dirty="0" smtClean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selected </a:t>
            </a:r>
            <a:r>
              <a:rPr lang="en-US" sz="11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primary training source. CarDD and the Severity dataset </a:t>
            </a:r>
            <a:r>
              <a:rPr lang="en-US" sz="1150" i="1" dirty="0" smtClean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be integrated once the training on model performs poorly.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Dataset Preparation · Group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DATASET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VehiDE: Structure &amp;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76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13,945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6276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36,081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91840" y="22128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instances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6276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22128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Vietnamese 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6276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78240" y="22128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instances / image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SCHEMA (VIA-format JSON)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5486400" cy="1874520"/>
          </a:xfrm>
          <a:prstGeom prst="roundRect">
            <a:avLst>
              <a:gd name="adj" fmla="val 2927"/>
            </a:avLst>
          </a:prstGeom>
          <a:solidFill>
            <a:srgbClr val="141B4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93008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"&lt;file&gt;.jpg":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"regions": [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{"all_x": [...], "all_y": [...],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"class": "rach"}, ...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are derived from each polygon's [x, y, width, height] extent.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30632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→ PROJECT CLASS MAPPING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383280"/>
          <a:ext cx="5212080" cy="2487168"/>
        </p:xfrm>
        <a:graphic>
          <a:graphicData uri="http://schemas.openxmlformats.org/drawingml/2006/table">
            <a:tbl>
              <a:tblPr/>
              <a:tblGrid>
                <a:gridCol w="3246120"/>
                <a:gridCol w="196596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tray_son (paint_scratches)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mop_lom (dents)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rach (torn_body)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be_den (broken_lamp)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broken_lamp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thung (puncture)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flat_tyre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vo_kinh (broken_glass)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shattered_glass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mat_bo_phan (lost_parts)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Dataset Preparation · Group 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Distribution &amp; Imbalance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9494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08760"/>
            <a:ext cx="3794760" cy="1965960"/>
          </a:xfrm>
          <a:prstGeom prst="roundRect">
            <a:avLst>
              <a:gd name="adj" fmla="val 3721"/>
            </a:avLst>
          </a:prstGeom>
          <a:solidFill>
            <a:srgbClr val="E8734A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18120" y="16459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6.59 : 1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818120" y="248716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  ·  scratch vs. shattered_glass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818120" y="3749040"/>
            <a:ext cx="3794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dominates at 44.0% of retained instances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shattered_glass is rarest at 6.7%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 err="1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torn_body</a:t>
            </a:r>
            <a:r>
              <a:rPr lang="en-US" sz="11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termed as crack class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via class-weighted loss </a:t>
            </a:r>
            <a:r>
              <a:rPr lang="en-US" sz="1100" dirty="0" smtClean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1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 of minority </a:t>
            </a:r>
            <a:r>
              <a:rPr lang="en-US" sz="1100" dirty="0" smtClean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Dataset Preparation · Group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Bounding-Box Area &amp; Severity Proxy</a:t>
            </a:r>
            <a:endParaRPr lang="en-US" sz="3000" dirty="0"/>
          </a:p>
        </p:txBody>
      </p:sp>
      <p:pic>
        <p:nvPicPr>
          <p:cNvPr id="4" name="Image 0" descr="/home/claude/ppt/images/bbox_area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63040"/>
            <a:ext cx="1106424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89204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EEF3FD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001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" y="5257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13,720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468880" y="5349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41.3%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43400" y="489204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EEF3FD"/>
          </a:solidFill>
          <a:ln/>
        </p:spPr>
      </p:sp>
      <p:sp>
        <p:nvSpPr>
          <p:cNvPr id="10" name="Text 7"/>
          <p:cNvSpPr/>
          <p:nvPr/>
        </p:nvSpPr>
        <p:spPr>
          <a:xfrm>
            <a:off x="4526280" y="5001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26280" y="5257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8,238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263640" y="5349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138160" y="489204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EEF3FD"/>
          </a:solidFill>
          <a:ln/>
        </p:spPr>
      </p:sp>
      <p:sp>
        <p:nvSpPr>
          <p:cNvPr id="14" name="Text 11"/>
          <p:cNvSpPr/>
          <p:nvPr/>
        </p:nvSpPr>
        <p:spPr>
          <a:xfrm>
            <a:off x="8321040" y="5001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321040" y="5257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11,304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0058400" y="5349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34.0%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Dataset Preparation · Group 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Multi-Instance Images &amp; Resolution Spread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133108" y="493776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5361708" y="504748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2.58 / median 2.0 instances per image (max 20) </a:t>
            </a:r>
            <a:r>
              <a:rPr lang="en-US" sz="108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</a:t>
            </a: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the </a:t>
            </a:r>
            <a:r>
              <a:rPr lang="en-US" sz="108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norm.</a:t>
            </a:r>
            <a:endParaRPr lang="en-US" sz="1080" dirty="0"/>
          </a:p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Resolutions span 204–2,164 </a:t>
            </a:r>
            <a:r>
              <a:rPr lang="en-US" sz="108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wide.</a:t>
            </a:r>
            <a:endParaRPr lang="en-US" sz="108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Dataset Preparation · Group 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545" y="1794718"/>
            <a:ext cx="3788110" cy="262848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189" y="1794718"/>
            <a:ext cx="3517411" cy="268317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75" y="1288097"/>
            <a:ext cx="3053999" cy="251055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3806590"/>
            <a:ext cx="3136900" cy="26496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and With What Damage Appears</a:t>
            </a:r>
            <a:endParaRPr lang="en-US" sz="3000" dirty="0"/>
          </a:p>
        </p:txBody>
      </p:sp>
      <p:pic>
        <p:nvPicPr>
          <p:cNvPr id="4" name="Image 0" descr="/home/claude/ppt/images/class_cooccurrence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63040"/>
            <a:ext cx="5349240" cy="4846320"/>
          </a:xfrm>
          <a:prstGeom prst="rect">
            <a:avLst/>
          </a:prstGeom>
        </p:spPr>
      </p:pic>
      <p:pic>
        <p:nvPicPr>
          <p:cNvPr id="5" name="Image 1" descr="/home/claude/ppt/images/spatial_distribut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1463040"/>
            <a:ext cx="5532120" cy="4846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Dataset Preparation · Group 1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Licensing, Privacy, Ethics &amp; Reproducibility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Licensing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21031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VehiDE (Apache-2.0), CarDD &amp; Kaggle sets under academic/community terms. IRDAI policy PDFs used only as structural </a:t>
            </a:r>
            <a:r>
              <a:rPr lang="en-US" sz="1150" dirty="0" smtClean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28232" y="21031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/ license-plate detector run across all 13,655 </a:t>
            </a:r>
            <a:r>
              <a:rPr lang="en-US" sz="1150" dirty="0" smtClean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</a:t>
            </a:r>
            <a:r>
              <a:rPr lang="en-US" sz="11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flagged. Detector stays in the pipeline for future additions.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44348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corrupt files, 0 orphan images/annotations, 1 malformed region corrected, 18 exact </a:t>
            </a:r>
            <a:r>
              <a:rPr lang="en-US" sz="1150" dirty="0" smtClean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1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 near-duplicates removed.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8404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Bias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28232" y="44348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VehiDE is </a:t>
            </a:r>
            <a:r>
              <a:rPr lang="en-US" sz="1150" dirty="0" smtClean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Southeast-Asia-sourced, </a:t>
            </a:r>
            <a:r>
              <a:rPr lang="en-US" sz="11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vehicle types &amp; conditions may be underrepresented. Mitigated via augmentation &amp; flagged as a domain-shift risk.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Dataset Preparation · Group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DATA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Download to Training-Ready Images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Corrupt-file check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corrupt images found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15544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173736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47872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remap (7→6)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47872" y="28529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torn_body → </a:t>
            </a:r>
            <a:r>
              <a:rPr lang="en-US" sz="10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lost_parts</a:t>
            </a:r>
            <a:r>
              <a:rPr lang="en-US" sz="10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5544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64224" y="173736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64224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format verify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64224" y="28529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→ [x,y,w,h] bbox, normalised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97696" y="15544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0576" y="173736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918057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80576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 resize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80576" y="28529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640×640, grey pad (114,114,114)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" y="4663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spot-check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51846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sample rendered &amp; visually verified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64992" y="38862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47872" y="406908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3547872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547872" y="4663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47872" y="51846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 smtClean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Face/plate </a:t>
            </a: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</a:t>
            </a:r>
            <a:r>
              <a:rPr lang="en-US" sz="1000" dirty="0" smtClean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</a:t>
            </a: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81344" y="38862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64224" y="406908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6" name="Text 34"/>
          <p:cNvSpPr/>
          <p:nvPr/>
        </p:nvSpPr>
        <p:spPr>
          <a:xfrm>
            <a:off x="6364224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64224" y="4663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64224" y="51846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exact </a:t>
            </a:r>
            <a:r>
              <a:rPr lang="en-US" sz="1000" dirty="0" smtClean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 near-duplicates removed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97696" y="38862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80576" y="406908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9180576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180576" y="4663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180576" y="51846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 → train / val / test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Dataset Preparation · Group 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07-08-09 · SPLITTING &amp; AUGMENTATION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Balanced, Leakage-Checked, Training-Ready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40233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17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13,655 images · 32,672 instances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 stratified split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800600" y="1508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(TRAIN-TIME ONLY)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800600" y="182880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 (p=0.5)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(4-image combine)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brightness / saturation jitter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rotation &amp; translation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</a:t>
            </a:r>
            <a:r>
              <a:rPr lang="en-US" sz="1100" dirty="0" smtClean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</a:t>
            </a:r>
            <a:r>
              <a:rPr lang="en-US" sz="11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camera shake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re-compression (quality 75)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66760" y="1508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CLASS-TARGETED WEIGHTS (cls_pw)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1828800"/>
          <a:ext cx="3246120" cy="2432304"/>
        </p:xfrm>
        <a:graphic>
          <a:graphicData uri="http://schemas.openxmlformats.org/drawingml/2006/table">
            <a:tbl>
              <a:tblPr/>
              <a:tblGrid>
                <a:gridCol w="2148840"/>
                <a:gridCol w="1097280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broken_lamp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flat_tyre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shattered_glass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Dataset Preparation · Group 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&amp; 06 · POLICY DOCUMENT CORPUS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Corpus for the Policy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3F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934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PDFs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508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3FD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60934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chunks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3FD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60934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/ 40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3504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/ overlap (tokens)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1508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3FD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60934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7824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classes tagged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PER DAMAGE CLASS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3291840"/>
          <a:ext cx="56692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6492240" y="2971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TYPE DISTRIBUTION</a:t>
            </a:r>
            <a:endParaRPr lang="en-US" sz="1200" dirty="0"/>
          </a:p>
        </p:txBody>
      </p:sp>
      <p:graphicFrame>
        <p:nvGraphicFramePr>
          <p:cNvPr id="19" name="Chart 1"/>
          <p:cNvGraphicFramePr/>
          <p:nvPr/>
        </p:nvGraphicFramePr>
        <p:xfrm>
          <a:off x="6492240" y="3291840"/>
          <a:ext cx="51206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Dataset Preparation · Group 1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FINAL PREPARED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Model Training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733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13,655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2677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41B47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6733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32,672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22677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instances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41B47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6733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35040" y="22677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5544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41B47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6733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778240" y="22677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chunks indexed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29744"/>
            <a:ext cx="10835640" cy="297180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59525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ready for training 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immediately: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4098178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splits finalised, leakage-checked, and logged as file lists.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policy index (collection policy_clauses, 179 chunks) built and queryable.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CarDD segmentation augmentation &amp; severity-proxy calibration remain open, pending data access.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Dataset Preparation · Group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CHALLENGES ENCOUNTERED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Going Into Milestone 3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885161"/>
              </p:ext>
            </p:extLst>
          </p:nvPr>
        </p:nvGraphicFramePr>
        <p:xfrm>
          <a:off x="548640" y="1508760"/>
          <a:ext cx="11109960" cy="3108960"/>
        </p:xfrm>
        <a:graphic>
          <a:graphicData uri="http://schemas.openxmlformats.org/drawingml/2006/table">
            <a:tbl>
              <a:tblPr/>
              <a:tblGrid>
                <a:gridCol w="3794760"/>
                <a:gridCol w="7315200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Resolution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</a:t>
                      </a:r>
                      <a:r>
                        <a:rPr lang="en-US" sz="1150" dirty="0" smtClean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Class-weighted loss </a:t>
                      </a:r>
                      <a:r>
                        <a:rPr lang="en-US" sz="1150" dirty="0" smtClean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</a:t>
                      </a:r>
                      <a:r>
                        <a:rPr lang="en-US" sz="1150" baseline="0" dirty="0" smtClean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smtClean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oversampling will be applied while</a:t>
                      </a:r>
                      <a:r>
                        <a:rPr lang="en-US" sz="1150" baseline="0" dirty="0" smtClean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training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CarDD dataset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licensing form </a:t>
                      </a:r>
                      <a:r>
                        <a:rPr lang="en-US" sz="1150" dirty="0" smtClean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bias in VehiDE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SE-Asia-sourced; mitigated via augmentation, flagged as domain-shift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Annotation format mismatch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VehiDE (YOLO bbox) vs. CarDD (COCO polygon) </a:t>
                      </a:r>
                      <a:r>
                        <a:rPr lang="en-US" sz="1150" dirty="0" smtClean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</a:t>
                      </a:r>
                      <a:r>
                        <a:rPr lang="en-US" sz="1150" dirty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</a:t>
                      </a:r>
                      <a:r>
                        <a:rPr lang="en-US" sz="1150" dirty="0" smtClean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drafted, will be</a:t>
                      </a:r>
                      <a:r>
                        <a:rPr lang="en-US" sz="1150" baseline="0" dirty="0" smtClean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used if </a:t>
                      </a:r>
                      <a:r>
                        <a:rPr lang="en-US" sz="1150" baseline="0" dirty="0" err="1" smtClean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CarDD</a:t>
                      </a:r>
                      <a:r>
                        <a:rPr lang="en-US" sz="1150" baseline="0" dirty="0" smtClean="0">
                          <a:solidFill>
                            <a:srgbClr val="1E2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dataset is used.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Dataset Preparation · Group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12-13 · DELIVERABLES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Ready, 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PRODUCED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VehiDE EDA notebook + preprocessing script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split image / label sets (train/val/test)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remap lookup &amp; YOLO config (damage.yaml, nc=6)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policy corpus + ChromaDB vector index (179 chunks)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Car Damage EDA (complete, used for comparison)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 smtClean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</a:t>
            </a:r>
            <a:r>
              <a:rPr lang="en-US" sz="1200" dirty="0">
                <a:solidFill>
                  <a:srgbClr val="1E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MILESTONE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205740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architecture: YOLO11m-seg vs. YOLOv8m-seg baseline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LangGraph orchestrator state schema &amp; MCP tool contracts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YOLO baseline (50 epochs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mAP@50 &amp; per-class F1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Policy Agent's FastMCP retrieval tool; run precision check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Report Agent prompt template on 5 sample incident/image 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</a:t>
            </a:r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if the model performs poorly, then integrate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CarDD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into the training </a:t>
            </a:r>
            <a:r>
              <a:rPr lang="en-US" sz="1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dataset.</a:t>
            </a:r>
            <a:endParaRPr lang="en-US" sz="11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Dataset Preparation · Group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05840"/>
            <a:ext cx="1920240" cy="1371600"/>
          </a:xfrm>
          <a:prstGeom prst="rect">
            <a:avLst/>
          </a:prstGeom>
          <a:ln w="25400">
            <a:solidFill>
              <a:srgbClr val="E87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2651760"/>
            <a:ext cx="2377440" cy="1737360"/>
          </a:xfrm>
          <a:prstGeom prst="rect">
            <a:avLst/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4206240"/>
            <a:ext cx="1463040" cy="1188720"/>
          </a:xfrm>
          <a:prstGeom prst="rect">
            <a:avLst/>
          </a:prstGeom>
          <a:ln w="19050">
            <a:solidFill>
              <a:srgbClr val="E87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5120640"/>
            <a:ext cx="1737360" cy="1234440"/>
          </a:xfrm>
          <a:prstGeom prst="rect">
            <a:avLst/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4603" y="2946861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184564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79" y="4094018"/>
            <a:ext cx="5469775" cy="1442259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094019"/>
            <a:ext cx="5370022" cy="169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HiveCase</a:t>
            </a: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/Group-1-DS-and-AI-Lab-Project</a:t>
            </a:r>
          </a:p>
          <a:p>
            <a:pPr algn="ctr"/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&amp; AI Lab  ·  May 2026  ·  Group 1</a:t>
            </a:r>
          </a:p>
          <a:p>
            <a:pPr marL="0" indent="0" algn="ctr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986509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1313</Words>
  <Application>Microsoft Office PowerPoint</Application>
  <PresentationFormat>Widescreen</PresentationFormat>
  <Paragraphs>298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Damage Assessment for Insurance Claims — Milestone 2</dc:title>
  <dc:subject>PptxGenJS Presentation</dc:subject>
  <dc:creator>Group 1</dc:creator>
  <cp:lastModifiedBy>Microsoft account</cp:lastModifiedBy>
  <cp:revision>8</cp:revision>
  <dcterms:created xsi:type="dcterms:W3CDTF">2026-07-09T14:17:18Z</dcterms:created>
  <dcterms:modified xsi:type="dcterms:W3CDTF">2026-07-09T17:08:03Z</dcterms:modified>
</cp:coreProperties>
</file>