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4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50" b="0" i="0" u="none" strike="noStrike">
                <a:solidFill>
                  <a:srgbClr val="FFFFFF"/>
                </a:solidFill>
                <a:latin typeface="Arial"/>
              </a:rPr>
              <a:t>Illustrative end-state pattern (both configs, same architecture)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cls=2.0 (rejected)</c:v>
                </c:pt>
              </c:strCache>
            </c:strRef>
          </c:tx>
          <c:spPr>
            <a:solidFill>
              <a:srgbClr val="E0665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Precision</c:v>
                </c:pt>
                <c:pt idx="1">
                  <c:v>Recall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0.86</c:v>
                </c:pt>
                <c:pt idx="1">
                  <c:v>0.02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cls=0.5 (adopted)</c:v>
                </c:pt>
              </c:strCache>
            </c:strRef>
          </c:tx>
          <c:spPr>
            <a:solidFill>
              <a:srgbClr val="4FD1C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Precision</c:v>
                </c:pt>
                <c:pt idx="1">
                  <c:v>Recall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0.49</c:v>
                </c:pt>
                <c:pt idx="1">
                  <c:v>0.15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20123456"/>
        <c:axId val="420124000"/>
      </c:barChart>
      <c:catAx>
        <c:axId val="4201234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8C4"/>
                </a:solidFill>
                <a:latin typeface="Arial"/>
              </a:defRPr>
            </a:pPr>
            <a:endParaRPr lang="en-US"/>
          </a:p>
        </c:txPr>
        <c:crossAx val="420124000"/>
        <c:crosses val="autoZero"/>
        <c:auto val="1"/>
        <c:lblAlgn val="ctr"/>
        <c:lblOffset val="100"/>
        <c:noMultiLvlLbl val="1"/>
      </c:catAx>
      <c:valAx>
        <c:axId val="420124000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738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8C4"/>
                </a:solidFill>
                <a:latin typeface="Arial"/>
              </a:defRPr>
            </a:pPr>
            <a:endParaRPr lang="en-US"/>
          </a:p>
        </c:txPr>
        <c:crossAx val="420123456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CA8C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50" b="0" i="0" u="none" strike="noStrike">
                <a:solidFill>
                  <a:srgbClr val="FFFFFF"/>
                </a:solidFill>
                <a:latin typeface="Arial"/>
              </a:rPr>
              <a:t>Overall mAP barely moves across 50 more epochs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test mask mAP50</c:v>
                </c:pt>
              </c:strCache>
            </c:strRef>
          </c:tx>
          <c:spPr>
            <a:ln w="31750" cap="flat">
              <a:solidFill>
                <a:srgbClr val="4FD1C5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4FD1C5"/>
              </a:solidFill>
              <a:ln w="9525" cap="flat">
                <a:solidFill>
                  <a:srgbClr val="4FD1C5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Baseline
(30 ep)</c:v>
                </c:pt>
                <c:pt idx="1">
                  <c:v>+ Augmentation
(50 ep)</c:v>
                </c:pt>
                <c:pt idx="2">
                  <c:v>+ DFL reweight
(80 ep)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0.34799999999999998</c:v>
                </c:pt>
                <c:pt idx="1">
                  <c:v>0.35339999999999999</c:v>
                </c:pt>
                <c:pt idx="2">
                  <c:v>0.35489999999999999</c:v>
                </c:pt>
              </c:numCache>
            </c:numRef>
          </c:val>
          <c:smooth val="0"/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20124544"/>
        <c:axId val="420125632"/>
      </c:lineChart>
      <c:catAx>
        <c:axId val="4201245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8C4"/>
                </a:solidFill>
                <a:latin typeface="Arial"/>
              </a:defRPr>
            </a:pPr>
            <a:endParaRPr lang="en-US"/>
          </a:p>
        </c:txPr>
        <c:crossAx val="420125632"/>
        <c:crosses val="autoZero"/>
        <c:auto val="1"/>
        <c:lblAlgn val="ctr"/>
        <c:lblOffset val="100"/>
        <c:noMultiLvlLbl val="1"/>
      </c:catAx>
      <c:valAx>
        <c:axId val="420125632"/>
        <c:scaling>
          <c:orientation val="minMax"/>
          <c:max val="0.4"/>
          <c:min val="0.3"/>
        </c:scaling>
        <c:delete val="0"/>
        <c:axPos val="l"/>
        <c:majorGridlines>
          <c:spPr>
            <a:ln w="9525" cap="flat">
              <a:solidFill>
                <a:srgbClr val="2738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8C4"/>
                </a:solidFill>
                <a:latin typeface="Arial"/>
              </a:defRPr>
            </a:pPr>
            <a:endParaRPr lang="en-US"/>
          </a:p>
        </c:txPr>
        <c:crossAx val="420124544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50" b="0" i="0" u="none" strike="noStrike">
                <a:solidFill>
                  <a:srgbClr val="FFFFFF"/>
                </a:solidFill>
                <a:latin typeface="Arial"/>
              </a:rPr>
              <a:t>Segmentation baseline run (val split, 30 epochs) — monotonic, no reversals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Box mAP50</c:v>
                </c:pt>
              </c:strCache>
            </c:strRef>
          </c:tx>
          <c:spPr>
            <a:ln w="28575" cap="flat">
              <a:solidFill>
                <a:srgbClr val="E8A33D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0.36099999999999999</c:v>
                </c:pt>
                <c:pt idx="1">
                  <c:v>0.33600000000000002</c:v>
                </c:pt>
                <c:pt idx="2">
                  <c:v>0.37</c:v>
                </c:pt>
                <c:pt idx="3">
                  <c:v>0.376</c:v>
                </c:pt>
                <c:pt idx="4">
                  <c:v>0.38400000000000001</c:v>
                </c:pt>
                <c:pt idx="5">
                  <c:v>0.39600000000000002</c:v>
                </c:pt>
                <c:pt idx="6">
                  <c:v>0.39500000000000002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Mask mAP50</c:v>
                </c:pt>
              </c:strCache>
            </c:strRef>
          </c:tx>
          <c:spPr>
            <a:ln w="28575" cap="flat">
              <a:solidFill>
                <a:srgbClr val="4FD1C5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4FD1C5"/>
              </a:solidFill>
              <a:ln w="9525" cap="flat">
                <a:solidFill>
                  <a:srgbClr val="4FD1C5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0.32</c:v>
                </c:pt>
                <c:pt idx="1">
                  <c:v>0.33600000000000002</c:v>
                </c:pt>
                <c:pt idx="2">
                  <c:v>0.33900000000000002</c:v>
                </c:pt>
                <c:pt idx="3">
                  <c:v>0.34699999999999998</c:v>
                </c:pt>
                <c:pt idx="4">
                  <c:v>0.35299999999999998</c:v>
                </c:pt>
                <c:pt idx="5">
                  <c:v>0.36099999999999999</c:v>
                </c:pt>
                <c:pt idx="6">
                  <c:v>0.36299999999999999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20125088"/>
        <c:axId val="420122368"/>
      </c:lineChart>
      <c:catAx>
        <c:axId val="420125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8C4"/>
                </a:solidFill>
                <a:latin typeface="Arial"/>
              </a:defRPr>
            </a:pPr>
            <a:endParaRPr lang="en-US"/>
          </a:p>
        </c:txPr>
        <c:crossAx val="420122368"/>
        <c:crosses val="autoZero"/>
        <c:auto val="1"/>
        <c:lblAlgn val="ctr"/>
        <c:lblOffset val="100"/>
        <c:noMultiLvlLbl val="1"/>
      </c:catAx>
      <c:valAx>
        <c:axId val="420122368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738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8C4"/>
                </a:solidFill>
                <a:latin typeface="Arial"/>
              </a:defRPr>
            </a:pPr>
            <a:endParaRPr lang="en-US"/>
          </a:p>
        </c:txPr>
        <c:crossAx val="420125088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CA8C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6302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ln w="15875">
            <a:solidFill>
              <a:srgbClr val="4FD1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06240"/>
            <a:ext cx="2926080" cy="2926080"/>
          </a:xfrm>
          <a:prstGeom prst="ellipse">
            <a:avLst/>
          </a:prstGeom>
          <a:ln w="15875">
            <a:solidFill>
              <a:srgbClr val="4F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AI LAB  ·  GROUP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 Damage Assessment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Insurance Claims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4. Model Training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Satyajeet Kumar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Anuj Gautam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Pranab Kumar Manna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Venkata Siva Kamal Guddanti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Pal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Selected Architectures to Trained Models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5577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selected YOLO11m for the Damage Agent, on a tie-break against YOLOv8m. Early Milestone 4 training runs showed persistently weak recall on the dataset's thin, low-contrast damage classes, which triggered Milestone 2's pre-registered CarDD contingency: fine-tuning publicly available CarDD-pretrained segmentation checkpoints on the same VehiDE imagery as a parallel exploration track.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40050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training tracks: detection and segmentation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49651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checkpoints fine-tuned or probed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5486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6.68 : 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592531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carried forward from Milestone 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5212080" cy="4709160"/>
          </a:xfrm>
          <a:prstGeom prst="roundRect">
            <a:avLst>
              <a:gd name="adj" fmla="val 1553"/>
            </a:avLst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OBJECTIVES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66560" y="2331720"/>
            <a:ext cx="384048" cy="38404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296912" y="230428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and converge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296912" y="2642616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Milestone 3-selected detector, diagnosing and correcting the class-imbalance loss weighting that caused an early precision/recall collapse.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766560" y="3630168"/>
            <a:ext cx="384048" cy="38404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96912" y="360273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CarDD contingency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296912" y="3941064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CarDD-pretrained segmentation checkpoints on the same VehiDE data as a supplementary path for weak classes.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766560" y="4928616"/>
            <a:ext cx="384048" cy="38404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96912" y="490118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resumable infrastructure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296912" y="5239512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multi-session checkpoint-relay workflow, after losing training progress to unplanned session terminations more than once.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TRAINING DATASET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Label Formats, One Shared Split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17293F"/>
          </a:solidFill>
          <a:ln w="12700">
            <a:solidFill>
              <a:srgbClr val="2738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1907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TRACK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bounding box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2's bbox conversion of VehiDE VIA polygons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5087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17293F"/>
          </a:solidFill>
          <a:ln w="12700">
            <a:solidFill>
              <a:srgbClr val="2738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1907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TRACK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instance polygon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00800" y="24231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VIA polygons, converted directly, letterbox-corrected (Section 11)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SPLIT (MILESTONE 2, REUSED UNCHANGED)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886200"/>
          <a:ext cx="111556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2971800"/>
                <a:gridCol w="297180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instances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Seg. val/test instances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32,672 (total)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02920" y="56235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8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 stratified split (seed 42), verified leakage-free by filename-stem and MD5-hash checks. Detection augmentation: Ultralytics defaults. Segmentation augmentation grew across experiments: defaults, then added copy_paste/HSV/geometric jitter targeted at the weakest classes.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4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MODEL CONFIGURATION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Checkpoints, One Question Each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55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920240"/>
                <a:gridCol w="3017520"/>
                <a:gridCol w="2377440"/>
                <a:gridCol w="182880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Pretrained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transfer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YOLO11m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COCO/Objects365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reinitialised (6 classes)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Interrupted, incomplete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YOLOv8s-seg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CarDD (HF: abdullahg7)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6/6 matched, full transfer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Completed, 2 checkpoints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YOLO11x-seg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CarDD (HF: harpreetsahota)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3/6 matched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Abandoned — OOM at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YOLO11s-seg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 (Ultralytics)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(by design)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Probed only, not trained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02920" y="39776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YOLO11x-seg class-transfer gap was confirmed directly in a training log: "Remapped 3/6 cls head rows from pretrained weights by class name" — the checkpoint's own class-name strings did not match this project's naming convention for broken_lamp, shattered_glass, or flat_tyre.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4983480"/>
            <a:ext cx="11155680" cy="1280160"/>
          </a:xfrm>
          <a:prstGeom prst="roundRect">
            <a:avLst>
              <a:gd name="adj" fmla="val 5714"/>
            </a:avLst>
          </a:prstGeom>
          <a:solidFill>
            <a:srgbClr val="17293F"/>
          </a:solidFill>
          <a:ln w="12700">
            <a:solidFill>
              <a:srgbClr val="2738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9834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were fine-tuned from pretrained checkpoints — none were trained from random initialisation. Model scale varied by roughly 6× across the segmentation track alone: 10.08M (YOLO11s-seg) to 62.1M parameters (YOLO11x-seg), directly shaping which experiments were practical to run to completion (Section 6/11).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TRAINING ENVIRONMENT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Kaggle T4, and One Real Compatibility Finding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440680" cy="2651760"/>
          </a:xfrm>
          <a:prstGeom prst="roundRect">
            <a:avLst>
              <a:gd name="adj" fmla="val 2759"/>
            </a:avLst>
          </a:prstGeom>
          <a:solidFill>
            <a:srgbClr val="17293F"/>
          </a:solidFill>
          <a:ln w="12700">
            <a:solidFill>
              <a:srgbClr val="2738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Tesla T4 (16 GB)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every completed training run. P100 was attempted once and found incompatible (right).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508760"/>
            <a:ext cx="5440680" cy="2651760"/>
          </a:xfrm>
          <a:prstGeom prst="roundRect">
            <a:avLst>
              <a:gd name="adj" fmla="val 2759"/>
            </a:avLst>
          </a:prstGeom>
          <a:solidFill>
            <a:srgbClr val="17293F"/>
          </a:solidFill>
          <a:ln w="12700">
            <a:solidFill>
              <a:srgbClr val="2738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37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0574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Ultralytics 8.4.104–110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PyTorch 2.10.0+cu128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3.12.13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0" y="30632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varied slightly across sessions; no functional issues traced to version drift.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4389120"/>
            <a:ext cx="11155680" cy="1691640"/>
          </a:xfrm>
          <a:prstGeom prst="roundRect">
            <a:avLst>
              <a:gd name="adj" fmla="val 4324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6177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E0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P100 IS INCOMPATIBLE WITH THIS ENVIRONMENT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956048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"CUDA error: no kernel image is available for execution on the device" — P100's Pascal architecture (compute capability 6.0) has no compiled kernels in the torch-2.10.0+cu128 build Kaggle provisioned. Not fixable via configuration; resolved by switching back to T4. A compute-capability check was subsequently added to catch this class of failure in under a second, rather than after building a full pipeline around it.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TRAINING METHODOLOGY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Workflow, Reused Across Every Experiment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57200" cy="45720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0" cy="411480"/>
          </a:xfrm>
          <a:prstGeom prst="line">
            <a:avLst/>
          </a:prstGeom>
          <a:noFill/>
          <a:ln w="19050">
            <a:solidFill>
              <a:srgbClr val="27384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143000" y="15819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86200" y="15270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dataset (Milestone 2 or converted segmentation format) as a Kaggle Dataset input.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457200" cy="45720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0" cy="411480"/>
          </a:xfrm>
          <a:prstGeom prst="line">
            <a:avLst/>
          </a:prstGeom>
          <a:noFill/>
          <a:ln w="19050">
            <a:solidFill>
              <a:srgbClr val="27384F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143000" y="24963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886200" y="24414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1-epoch subsample run — confirms VRAM fits and estimates real per-epoch cost before committing GPU hours.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429000"/>
            <a:ext cx="457200" cy="45720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" y="3886200"/>
            <a:ext cx="0" cy="411480"/>
          </a:xfrm>
          <a:prstGeom prst="line">
            <a:avLst/>
          </a:prstGeom>
          <a:noFill/>
          <a:ln w="19050">
            <a:solidFill>
              <a:srgbClr val="27384F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143000" y="34107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with relay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86200" y="33558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Per-epoch callback periodically backs up to a dedicated Kaggle Dataset; optionally stops early at a configured budget.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343400"/>
            <a:ext cx="457200" cy="45720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43000" y="43251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or evaluate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886200" y="42702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session detects and resumes from the latest backup, or the final checkpoint is evaluated on the held-out test split.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5440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880360" y="5440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5440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1280px, both tracks — set from observed VRAM (~8.5–9.4 GB of 14.9 GB at this size)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02920" y="5806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880360" y="5806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(CIoU) + BCE cls + DFL + seg mask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5806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an unexplained sem_loss=0 term in every segmentation log (Section 11)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02920" y="6172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strategy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880360" y="6172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AdamW, cosine decay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6172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after an initial linear-decay attempt; warmup length varied by adaptation distance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HYPERPARAMETER EXPERIMENTS — DETECTION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cls Weight: the Difference Between Learning and Collapsing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554480"/>
          <a:ext cx="55778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55448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1E3A5F"/>
          </a:solidFill>
          <a:ln/>
        </p:spPr>
      </p:sp>
      <p:sp>
        <p:nvSpPr>
          <p:cNvPr id="6" name="Text 3"/>
          <p:cNvSpPr/>
          <p:nvPr/>
        </p:nvSpPr>
        <p:spPr>
          <a:xfrm>
            <a:off x="662940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AT cls=2.0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629400" y="214884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Over-weighting classification loss taught the model to predict almost nothing — precision stayed high (it's rarely wrong when it does fire) while recall collapsed toward zero, the classic "safe but useless" failure mode.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629400" y="3337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29400" y="370332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Reverting to cls=0.5 (Ultralytics' own default) restored real recall growth. Across 25 confirmed epochs, mAP@50 climbed steadily from near-zero to 0.0248 — genuine, sustained progress, well short of target, before the run was interrupted.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53492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precision/recall bars above illustrate the failure pattern qualitatively; the detection track's own confirmed measurement is mAP@50 = 0.0248 at epoch 25 (cls=0.5), not a fully converged end state.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4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HYPERPARAMETER EXPERIMENTS — SEGMENTATION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Experiments, One Persistent Gap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554480"/>
          <a:ext cx="55778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554480"/>
            <a:ext cx="5303520" cy="3200400"/>
          </a:xfrm>
          <a:prstGeom prst="roundRect">
            <a:avLst>
              <a:gd name="adj" fmla="val 2571"/>
            </a:avLst>
          </a:prstGeom>
          <a:solidFill>
            <a:srgbClr val="17293F"/>
          </a:solidFill>
          <a:ln w="12700">
            <a:solidFill>
              <a:srgbClr val="2738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29400" y="175564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EXPERIMENT TARGETED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629400" y="2148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629400" y="2423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copy_paste, HSV/geometric jitter — aimed at dent/scratch/crack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629400" y="3017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DFL reweight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629400" y="3291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cls=0.3, dfl=1.7 — a genuinely different loss mechanism, boundary precision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29400" y="38862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3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moved the overall number by roughly +0.001 to +0.005 — while individual non-target classes shifted considerably more underneath that flat aggregate (Section 9).</a:t>
            </a:r>
            <a:endParaRPr lang="en-US" sz="1030" dirty="0"/>
          </a:p>
        </p:txBody>
      </p:sp>
      <p:sp>
        <p:nvSpPr>
          <p:cNvPr id="12" name="Shape 9"/>
          <p:cNvSpPr/>
          <p:nvPr/>
        </p:nvSpPr>
        <p:spPr>
          <a:xfrm>
            <a:off x="502920" y="493776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1E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493776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mechanisms, tried in sequence, produced the same result: essentially no movement on the aggregate, and the classes each was built to fix stayed weak. This is the strongest evidence gathered this milestone (Section 9).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4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07-08 · OPTIMIZATION &amp; REGULARIZATION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 Used, and What Wasn't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9728" cy="10972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653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17520" y="186537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throughout — no alternative tested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109728" cy="10972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871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17520" y="24871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decay, adopted after an initial linear-decay attempt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17520" y="31089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patience=15–20; never triggered in any completed run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831336"/>
            <a:ext cx="109728" cy="10972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307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precision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17520" y="37307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amp=True (Ultralytics default); AMP checks passed every session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453128"/>
            <a:ext cx="109728" cy="10972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525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clipping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017520" y="435254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explicitly configured (framework default, unmodified)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55080" y="1508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196596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18653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86800" y="1865376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in later segmentation experiments only; not used in detection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265176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25511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686800" y="2551176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0.0005, consistent across every run, both tracks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333756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32369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686800" y="3236976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defaults, extended with copy_paste/jitter (Slide 8)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402336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39227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686800" y="3922776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cls gain only — the per-class weight vector designed in Milestone 2 was not implemented in any run this milestone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0" y="470916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46085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686800" y="4608576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in any run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5532120"/>
            <a:ext cx="11155680" cy="777240"/>
          </a:xfrm>
          <a:prstGeom prst="roundRect">
            <a:avLst>
              <a:gd name="adj" fmla="val 8235"/>
            </a:avLst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55321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was not applicable — a single fixed stratified split (Milestone 2) was used throughout, by design, to preserve leakage-safety guarantees already established.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TRAINING PROGRESS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Convergence Was Real — Just Not Enough, on Three Classes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554480"/>
          <a:ext cx="64008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554480"/>
            <a:ext cx="4572000" cy="3566160"/>
          </a:xfrm>
          <a:prstGeom prst="roundRect">
            <a:avLst>
              <a:gd name="adj" fmla="val 2308"/>
            </a:avLst>
          </a:prstGeom>
          <a:solidFill>
            <a:srgbClr val="1E3A5F"/>
          </a:solidFill>
          <a:ln/>
        </p:spPr>
      </p:sp>
      <p:sp>
        <p:nvSpPr>
          <p:cNvPr id="6" name="Text 3"/>
          <p:cNvSpPr/>
          <p:nvPr/>
        </p:nvSpPr>
        <p:spPr>
          <a:xfrm>
            <a:off x="7360920" y="17830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EVIDENCE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360920" y="212140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loss components (box, seg, cls, dfl) declined monotonically across every completed run, no exceptions or reversals observed.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60920" y="30175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OVERFITTING OBSERVED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60920" y="335584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metrics tracked training-loss improvement in the same direction throughout; no train/val divergence recorded in any run reviewed.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60920" y="42519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0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UNDERFITTING, SPECIFICALLY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360920" y="459028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dent/scratch/crack lag every other class and did not close the gap as training progressed (Slide 11).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4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097280"/>
            <a:ext cx="2926080" cy="2926080"/>
          </a:xfrm>
          <a:prstGeom prst="ellipse">
            <a:avLst/>
          </a:prstGeom>
          <a:ln w="15875">
            <a:solidFill>
              <a:srgbClr val="4F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HEADLINE FINDING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Instances Did Not Mean</a:t>
            </a:r>
            <a:endParaRPr lang="en-US" sz="3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Performance.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349240" cy="3383280"/>
          </a:xfrm>
          <a:prstGeom prst="roundRect">
            <a:avLst>
              <a:gd name="adj" fmla="val 2432"/>
            </a:avLst>
          </a:prstGeom>
          <a:solidFill>
            <a:srgbClr val="17293F"/>
          </a:solidFill>
          <a:ln w="12700">
            <a:solidFill>
              <a:srgbClr val="2738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26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scratch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3649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training instances of any class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9CA8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2,174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instances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4892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06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0.208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22960" y="5486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mAP50 — one of the two weakest classes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2697480"/>
            <a:ext cx="5349240" cy="3383280"/>
          </a:xfrm>
          <a:prstGeom prst="roundRect">
            <a:avLst>
              <a:gd name="adj" fmla="val 2432"/>
            </a:avLst>
          </a:prstGeom>
          <a:solidFill>
            <a:srgbClr val="2C8C82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926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shattered_glass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37960" y="33649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50" dirty="0">
                <a:solidFill>
                  <a:srgbClr val="0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 training instances of any class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3794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A2E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325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537960" y="4480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instances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37960" y="4892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0.602–0.661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537960" y="5486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mAP50 across experiments — the best-performing class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MODEL SELECTION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Close Call, Selected Provisionally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5568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063240"/>
                <a:gridCol w="3063240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epochs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test mask mAP50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Continuation (augmentation)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DFL boundary-precision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0.3549 — selected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337560"/>
            <a:ext cx="5440680" cy="2651760"/>
          </a:xfrm>
          <a:prstGeom prst="roundRect">
            <a:avLst>
              <a:gd name="adj" fmla="val 2759"/>
            </a:avLst>
          </a:prstGeom>
          <a:solidFill>
            <a:srgbClr val="17293F"/>
          </a:solidFill>
          <a:ln w="12700">
            <a:solidFill>
              <a:srgbClr val="2738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3566160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CHECKPOINT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" y="3913632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in the fine-tuning chain, incorporates a genuinely different loss mechanism (dfl) than either checkpoint before it, and has a complete test-set evaluation — the metric used throughout: overall mask mAP@50.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26480" y="3337560"/>
            <a:ext cx="5440680" cy="2651760"/>
          </a:xfrm>
          <a:prstGeom prst="roundRect">
            <a:avLst>
              <a:gd name="adj" fmla="val 2759"/>
            </a:avLst>
          </a:prstGeom>
          <a:solidFill>
            <a:srgbClr val="17293F"/>
          </a:solidFill>
          <a:ln w="12700">
            <a:solidFill>
              <a:srgbClr val="2738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3566160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TRADE-OFF, STATED PLAINLY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3913632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margin between the two checkpoints (+0.0015) is small enough that either could reasonably be carried forward. The continuation checkpoint keeps shattered_glass stronger (0.661 vs. 0.602) — this selection should be revisited once Milestone 5 weighs per-class performance explicitly.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4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CHALLENGES — TECHNICAL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Findings Worth Carrying Into Milestone 5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55680" cy="1325880"/>
          </a:xfrm>
          <a:prstGeom prst="roundRect">
            <a:avLst>
              <a:gd name="adj" fmla="val 4828"/>
            </a:avLst>
          </a:prstGeom>
          <a:solidFill>
            <a:srgbClr val="17293F"/>
          </a:solidFill>
          <a:ln w="12700">
            <a:solidFill>
              <a:srgbClr val="2738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01368"/>
            <a:ext cx="109728" cy="109728"/>
          </a:xfrm>
          <a:prstGeom prst="ellipse">
            <a:avLst/>
          </a:prstGeom>
          <a:solidFill>
            <a:srgbClr val="E0665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37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94760" y="1600200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YOLO11x-seg OOM'd at imgsz=1280 even at batch=1, after automatic reduction from batch=4. Confirmed the model's base footprint, not batch size, was the limit.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11155680" cy="1325880"/>
          </a:xfrm>
          <a:prstGeom prst="roundRect">
            <a:avLst>
              <a:gd name="adj" fmla="val 4828"/>
            </a:avLst>
          </a:prstGeom>
          <a:solidFill>
            <a:srgbClr val="17293F"/>
          </a:solidFill>
          <a:ln w="12700">
            <a:solidFill>
              <a:srgbClr val="2738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310128"/>
            <a:ext cx="109728" cy="109728"/>
          </a:xfrm>
          <a:prstGeom prst="ellipse">
            <a:avLst/>
          </a:prstGeom>
          <a:solidFill>
            <a:srgbClr val="E0665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246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compatibility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94760" y="3108960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P100 incompatible with the installed PyTorch build (Slide 5) — found only after building a full pipeline around 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4617720"/>
            <a:ext cx="11155680" cy="1325880"/>
          </a:xfrm>
          <a:prstGeom prst="roundRect">
            <a:avLst>
              <a:gd name="adj" fmla="val 4828"/>
            </a:avLst>
          </a:prstGeom>
          <a:solidFill>
            <a:srgbClr val="17293F"/>
          </a:solidFill>
          <a:ln w="12700">
            <a:solidFill>
              <a:srgbClr val="2738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818888"/>
            <a:ext cx="109728" cy="109728"/>
          </a:xfrm>
          <a:prstGeom prst="ellipse">
            <a:avLst/>
          </a:prstGeom>
          <a:solidFill>
            <a:srgbClr val="E0665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754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Dataset/label quality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94760" y="4617720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letterbox coordinate-alignment bug was found and fixed for the segmentation-track labels (10% misalignment demonstrated on a test case). Whether the same bug affects the detection-track bbox labels currently in use has not been confirmed or ruled out.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CHALLENGES — PROCESS &amp; INFRASTRUCTURE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Several of the Costliest Problems Were Tooling, Not Modelling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55680" cy="1417320"/>
          </a:xfrm>
          <a:prstGeom prst="roundRect">
            <a:avLst>
              <a:gd name="adj" fmla="val 4516"/>
            </a:avLst>
          </a:prstGeom>
          <a:solidFill>
            <a:srgbClr val="17293F"/>
          </a:solidFill>
          <a:ln w="12700">
            <a:solidFill>
              <a:srgbClr val="2738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013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37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losses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794760" y="1600200"/>
            <a:ext cx="7680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3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interrupted by session termination at least three times — one incident lost ~25 epochs of detection training entirely, no recoverable checkpoint. Motivated building the multi-session checkpoint-relay system.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502920" y="3200400"/>
            <a:ext cx="11155680" cy="1417320"/>
          </a:xfrm>
          <a:prstGeom prst="roundRect">
            <a:avLst>
              <a:gd name="adj" fmla="val 4516"/>
            </a:avLst>
          </a:prstGeom>
          <a:solidFill>
            <a:srgbClr val="17293F"/>
          </a:solidFill>
          <a:ln w="12700">
            <a:solidFill>
              <a:srgbClr val="2738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401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3375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Silent, then total, backup failure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94760" y="3200400"/>
            <a:ext cx="7680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3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relay version didn't distinguish backup success from failure in its output. Fixed to report failures explicitly — which then surfaced all 6 scheduled backups failing in one full run. That run happened to finish in one session; a mid-run interruption would have lost everything. Fix not yet verified against a real run.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02920" y="4800600"/>
            <a:ext cx="11155680" cy="1417320"/>
          </a:xfrm>
          <a:prstGeom prst="roundRect">
            <a:avLst>
              <a:gd name="adj" fmla="val 4516"/>
            </a:avLst>
          </a:prstGeom>
          <a:solidFill>
            <a:srgbClr val="17293F"/>
          </a:solidFill>
          <a:ln w="12700">
            <a:solidFill>
              <a:srgbClr val="2738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5001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937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Flawed timing estimate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94760" y="4800600"/>
            <a:ext cx="7680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3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cost-estimation method scaled a combined train+val measurement by dataset-size ratio, inflating a real estimate by ~8x (177 min/epoch estimated vs. ~21 min actual). Corrected by timing training and validation separately.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SUMMARY AND NEXT STEPS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Partial Readiness for Milestone 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020824"/>
            <a:ext cx="128016" cy="128016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9280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2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segmentation checkpoints with complete, comparable test-set evaluations.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502920" y="2935224"/>
            <a:ext cx="128016" cy="128016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0720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2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well-evidenced open question for M5: whether dent/scratch/crack need a different approach entirely (e.g. the published DCN+ architecture) rather than further tuning.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02920" y="3849624"/>
            <a:ext cx="128016" cy="128016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72160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2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multi-session training infrastructure, battle-tested across real failures.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635508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0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READY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55080" y="2020824"/>
            <a:ext cx="128016" cy="128016"/>
          </a:xfrm>
          <a:prstGeom prst="ellipse">
            <a:avLst/>
          </a:prstGeom>
          <a:solidFill>
            <a:srgbClr val="E0665A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189280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2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detection track (YOLO11m, the Milestone 3-selected Damage Agent) has no completed training run — the most significant open item, since it is the model actually selected for deployment.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355080" y="3026664"/>
            <a:ext cx="128016" cy="128016"/>
          </a:xfrm>
          <a:prstGeom prst="ellipse">
            <a:avLst/>
          </a:prstGeom>
          <a:solidFill>
            <a:srgbClr val="E0665A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289864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2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letterbox-alignment question for detection-track labels remains open.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355080" y="4032504"/>
            <a:ext cx="128016" cy="128016"/>
          </a:xfrm>
          <a:prstGeom prst="ellipse">
            <a:avLst/>
          </a:prstGeom>
          <a:solidFill>
            <a:srgbClr val="E0665A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90448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2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backup-mechanism fix has not been verified against a real training run.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502920" y="5166360"/>
            <a:ext cx="11155680" cy="914400"/>
          </a:xfrm>
          <a:prstGeom prst="roundRect">
            <a:avLst>
              <a:gd name="adj" fmla="val 7000"/>
            </a:avLst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1663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completed configuration: YOLOv8s-seg, CarDD-pretrained, 80 total epochs, DFL boundary-precision recipe — test mask mAP50 = 0.3549, provisional (Slide 12).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"/>
          </a:xfrm>
          <a:prstGeom prst="rect">
            <a:avLst/>
          </a:prstGeom>
          <a:solidFill>
            <a:srgbClr val="2738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88952" cy="18288"/>
          </a:xfrm>
          <a:prstGeom prst="rect">
            <a:avLst/>
          </a:prstGeom>
          <a:solidFill>
            <a:srgbClr val="27384F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ln w="15875">
            <a:solidFill>
              <a:srgbClr val="4FD1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188720" y="4160520"/>
            <a:ext cx="2834640" cy="2834640"/>
          </a:xfrm>
          <a:prstGeom prst="ellipse">
            <a:avLst/>
          </a:prstGeom>
          <a:ln w="15875">
            <a:solidFill>
              <a:srgbClr val="4FD1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1417320"/>
            <a:ext cx="12188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0" y="260604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856232" y="3246120"/>
            <a:ext cx="8476488" cy="1691640"/>
          </a:xfrm>
          <a:prstGeom prst="roundRect">
            <a:avLst>
              <a:gd name="adj" fmla="val 5405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349300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</a:t>
            </a:r>
            <a:r>
              <a:rPr lang="en-US" sz="13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HiveCase/Group-1-DS-and-AI-Lab-Project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48840" y="392277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 </a:t>
            </a:r>
            <a:r>
              <a:rPr lang="en-US" sz="13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Spaces (to be deployed)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48840" y="43525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r>
              <a:rPr lang="en-US" sz="13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and AI Lab  ·  May 2026  ·  Group 1  ·  IIT Madras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2089</Words>
  <Application>Microsoft Office PowerPoint</Application>
  <PresentationFormat>Widescreen</PresentationFormat>
  <Paragraphs>276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1</cp:revision>
  <dcterms:created xsi:type="dcterms:W3CDTF">2026-07-30T07:05:09Z</dcterms:created>
  <dcterms:modified xsi:type="dcterms:W3CDTF">2026-07-30T17:47:50Z</dcterms:modified>
</cp:coreProperties>
</file>