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ad0419dbc_3_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fad0419dbc_3_1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fad0419dbc_3_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d0419dbc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ad0419dbc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ad0419dbc_29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ad0419dbc_29_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ad0419dbc_25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fad0419dbc_25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ad0419dbc_25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p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ad0419dbc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fad0419dbc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ad0419dbc_3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fad0419dbc_31_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Policy PDFs are chunked and embedded per policy. Dense retrieval (sentence-transformer embeddings) catches meaning; sparse (TF-IDF) catches exact clause numbers and literal terms that meaning-search can miss. We fuse both with weighted Reciprocal Rank Fusion — 3:1 dense:sparse — chosen by sweeping four ratios (100:0, 66:33, 75:25, 80:20) and taking the one that peaked P@3 without hurting MRR or introducing any zero-hit incidents. On the 50-incident benchmark that's P@3 0.91, MRR@5 0.98, zero misses.</a:t>
            </a:r>
            <a:endParaRPr/>
          </a:p>
        </p:txBody>
      </p:sp>
      <p:sp>
        <p:nvSpPr>
          <p:cNvPr id="591" name="Google Shape;591;p1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is the bridge between the vision agent and the RAG agent. YOLO doesn't just draw boxes — its six damage classes become the actual query metadata for retrieval. Every chunk in the policy corpus is auto-tagged the same way, by regex over the clause text, so a detected 'crack' can be matched against chunks tagged 'crack'. For each detected class we run two queries — one for coverage, one for exclusions — so we surface both what's covered and what might knock the claim out. The fourth step is a real bug-fix story, worth telling live: we found a case where a class-specific query for crack/broken_lamp was outranked by an unrelated tyre-damage clause that just happened to share more surface vocabulary — the real operative clause never showed up. The fix runs one extra class-agnostic query for the policy's general coverage grant and merges it in additively, never displacing an existing hit. Verified across all 5 policies x 6 damage classes — every bucket now returns a non-empty, sane coverage set.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ad0419dbc_3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g3fad0419dbc_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Two different ways of scoring the same retrieval. P@3 and MRR@5 are deterministic — a chunk counts as relevant if its regex-derived damage-class tag intersects the target set. Fast and repeatable, but only as good as the tagger. context_precision is the harder bar: an independent LLM judge (gemini-2.5-flash, never our generator) actually reads each retrieved chunk and decides if it's relevant to this specific incident. It comes in lower, 0.83 vs 0.91 — expected, not a regression, since semantic judgment is a stricter bar than tag matching. The 5.59x lift-over-random number is there for the gut-check: random retrieval over this corpus only hits 16% precision, so 91% is a real signal.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ad0419dbc_37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fad0419dbc_3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Three RAGAs metrics, all judged by gemini-2.5-flash — independent of the generator (llama-3.3-70b-versatile), so the model never grades its own report. Faithfulness (0.63) asks whether the generated prose is actually entailed by the retrieved clause text, not just citing a real chunk ID. Answer relevancy (0.44) checks whether the answer addresses the claim's actual damage items. Answer correctness (0.52) compares the verdict against a hand-written reference — and that reference disagreed with the model on 7 of 14 items, so this isn't the model grading itself. These are deliberately the harder, semantic bar: lower absolute numbers than a simple pass/fail check would give, but a much stronger claim about whether the report is actually correct, not just well-formed.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2" name="Google Shape;712;p2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4" name="Google Shape;744;p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2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2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2" name="Google Shape;782;p2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2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3" name="Google Shape;853;p2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fad0419dbc_40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g3fad0419dbc_40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fad0419dbc_40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p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8" name="Google Shape;1008;p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fad0419dbc_6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g3fad0419dbc_6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g3fad0419dbc_6_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fad0419dbc_14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3" name="Google Shape;1113;g3fad0419dbc_14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g3fad0419dbc_14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fad0419dbc_19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g3fad0419dbc_19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3fad0419dbc_19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fad0419dbc_12_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g3fad0419dbc_12_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g3fad0419dbc_12_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7" name="Google Shape;1237;p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8" name="Google Shape;1238;p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p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5" name="Google Shape;1275;p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4" name="Google Shape;44;p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0" name="Google Shape;60;p1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1" name="Google Shape;61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8" name="Google Shape;68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" name="Google Shape;9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34.png"/><Relationship Id="rId13" Type="http://schemas.openxmlformats.org/officeDocument/2006/relationships/image" Target="../media/image26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48.png"/><Relationship Id="rId9" Type="http://schemas.openxmlformats.org/officeDocument/2006/relationships/image" Target="../media/image8.png"/><Relationship Id="rId1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65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39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6.png"/><Relationship Id="rId5" Type="http://schemas.openxmlformats.org/officeDocument/2006/relationships/image" Target="../media/image51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8.png"/><Relationship Id="rId4" Type="http://schemas.openxmlformats.org/officeDocument/2006/relationships/image" Target="../media/image8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26.png"/><Relationship Id="rId6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1.png"/><Relationship Id="rId6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34.png"/><Relationship Id="rId5" Type="http://schemas.openxmlformats.org/officeDocument/2006/relationships/image" Target="../media/image1.png"/><Relationship Id="rId6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41.png"/><Relationship Id="rId6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6.png"/><Relationship Id="rId4" Type="http://schemas.openxmlformats.org/officeDocument/2006/relationships/image" Target="../media/image25.png"/><Relationship Id="rId5" Type="http://schemas.openxmlformats.org/officeDocument/2006/relationships/image" Target="../media/image93.png"/><Relationship Id="rId6" Type="http://schemas.openxmlformats.org/officeDocument/2006/relationships/image" Target="../media/image84.png"/><Relationship Id="rId7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41.png"/><Relationship Id="rId6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96.png"/><Relationship Id="rId5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3" Type="http://schemas.openxmlformats.org/officeDocument/2006/relationships/image" Target="../media/image72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0.png"/><Relationship Id="rId4" Type="http://schemas.openxmlformats.org/officeDocument/2006/relationships/image" Target="../media/image58.png"/><Relationship Id="rId9" Type="http://schemas.openxmlformats.org/officeDocument/2006/relationships/image" Target="../media/image90.png"/><Relationship Id="rId14" Type="http://schemas.openxmlformats.org/officeDocument/2006/relationships/image" Target="../media/image70.png"/><Relationship Id="rId5" Type="http://schemas.openxmlformats.org/officeDocument/2006/relationships/image" Target="../media/image61.png"/><Relationship Id="rId6" Type="http://schemas.openxmlformats.org/officeDocument/2006/relationships/image" Target="../media/image59.png"/><Relationship Id="rId7" Type="http://schemas.openxmlformats.org/officeDocument/2006/relationships/image" Target="../media/image92.png"/><Relationship Id="rId8" Type="http://schemas.openxmlformats.org/officeDocument/2006/relationships/image" Target="../media/image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4.png"/><Relationship Id="rId4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Relationship Id="rId4" Type="http://schemas.openxmlformats.org/officeDocument/2006/relationships/image" Target="../media/image95.png"/><Relationship Id="rId5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1.png"/><Relationship Id="rId4" Type="http://schemas.openxmlformats.org/officeDocument/2006/relationships/image" Target="../media/image86.png"/><Relationship Id="rId5" Type="http://schemas.openxmlformats.org/officeDocument/2006/relationships/image" Target="../media/image59.png"/><Relationship Id="rId6" Type="http://schemas.openxmlformats.org/officeDocument/2006/relationships/image" Target="../media/image67.png"/><Relationship Id="rId7" Type="http://schemas.openxmlformats.org/officeDocument/2006/relationships/image" Target="../media/image94.png"/><Relationship Id="rId8" Type="http://schemas.openxmlformats.org/officeDocument/2006/relationships/image" Target="../media/image8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8.png"/><Relationship Id="rId4" Type="http://schemas.openxmlformats.org/officeDocument/2006/relationships/image" Target="../media/image91.png"/><Relationship Id="rId5" Type="http://schemas.openxmlformats.org/officeDocument/2006/relationships/image" Target="../media/image87.png"/><Relationship Id="rId6" Type="http://schemas.openxmlformats.org/officeDocument/2006/relationships/image" Target="../media/image82.png"/><Relationship Id="rId7" Type="http://schemas.openxmlformats.org/officeDocument/2006/relationships/image" Target="../media/image5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1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51.png"/><Relationship Id="rId5" Type="http://schemas.openxmlformats.org/officeDocument/2006/relationships/image" Target="../media/image2.png"/><Relationship Id="rId6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33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6309360" y="0"/>
            <a:ext cx="2834400" cy="5143500"/>
          </a:xfrm>
          <a:prstGeom prst="rect">
            <a:avLst/>
          </a:prstGeom>
          <a:solidFill>
            <a:srgbClr val="1C315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978015" y="1983437"/>
            <a:ext cx="1474500" cy="14745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6633" y="2352055"/>
            <a:ext cx="737235" cy="73723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6497955" y="3492197"/>
            <a:ext cx="925800" cy="9258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155" y="3714397"/>
            <a:ext cx="481432" cy="48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7938135" y="3697937"/>
            <a:ext cx="788700" cy="7887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5303" y="3895105"/>
            <a:ext cx="394335" cy="39433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514350" y="72009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DS &amp; AI LAB   ·   PROJECT PRESENTATION   ·   GROUP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93776" y="1062990"/>
            <a:ext cx="57606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43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Bookman Old Style"/>
              <a:buNone/>
            </a:pPr>
            <a:r>
              <a:rPr b="1" i="0" lang="en" sz="35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Car Damage Insurance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3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Bookman Old Style"/>
              <a:buNone/>
            </a:pPr>
            <a:r>
              <a:rPr b="1" i="0" lang="en" sz="35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Claim Portal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14350" y="2434590"/>
            <a:ext cx="5486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1935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An AI-assisted</a:t>
            </a:r>
            <a:r>
              <a:rPr lang="en" sz="1200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2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motor insurance claim portal powered by </a:t>
            </a:r>
            <a:r>
              <a:rPr lang="en" sz="1200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r>
              <a:rPr b="0" i="0" lang="en" sz="12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34924" y="3236976"/>
            <a:ext cx="754500" cy="309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14350" y="3394710"/>
            <a:ext cx="5555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62963"/>
              </a:lnSpc>
              <a:spcBef>
                <a:spcPts val="0"/>
              </a:spcBef>
              <a:spcAft>
                <a:spcPts val="0"/>
              </a:spcAft>
              <a:buClr>
                <a:srgbClr val="E7EDF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7EDF5"/>
                </a:solidFill>
                <a:latin typeface="Calibri"/>
                <a:ea typeface="Calibri"/>
                <a:cs typeface="Calibri"/>
                <a:sym typeface="Calibri"/>
              </a:rPr>
              <a:t>Satyajeet Kumar    ·    Pranab Kumar Manna    ·    Venkata Siva Kamal Guddanti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963"/>
              </a:lnSpc>
              <a:spcBef>
                <a:spcPts val="0"/>
              </a:spcBef>
              <a:spcAft>
                <a:spcPts val="0"/>
              </a:spcAft>
              <a:buClr>
                <a:srgbClr val="E7EDF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7EDF5"/>
                </a:solidFill>
                <a:latin typeface="Calibri"/>
                <a:ea typeface="Calibri"/>
                <a:cs typeface="Calibri"/>
                <a:sym typeface="Calibri"/>
              </a:rPr>
              <a:t>Anuj Gautam    ·    Harsh Pal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14350" y="449199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1BD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CA1BD"/>
                </a:solidFill>
                <a:latin typeface="Calibri"/>
                <a:ea typeface="Calibri"/>
                <a:cs typeface="Calibri"/>
                <a:sym typeface="Calibri"/>
              </a:rPr>
              <a:t>Data Science &amp; AI Lab   ·   IIT Madras   ·   May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6" title="IITM_logo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7173" y="75674"/>
            <a:ext cx="1302899" cy="130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Slow and Repetitive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80060" y="1062990"/>
            <a:ext cx="45948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When a vehicle is damaged, a claims assessor has to work through every claim </a:t>
            </a:r>
            <a:r>
              <a:rPr lang="en" sz="1100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manually</a:t>
            </a: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80060" y="1645920"/>
            <a:ext cx="4629150" cy="788670"/>
          </a:xfrm>
          <a:prstGeom prst="roundRect">
            <a:avLst>
              <a:gd fmla="val 86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747522" y="1759077"/>
            <a:ext cx="562356" cy="562356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111" y="1899666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1405890" y="1755648"/>
            <a:ext cx="3771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1400"/>
              <a:buFont typeface="Bookman Old Style"/>
              <a:buNone/>
            </a:pPr>
            <a:r>
              <a:rPr b="1" i="0" lang="en" sz="1400" u="none" cap="none" strike="noStrike">
                <a:solidFill>
                  <a:srgbClr val="C8820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748790" y="1755648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Review the photos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748790" y="2029968"/>
            <a:ext cx="3257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Manually inspect every submitted photograph of the damage.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80060" y="2551176"/>
            <a:ext cx="4629150" cy="788670"/>
          </a:xfrm>
          <a:prstGeom prst="roundRect">
            <a:avLst>
              <a:gd fmla="val 86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747522" y="2664333"/>
            <a:ext cx="562356" cy="562356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8" name="Google Shape;1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111" y="2804922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1405890" y="2660904"/>
            <a:ext cx="3771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1400"/>
              <a:buFont typeface="Bookman Old Style"/>
              <a:buNone/>
            </a:pPr>
            <a:r>
              <a:rPr b="1" i="0" lang="en" sz="1400" u="none" cap="none" strike="noStrike">
                <a:solidFill>
                  <a:srgbClr val="C8820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748790" y="2660904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Cross-check the policy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748790" y="2935224"/>
            <a:ext cx="3257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Read the policyholder's insurance document to see what is covered.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80060" y="3456432"/>
            <a:ext cx="4629150" cy="788670"/>
          </a:xfrm>
          <a:prstGeom prst="roundRect">
            <a:avLst>
              <a:gd fmla="val 86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47522" y="3569589"/>
            <a:ext cx="562356" cy="562356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4" name="Google Shape;1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111" y="3710178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1405890" y="3566160"/>
            <a:ext cx="3771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1400"/>
              <a:buFont typeface="Bookman Old Style"/>
              <a:buNone/>
            </a:pPr>
            <a:r>
              <a:rPr b="1" i="0" lang="en" sz="1400" u="none" cap="none" strike="noStrike">
                <a:solidFill>
                  <a:srgbClr val="C8820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1748790" y="3566160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Write the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1748790" y="3840480"/>
            <a:ext cx="3257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Draft a preliminary assessment before any decision can be made.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349240" y="1062990"/>
            <a:ext cx="3326130" cy="3497580"/>
          </a:xfrm>
          <a:prstGeom prst="roundRect">
            <a:avLst>
              <a:gd fmla="val 2474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580251" y="1320165"/>
            <a:ext cx="857250" cy="85725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94563" y="153447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5554980" y="2263140"/>
            <a:ext cx="2914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ookman Old Style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Several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Bookman Old Style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business days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623560" y="2983230"/>
            <a:ext cx="27774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is the typical turnaround for a single first-pass claim.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7"/>
          <p:cNvCxnSpPr/>
          <p:nvPr/>
        </p:nvCxnSpPr>
        <p:spPr>
          <a:xfrm>
            <a:off x="5897880" y="3531870"/>
            <a:ext cx="2228850" cy="0"/>
          </a:xfrm>
          <a:prstGeom prst="straightConnector1">
            <a:avLst/>
          </a:prstGeom>
          <a:noFill/>
          <a:ln cap="flat" cmpd="sng" w="12700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17"/>
          <p:cNvSpPr/>
          <p:nvPr/>
        </p:nvSpPr>
        <p:spPr>
          <a:xfrm>
            <a:off x="5623560" y="3669030"/>
            <a:ext cx="27774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F3D9A6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F3D9A6"/>
                </a:solidFill>
                <a:latin typeface="Calibri"/>
                <a:ea typeface="Calibri"/>
                <a:cs typeface="Calibri"/>
                <a:sym typeface="Calibri"/>
              </a:rPr>
              <a:t>And the same damage can earn different severity ratings from different assessors.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Large, Still-Manual Market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80060" y="1131570"/>
            <a:ext cx="2846070" cy="3429000"/>
          </a:xfrm>
          <a:prstGeom prst="roundRect">
            <a:avLst>
              <a:gd fmla="val 2892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508760" y="1354455"/>
            <a:ext cx="788670" cy="78867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815" y="1559509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480060" y="2228850"/>
            <a:ext cx="284607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Bookman Old Style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$10B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80060" y="2846070"/>
            <a:ext cx="28460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Bookman Old Style"/>
              <a:buNone/>
            </a:pPr>
            <a:r>
              <a:rPr b="1" i="0" lang="en" sz="2000" u="none" cap="none" strike="noStrike">
                <a:solidFill>
                  <a:srgbClr val="F5A62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to $15B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82930" y="3326130"/>
            <a:ext cx="264033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India motor insurance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2026 to 2031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17220" y="408051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C4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FA6C4"/>
                </a:solidFill>
                <a:latin typeface="Calibri"/>
                <a:ea typeface="Calibri"/>
                <a:cs typeface="Calibri"/>
                <a:sym typeface="Calibri"/>
              </a:rPr>
              <a:t>Still heavily manual, claim by claim.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531870" y="1131570"/>
            <a:ext cx="2482596" cy="1645920"/>
          </a:xfrm>
          <a:prstGeom prst="roundRect">
            <a:avLst>
              <a:gd fmla="val 416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771900" y="1330452"/>
            <a:ext cx="589788" cy="589788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9347" y="1477899"/>
            <a:ext cx="294894" cy="29489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4457700" y="1371600"/>
            <a:ext cx="14196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Throughput bottleneck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751326" y="2009394"/>
            <a:ext cx="20574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Manual </a:t>
            </a:r>
            <a:r>
              <a:rPr lang="en" sz="900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vehicle </a:t>
            </a: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review is the biggest time cost on every claim.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206490" y="1131570"/>
            <a:ext cx="2482596" cy="1645920"/>
          </a:xfrm>
          <a:prstGeom prst="roundRect">
            <a:avLst>
              <a:gd fmla="val 416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446520" y="1330452"/>
            <a:ext cx="589788" cy="589788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3967" y="1477899"/>
            <a:ext cx="294894" cy="29489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7132320" y="1371600"/>
            <a:ext cx="14196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Assessor variability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425946" y="2009394"/>
            <a:ext cx="20574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The same damage gets rated differently by different people.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531870" y="2914650"/>
            <a:ext cx="2482596" cy="1645920"/>
          </a:xfrm>
          <a:prstGeom prst="roundRect">
            <a:avLst>
              <a:gd fmla="val 416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771900" y="3113532"/>
            <a:ext cx="589788" cy="589788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9347" y="3260979"/>
            <a:ext cx="294894" cy="29489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4457700" y="3154680"/>
            <a:ext cx="14196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Policy cross-referencing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751326" y="3792474"/>
            <a:ext cx="20574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Multi-page policy documents get re-read for every single claim.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206490" y="2914650"/>
            <a:ext cx="2482596" cy="1645920"/>
          </a:xfrm>
          <a:prstGeom prst="roundRect">
            <a:avLst>
              <a:gd fmla="val 416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6446520" y="3113532"/>
            <a:ext cx="589788" cy="589788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3967" y="3260979"/>
            <a:ext cx="294894" cy="2948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>
            <a:off x="7132320" y="3154680"/>
            <a:ext cx="14196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425946" y="3792474"/>
            <a:ext cx="20574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he pipeline with a sudden surge of claims, the manual process simply can’t handle the increased volume efficiently 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384048" y="155448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19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LITERATURE REVIEW  ·  PRIOR WORK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384048" y="365760"/>
            <a:ext cx="8275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What's already known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384048" y="868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4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Three research threads converge on the same conclusion: detection, grounding, and reporting are rarely integrated in one accessible pipeline.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384048" y="1353312"/>
            <a:ext cx="2761488" cy="3255264"/>
          </a:xfrm>
          <a:prstGeom prst="roundRect">
            <a:avLst>
              <a:gd fmla="val 16667" name="adj"/>
            </a:avLst>
          </a:prstGeom>
          <a:solidFill>
            <a:srgbClr val="E9F0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48640" y="1517904"/>
            <a:ext cx="384048" cy="384048"/>
          </a:xfrm>
          <a:prstGeom prst="ellipse">
            <a:avLst/>
          </a:prstGeom>
          <a:solidFill>
            <a:srgbClr val="C8820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48640" y="1531620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042415" y="1517904"/>
            <a:ext cx="1892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Vision-Based Damage Detection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85216" y="201168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Patil et al. (2017) · IJERT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85216" y="225856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84% binary accuracy (CNN). Classification only — no localisation or severity.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85216" y="278892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Mask R-CNN · He et al. (ICCV 2017)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85216" y="303580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COCO: Box AP 37.1 / Mask AP 35.7. High segmentation fidelity, but greater compute cost.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5216" y="356616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YOLOv8 damage-seg · IEEE 2024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5216" y="381304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mAP50 ≈ 0.73 on ~4k images. No policy integration or structured report.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85216" y="434340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HL-YOLO · MDPI 2025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3191256" y="1353312"/>
            <a:ext cx="2761488" cy="3255264"/>
          </a:xfrm>
          <a:prstGeom prst="roundRect">
            <a:avLst>
              <a:gd fmla="val 16667" name="adj"/>
            </a:avLst>
          </a:prstGeom>
          <a:solidFill>
            <a:srgbClr val="E9F0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355848" y="1517904"/>
            <a:ext cx="384048" cy="384048"/>
          </a:xfrm>
          <a:prstGeom prst="ellipse">
            <a:avLst/>
          </a:prstGeom>
          <a:solidFill>
            <a:srgbClr val="20A49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3355848" y="1531620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3849624" y="1517904"/>
            <a:ext cx="1892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RAG &amp; Document Grounding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3392424" y="201168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Lewis et al. · RAG (NeurIPS 2020)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3392424" y="225856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NQ/TriviaQA: EM 44.5 / 56.8. Founding RAG framework; text-only.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3392424" y="278892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Legal-document chunking studies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392424" y="303580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200–400 token chunks reported as optimal; large chunks hurt clause-level retrieval.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392424" y="356616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Bi-encoder retrieval · MiniLM / MPNet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3392424" y="381304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Outperforms BM25 sparse retrieval, but dense-only retrieval can miss literal keyword matches.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3392424" y="434340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ES-RAG faithfulness study · 2024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998464" y="1353312"/>
            <a:ext cx="2761488" cy="3255264"/>
          </a:xfrm>
          <a:prstGeom prst="roundRect">
            <a:avLst>
              <a:gd fmla="val 16667" name="adj"/>
            </a:avLst>
          </a:prstGeom>
          <a:solidFill>
            <a:srgbClr val="E9F0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163055" y="1517904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163055" y="1531620"/>
            <a:ext cx="3840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56831" y="1517904"/>
            <a:ext cx="1892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4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Industry &amp; Multimodal Systems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199631" y="201168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Tractable · CCC · Mitchell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199631" y="225856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Production vision claim systems exist, but they are closed and proprietary.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199631" y="278892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CarDD benchmark · USTC 2023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199631" y="303580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Best mAP50 ≈ 0.71 across models. Detection only; no downstream reporting.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199631" y="356616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MIMIC-CXR report generation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199631" y="3813048"/>
            <a:ext cx="2359152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Closest academic analogue: detections → grounded natural-language report, adapted here to vehicle damage.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199631" y="4343400"/>
            <a:ext cx="23591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9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Modern VLMs · GPT-4V / LLaVA / Qwen2.5-VL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427223" y="4745715"/>
            <a:ext cx="8376000" cy="274200"/>
          </a:xfrm>
          <a:prstGeom prst="roundRect">
            <a:avLst>
              <a:gd fmla="val 16667" name="adj"/>
            </a:avLst>
          </a:prstGeom>
          <a:solidFill>
            <a:srgbClr val="1323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478833" y="4807309"/>
            <a:ext cx="1261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4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161198" y="4801384"/>
            <a:ext cx="67209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1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components exist independently; the integration layer is the gap.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/>
        </p:nvSpPr>
        <p:spPr>
          <a:xfrm>
            <a:off x="384048" y="155448"/>
            <a:ext cx="59436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19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LITERATURE REVIEW 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384048" y="365760"/>
            <a:ext cx="8275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gap this project targets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384048" y="868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4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Prior work solves important pieces, but the pieces are not joined into an accessible insurance decision-support workflow.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384048" y="1389888"/>
            <a:ext cx="2761488" cy="2157984"/>
          </a:xfrm>
          <a:prstGeom prst="roundRect">
            <a:avLst>
              <a:gd fmla="val 16667" name="adj"/>
            </a:avLst>
          </a:prstGeom>
          <a:solidFill>
            <a:srgbClr val="E9F0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66928" y="158191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C8820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01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060704" y="1536192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Detection without structured reporting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66928" y="2221992"/>
            <a:ext cx="23774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3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Bounding boxes and class labels identify damage, but do not bridge the visual evidence to a human-readable claim report.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3191256" y="1389888"/>
            <a:ext cx="2761488" cy="2157984"/>
          </a:xfrm>
          <a:prstGeom prst="roundRect">
            <a:avLst>
              <a:gd fmla="val 16667" name="adj"/>
            </a:avLst>
          </a:prstGeom>
          <a:solidFill>
            <a:srgbClr val="E9F0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374136" y="158191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0A49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02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867912" y="1536192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LLM reports without policy grounding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3374136" y="2221992"/>
            <a:ext cx="23774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3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General LLMs can generate fluent reports, but without the actual policy text they may hallucinate coverage entitlements.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998464" y="1389888"/>
            <a:ext cx="2761488" cy="2157984"/>
          </a:xfrm>
          <a:prstGeom prst="roundRect">
            <a:avLst>
              <a:gd fmla="val 16667" name="adj"/>
            </a:avLst>
          </a:prstGeom>
          <a:solidFill>
            <a:srgbClr val="E9F0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181344" y="158191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5A62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03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675120" y="1536192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No accessible decision-support demo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181344" y="2221992"/>
            <a:ext cx="237744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3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Closed industry systems such as Tractable / CCC are inaccessible to researchers; the project targets a runnable, modular alternative.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384048" y="3776472"/>
            <a:ext cx="8375904" cy="841248"/>
          </a:xfrm>
          <a:prstGeom prst="roundRect">
            <a:avLst>
              <a:gd fmla="val 16667" name="adj"/>
            </a:avLst>
          </a:prstGeom>
          <a:solidFill>
            <a:srgbClr val="1323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66917" y="4133088"/>
            <a:ext cx="1554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PROJECT RESPONSE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874519" y="3904487"/>
            <a:ext cx="6537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2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Vision detection  +  policy-grounded RAG  +  LLM report generation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874519" y="4334256"/>
            <a:ext cx="6537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8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One accessible pipeline, with the human decision-maker kept in the loop.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AI Decision Support, Human Decision Making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80060" y="1028700"/>
            <a:ext cx="81610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5483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We built a system that automates the first-pass claim assessment, reducing repetitive review for claim assessors while keeping a human in the loop for the final decision.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80060" y="1611630"/>
            <a:ext cx="3909060" cy="1543050"/>
          </a:xfrm>
          <a:prstGeom prst="roundRect">
            <a:avLst>
              <a:gd fmla="val 533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864108" y="1858518"/>
            <a:ext cx="630936" cy="630936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842" y="2016252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1680210" y="1783080"/>
            <a:ext cx="2571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Role-Specific Claim 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754380" y="2400300"/>
            <a:ext cx="339471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Claimant, Adjuster, SIU, and Supervisor, each a purpose-built view of the same claim.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629150" y="1611630"/>
            <a:ext cx="3909060" cy="1543050"/>
          </a:xfrm>
          <a:prstGeom prst="roundRect">
            <a:avLst>
              <a:gd fmla="val 533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013198" y="1858518"/>
            <a:ext cx="630936" cy="630936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0" name="Google Shape;2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0932" y="2016252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>
            <a:off x="5829300" y="1783080"/>
            <a:ext cx="2571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A real five-agent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903470" y="2400300"/>
            <a:ext cx="339471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Real object detection, real policy retrieval, and a real LLM call. Nothing here is a mock.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80060" y="3394710"/>
            <a:ext cx="8195310" cy="1200150"/>
          </a:xfrm>
          <a:prstGeom prst="roundRect">
            <a:avLst>
              <a:gd fmla="val 6857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874395" y="3600450"/>
            <a:ext cx="788670" cy="78867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3" y="3797618"/>
            <a:ext cx="394335" cy="3943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/>
          <p:nvPr/>
        </p:nvSpPr>
        <p:spPr>
          <a:xfrm>
            <a:off x="1885950" y="3566160"/>
            <a:ext cx="63779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Bookman Old Style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Human-in-the-loop by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885950" y="3909060"/>
            <a:ext cx="65493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The AI only ever recommends. An adjuster's own decision, approve, deny, or request more information, is what actually changes a claim's status.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How a Claim Flows Through the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80060" y="1200150"/>
            <a:ext cx="1748700" cy="1028700"/>
          </a:xfrm>
          <a:prstGeom prst="roundRect">
            <a:avLst>
              <a:gd fmla="val 666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1107567" y="1282446"/>
            <a:ext cx="493800" cy="4938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1011" y="140589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/>
          <p:nvPr/>
        </p:nvSpPr>
        <p:spPr>
          <a:xfrm>
            <a:off x="480060" y="1789938"/>
            <a:ext cx="17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480060" y="1995678"/>
            <a:ext cx="174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Claimant / Adjuster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22"/>
          <p:cNvCxnSpPr/>
          <p:nvPr/>
        </p:nvCxnSpPr>
        <p:spPr>
          <a:xfrm>
            <a:off x="2269998" y="1714500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F5A62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" name="Google Shape;271;p22"/>
          <p:cNvSpPr/>
          <p:nvPr/>
        </p:nvSpPr>
        <p:spPr>
          <a:xfrm>
            <a:off x="2654046" y="1200150"/>
            <a:ext cx="1748700" cy="1028700"/>
          </a:xfrm>
          <a:prstGeom prst="roundRect">
            <a:avLst>
              <a:gd fmla="val 666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3281553" y="1282446"/>
            <a:ext cx="493800" cy="4938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4997" y="140589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/>
          <p:nvPr/>
        </p:nvSpPr>
        <p:spPr>
          <a:xfrm>
            <a:off x="2654046" y="1789938"/>
            <a:ext cx="17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Vue 3 SPA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654046" y="1995678"/>
            <a:ext cx="174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frontend portals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22"/>
          <p:cNvCxnSpPr/>
          <p:nvPr/>
        </p:nvCxnSpPr>
        <p:spPr>
          <a:xfrm>
            <a:off x="4443984" y="1714500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F5A62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22"/>
          <p:cNvSpPr/>
          <p:nvPr/>
        </p:nvSpPr>
        <p:spPr>
          <a:xfrm>
            <a:off x="4828032" y="1200150"/>
            <a:ext cx="1748700" cy="1028700"/>
          </a:xfrm>
          <a:prstGeom prst="roundRect">
            <a:avLst>
              <a:gd fmla="val 666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455539" y="1282446"/>
            <a:ext cx="493800" cy="4938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8983" y="140589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/>
          <p:nvPr/>
        </p:nvSpPr>
        <p:spPr>
          <a:xfrm>
            <a:off x="4828032" y="1789938"/>
            <a:ext cx="17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828032" y="1995678"/>
            <a:ext cx="174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backend + auth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2"/>
          <p:cNvCxnSpPr/>
          <p:nvPr/>
        </p:nvCxnSpPr>
        <p:spPr>
          <a:xfrm>
            <a:off x="6617970" y="1714500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F5A62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22"/>
          <p:cNvSpPr/>
          <p:nvPr/>
        </p:nvSpPr>
        <p:spPr>
          <a:xfrm>
            <a:off x="7002018" y="1200150"/>
            <a:ext cx="1748700" cy="1028700"/>
          </a:xfrm>
          <a:prstGeom prst="roundRect">
            <a:avLst>
              <a:gd fmla="val 6667" name="adj"/>
            </a:avLst>
          </a:prstGeom>
          <a:solidFill>
            <a:srgbClr val="13233F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7629525" y="1282446"/>
            <a:ext cx="493800" cy="49380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52969" y="140589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7002018" y="1789938"/>
            <a:ext cx="17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7002018" y="1995678"/>
            <a:ext cx="174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22"/>
          <p:cNvCxnSpPr/>
          <p:nvPr/>
        </p:nvCxnSpPr>
        <p:spPr>
          <a:xfrm>
            <a:off x="7876413" y="2242566"/>
            <a:ext cx="0" cy="288000"/>
          </a:xfrm>
          <a:prstGeom prst="straightConnector1">
            <a:avLst/>
          </a:prstGeom>
          <a:noFill/>
          <a:ln cap="flat" cmpd="sng" w="28575">
            <a:solidFill>
              <a:srgbClr val="F5A62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" name="Google Shape;289;p22"/>
          <p:cNvSpPr/>
          <p:nvPr/>
        </p:nvSpPr>
        <p:spPr>
          <a:xfrm>
            <a:off x="251346" y="2558034"/>
            <a:ext cx="8641200" cy="1501800"/>
          </a:xfrm>
          <a:prstGeom prst="roundRect">
            <a:avLst>
              <a:gd fmla="val 5479" name="adj"/>
            </a:avLst>
          </a:prstGeom>
          <a:solidFill>
            <a:srgbClr val="E1E9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251346" y="2585466"/>
            <a:ext cx="8641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FIVE AGENT NODES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43370" y="2811780"/>
            <a:ext cx="1563600" cy="106290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992010" y="2900934"/>
            <a:ext cx="466200" cy="466200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8596" y="301752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/>
          <p:nvPr/>
        </p:nvSpPr>
        <p:spPr>
          <a:xfrm>
            <a:off x="443370" y="3408426"/>
            <a:ext cx="156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Damage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43370" y="3710178"/>
            <a:ext cx="1563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YOLO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2116722" y="2811780"/>
            <a:ext cx="1563600" cy="106290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2665362" y="2900934"/>
            <a:ext cx="466200" cy="466200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81948" y="301752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/>
          <p:nvPr/>
        </p:nvSpPr>
        <p:spPr>
          <a:xfrm>
            <a:off x="2116722" y="3408426"/>
            <a:ext cx="156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Severity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2116722" y="3710178"/>
            <a:ext cx="1563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3790074" y="2811780"/>
            <a:ext cx="1563600" cy="106290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4338714" y="2900934"/>
            <a:ext cx="466200" cy="466200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5300" y="301752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/>
          <p:nvPr/>
        </p:nvSpPr>
        <p:spPr>
          <a:xfrm>
            <a:off x="3790074" y="3408426"/>
            <a:ext cx="156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Policy Clause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3790074" y="3710178"/>
            <a:ext cx="1563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5463426" y="2811780"/>
            <a:ext cx="1563600" cy="106290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6012066" y="2900934"/>
            <a:ext cx="466200" cy="466200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28652" y="301752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/>
          <p:nvPr/>
        </p:nvSpPr>
        <p:spPr>
          <a:xfrm>
            <a:off x="5463426" y="3408426"/>
            <a:ext cx="156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5463426" y="3710178"/>
            <a:ext cx="1563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Groq LLM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7136778" y="2811780"/>
            <a:ext cx="1563600" cy="106290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7685418" y="2900934"/>
            <a:ext cx="466200" cy="466200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02004" y="3017520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2"/>
          <p:cNvSpPr/>
          <p:nvPr/>
        </p:nvSpPr>
        <p:spPr>
          <a:xfrm>
            <a:off x="7136778" y="3408426"/>
            <a:ext cx="1563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Fraud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7136778" y="3710178"/>
            <a:ext cx="1563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388506" y="4354830"/>
            <a:ext cx="1988700" cy="425100"/>
          </a:xfrm>
          <a:prstGeom prst="roundRect">
            <a:avLst>
              <a:gd fmla="val 50000" name="adj"/>
            </a:avLst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539382" y="4416552"/>
            <a:ext cx="301800" cy="301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4820" y="449199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/>
          <p:nvPr/>
        </p:nvSpPr>
        <p:spPr>
          <a:xfrm>
            <a:off x="923430" y="4354830"/>
            <a:ext cx="137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 claims.db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2514486" y="4354830"/>
            <a:ext cx="1988700" cy="425100"/>
          </a:xfrm>
          <a:prstGeom prst="roundRect">
            <a:avLst>
              <a:gd fmla="val 50000" name="adj"/>
            </a:avLst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2665362" y="4416552"/>
            <a:ext cx="301800" cy="301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740800" y="449199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2"/>
          <p:cNvSpPr/>
          <p:nvPr/>
        </p:nvSpPr>
        <p:spPr>
          <a:xfrm>
            <a:off x="3049410" y="4354830"/>
            <a:ext cx="137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 vector 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4640466" y="4354830"/>
            <a:ext cx="1988700" cy="425100"/>
          </a:xfrm>
          <a:prstGeom prst="roundRect">
            <a:avLst>
              <a:gd fmla="val 50000" name="adj"/>
            </a:avLst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2"/>
          <p:cNvSpPr/>
          <p:nvPr/>
        </p:nvSpPr>
        <p:spPr>
          <a:xfrm>
            <a:off x="4791342" y="4416552"/>
            <a:ext cx="301800" cy="301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66780" y="449199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2"/>
          <p:cNvSpPr/>
          <p:nvPr/>
        </p:nvSpPr>
        <p:spPr>
          <a:xfrm>
            <a:off x="5175390" y="4354830"/>
            <a:ext cx="137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Groq Cloud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766446" y="4354830"/>
            <a:ext cx="1988700" cy="425100"/>
          </a:xfrm>
          <a:prstGeom prst="roundRect">
            <a:avLst>
              <a:gd fmla="val 50000" name="adj"/>
            </a:avLst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6917322" y="4416552"/>
            <a:ext cx="301800" cy="301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2760" y="449199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/>
          <p:nvPr/>
        </p:nvSpPr>
        <p:spPr>
          <a:xfrm>
            <a:off x="7301370" y="4354830"/>
            <a:ext cx="1371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Langfuse tracing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CHOOSING THE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Why We Chose VehiDE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480060" y="1131570"/>
            <a:ext cx="2983230" cy="2948940"/>
          </a:xfrm>
          <a:prstGeom prst="roundRect">
            <a:avLst>
              <a:gd fmla="val 2791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1577340" y="1320165"/>
            <a:ext cx="788670" cy="78867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1" name="Google Shape;3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2395" y="1525220"/>
            <a:ext cx="378562" cy="37856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3"/>
          <p:cNvSpPr/>
          <p:nvPr/>
        </p:nvSpPr>
        <p:spPr>
          <a:xfrm>
            <a:off x="480060" y="2160270"/>
            <a:ext cx="29832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ookman Old Style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VehiDE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582930" y="2551176"/>
            <a:ext cx="27774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Vehicle Damage Detection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23"/>
          <p:cNvCxnSpPr/>
          <p:nvPr/>
        </p:nvCxnSpPr>
        <p:spPr>
          <a:xfrm>
            <a:off x="891540" y="2914650"/>
            <a:ext cx="2160270" cy="0"/>
          </a:xfrm>
          <a:prstGeom prst="straightConnector1">
            <a:avLst/>
          </a:prstGeom>
          <a:noFill/>
          <a:ln cap="flat" cmpd="sng" w="12700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23"/>
          <p:cNvSpPr/>
          <p:nvPr/>
        </p:nvSpPr>
        <p:spPr>
          <a:xfrm>
            <a:off x="582930" y="3017520"/>
            <a:ext cx="13716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F5A62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13,945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labelled images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1988820" y="3017520"/>
            <a:ext cx="140589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F5A62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36,081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damage instances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788670" y="3669030"/>
            <a:ext cx="2366010" cy="308610"/>
          </a:xfrm>
          <a:prstGeom prst="roundRect">
            <a:avLst>
              <a:gd fmla="val 48889" name="adj"/>
            </a:avLst>
          </a:prstGeom>
          <a:solidFill>
            <a:srgbClr val="1C315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918972" y="3713607"/>
            <a:ext cx="219456" cy="21945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9" name="Google Shape;3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47" y="3764082"/>
            <a:ext cx="118506" cy="11850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3"/>
          <p:cNvSpPr/>
          <p:nvPr/>
        </p:nvSpPr>
        <p:spPr>
          <a:xfrm>
            <a:off x="1200150" y="3669030"/>
            <a:ext cx="188595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Apache-2.0, commercial use allowed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3669030" y="1131570"/>
            <a:ext cx="5006340" cy="672084"/>
          </a:xfrm>
          <a:prstGeom prst="roundRect">
            <a:avLst>
              <a:gd fmla="val 10204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3902202" y="1220724"/>
            <a:ext cx="493776" cy="493776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3" name="Google Shape;3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5646" y="134416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3"/>
          <p:cNvSpPr/>
          <p:nvPr/>
        </p:nvSpPr>
        <p:spPr>
          <a:xfrm>
            <a:off x="4560570" y="1220724"/>
            <a:ext cx="401193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Largest public option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4560570" y="1474470"/>
            <a:ext cx="4046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195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The biggest openly available vehicle-damage set, so the model sees far more variety.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3669030" y="1892808"/>
            <a:ext cx="5006340" cy="672084"/>
          </a:xfrm>
          <a:prstGeom prst="roundRect">
            <a:avLst>
              <a:gd fmla="val 10204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3902202" y="1981962"/>
            <a:ext cx="493776" cy="493776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8" name="Google Shape;35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5646" y="210540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3"/>
          <p:cNvSpPr/>
          <p:nvPr/>
        </p:nvSpPr>
        <p:spPr>
          <a:xfrm>
            <a:off x="4560570" y="1981962"/>
            <a:ext cx="401193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Credible provenance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4560570" y="2235708"/>
            <a:ext cx="4046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195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Dataset was introduced in a paper titled</a:t>
            </a: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“VehiDE Dataset: New dataset for Automatic vehicle damage detection in Car insurance” (2023).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3669030" y="2654046"/>
            <a:ext cx="5006340" cy="672084"/>
          </a:xfrm>
          <a:prstGeom prst="roundRect">
            <a:avLst>
              <a:gd fmla="val 10204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3902202" y="2743200"/>
            <a:ext cx="493776" cy="493776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3" name="Google Shape;36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25646" y="286664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3"/>
          <p:cNvSpPr/>
          <p:nvPr/>
        </p:nvSpPr>
        <p:spPr>
          <a:xfrm>
            <a:off x="4560570" y="2743200"/>
            <a:ext cx="401193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Full class coverage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4560570" y="2996946"/>
            <a:ext cx="4046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195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Every damage type we care about is present and maps cleanly onto our six project classes.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3669030" y="3415284"/>
            <a:ext cx="5006340" cy="672084"/>
          </a:xfrm>
          <a:prstGeom prst="roundRect">
            <a:avLst>
              <a:gd fmla="val 10204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3902202" y="3504438"/>
            <a:ext cx="493776" cy="493776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68" name="Google Shape;36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25646" y="362788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3"/>
          <p:cNvSpPr/>
          <p:nvPr/>
        </p:nvSpPr>
        <p:spPr>
          <a:xfrm>
            <a:off x="4560570" y="3504438"/>
            <a:ext cx="401193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Multi-task ready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4560570" y="3758184"/>
            <a:ext cx="4046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195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Supports detection, segmentation, and salient-object tasks straight out of the box.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480060" y="4251960"/>
            <a:ext cx="8195310" cy="466344"/>
          </a:xfrm>
          <a:prstGeom prst="roundRect">
            <a:avLst>
              <a:gd fmla="val 14706" name="adj"/>
            </a:avLst>
          </a:prstGeom>
          <a:solidFill>
            <a:srgbClr val="E1E9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678942" y="4341114"/>
            <a:ext cx="288036" cy="288036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3" name="Google Shape;37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951" y="4413123"/>
            <a:ext cx="144018" cy="14401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3"/>
          <p:cNvSpPr/>
          <p:nvPr/>
        </p:nvSpPr>
        <p:spPr>
          <a:xfrm>
            <a:off x="1097280" y="4251960"/>
            <a:ext cx="747522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No public dataset pairs damage photos with insurance wordings, so our five policy documents were authored in-house.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From Raw Download to Training-Ready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480060" y="10287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A raw dataset is never ready to train on as-is. So here's how we turned it into something clean and trustworthy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480060" y="1474470"/>
            <a:ext cx="2640330" cy="1179576"/>
          </a:xfrm>
          <a:prstGeom prst="roundRect">
            <a:avLst>
              <a:gd fmla="val 6395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740664" y="1666494"/>
            <a:ext cx="548640" cy="54864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5" name="Google Shape;3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180365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4"/>
          <p:cNvSpPr/>
          <p:nvPr/>
        </p:nvSpPr>
        <p:spPr>
          <a:xfrm>
            <a:off x="2626614" y="1584198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1405890" y="1693926"/>
            <a:ext cx="1337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685800" y="2242566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288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Verify every file, drop corrupt images, and fix malformed annotation regions.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3257550" y="1474470"/>
            <a:ext cx="2640330" cy="1179576"/>
          </a:xfrm>
          <a:prstGeom prst="roundRect">
            <a:avLst>
              <a:gd fmla="val 6395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3518154" y="1666494"/>
            <a:ext cx="548640" cy="54864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1" name="Google Shape;3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5314" y="180365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4"/>
          <p:cNvSpPr/>
          <p:nvPr/>
        </p:nvSpPr>
        <p:spPr>
          <a:xfrm>
            <a:off x="5404104" y="1584198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4183380" y="1693926"/>
            <a:ext cx="1337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Remap classes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3463290" y="2242566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288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Translate Vietnamese labels into English classes.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6035040" y="1474470"/>
            <a:ext cx="2640330" cy="1179576"/>
          </a:xfrm>
          <a:prstGeom prst="roundRect">
            <a:avLst>
              <a:gd fmla="val 6395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6295644" y="1666494"/>
            <a:ext cx="548640" cy="54864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7" name="Google Shape;39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2804" y="180365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4"/>
          <p:cNvSpPr/>
          <p:nvPr/>
        </p:nvSpPr>
        <p:spPr>
          <a:xfrm>
            <a:off x="8181594" y="1584198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6960870" y="1693926"/>
            <a:ext cx="1337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Deduplicate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6240780" y="2242566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288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Remove 18 exact and 272 near-duplicate images found by perceptual hashing.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480060" y="2804922"/>
            <a:ext cx="2640330" cy="1179576"/>
          </a:xfrm>
          <a:prstGeom prst="roundRect">
            <a:avLst>
              <a:gd fmla="val 6395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740664" y="2996946"/>
            <a:ext cx="548640" cy="54864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3" name="Google Shape;40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824" y="313410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4"/>
          <p:cNvSpPr/>
          <p:nvPr/>
        </p:nvSpPr>
        <p:spPr>
          <a:xfrm>
            <a:off x="2626614" y="2914650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1405890" y="3024378"/>
            <a:ext cx="1337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Letterbox resize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685800" y="3573018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288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Resize all images to 1280 x 1280 at a data-driven target that preserves detail.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3257550" y="2804922"/>
            <a:ext cx="2640330" cy="1179576"/>
          </a:xfrm>
          <a:prstGeom prst="roundRect">
            <a:avLst>
              <a:gd fmla="val 6395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3518154" y="2996946"/>
            <a:ext cx="548640" cy="54864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9" name="Google Shape;40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5314" y="313410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4"/>
          <p:cNvSpPr/>
          <p:nvPr/>
        </p:nvSpPr>
        <p:spPr>
          <a:xfrm>
            <a:off x="5404104" y="2914650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183380" y="3024378"/>
            <a:ext cx="1337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Scan for PII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3463290" y="3573018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288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Automatically detect faces and number plates across every retained image.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6035040" y="2804922"/>
            <a:ext cx="2640330" cy="1179576"/>
          </a:xfrm>
          <a:prstGeom prst="roundRect">
            <a:avLst>
              <a:gd fmla="val 6395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6295644" y="2996946"/>
            <a:ext cx="548640" cy="54864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5" name="Google Shape;41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2804" y="313410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4"/>
          <p:cNvSpPr/>
          <p:nvPr/>
        </p:nvSpPr>
        <p:spPr>
          <a:xfrm>
            <a:off x="8181594" y="2914650"/>
            <a:ext cx="3771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1800"/>
              <a:buFont typeface="Bookman Old Style"/>
              <a:buNone/>
            </a:pPr>
            <a:r>
              <a:rPr b="1" i="0" lang="en" sz="18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6960870" y="3024378"/>
            <a:ext cx="1337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Stratified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6240780" y="3573018"/>
            <a:ext cx="22631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2881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Divide 70 / 15 / 15 into train, validation, and test with leakage checks.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480060" y="4354830"/>
            <a:ext cx="8195310" cy="493776"/>
          </a:xfrm>
          <a:prstGeom prst="roundRect">
            <a:avLst>
              <a:gd fmla="val 13889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665226" y="4443984"/>
            <a:ext cx="315468" cy="3154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1" name="Google Shape;42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4093" y="4522851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4"/>
          <p:cNvSpPr/>
          <p:nvPr/>
        </p:nvSpPr>
        <p:spPr>
          <a:xfrm>
            <a:off x="1110996" y="4354830"/>
            <a:ext cx="22974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Clean, leakage-checked result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3531870" y="4354830"/>
            <a:ext cx="257175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C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FA6C4"/>
                </a:solidFill>
                <a:latin typeface="Calibri"/>
                <a:ea typeface="Calibri"/>
                <a:cs typeface="Calibri"/>
                <a:sym typeface="Calibri"/>
              </a:rPr>
              <a:t>13,945 </a:t>
            </a:r>
            <a:r>
              <a:rPr b="1" i="0" lang="en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13,655 </a:t>
            </a:r>
            <a:r>
              <a:rPr b="0" i="0" lang="en" sz="9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images kept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24"/>
          <p:cNvCxnSpPr/>
          <p:nvPr/>
        </p:nvCxnSpPr>
        <p:spPr>
          <a:xfrm>
            <a:off x="6137910" y="4464558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24"/>
          <p:cNvSpPr/>
          <p:nvPr/>
        </p:nvSpPr>
        <p:spPr>
          <a:xfrm>
            <a:off x="6309360" y="4354830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6C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FA6C4"/>
                </a:solidFill>
                <a:latin typeface="Calibri"/>
                <a:ea typeface="Calibri"/>
                <a:cs typeface="Calibri"/>
                <a:sym typeface="Calibri"/>
              </a:rPr>
              <a:t>36,081 </a:t>
            </a:r>
            <a:r>
              <a:rPr b="1" i="0" lang="en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32,672 </a:t>
            </a:r>
            <a:r>
              <a:rPr b="0" i="0" lang="en" sz="9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instances retained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SEEING THE DAMAGE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YOLO Vision, Fine-Tuned for Cars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480060" y="1097280"/>
            <a:ext cx="3806190" cy="1611630"/>
          </a:xfrm>
          <a:prstGeom prst="roundRect">
            <a:avLst>
              <a:gd fmla="val 510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754380" y="1371600"/>
            <a:ext cx="617220" cy="61722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5" name="Google Shape;4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685" y="1525905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5"/>
          <p:cNvSpPr/>
          <p:nvPr/>
        </p:nvSpPr>
        <p:spPr>
          <a:xfrm>
            <a:off x="1543050" y="1303020"/>
            <a:ext cx="26403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Trained on VehiDE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1543050" y="1591056"/>
            <a:ext cx="264033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90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 public vehicle-damage dataset of 13,000+ images. We fine-tuned a YOLO11m segmentation model and tuned it with a 12-trial Optuna search on a Colab T4 GPU.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480060" y="2846070"/>
            <a:ext cx="3806190" cy="1714500"/>
          </a:xfrm>
          <a:prstGeom prst="roundRect">
            <a:avLst>
              <a:gd fmla="val 4800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754380" y="3120390"/>
            <a:ext cx="617220" cy="6172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0" name="Google Shape;4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685" y="3274695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5"/>
          <p:cNvSpPr/>
          <p:nvPr/>
        </p:nvSpPr>
        <p:spPr>
          <a:xfrm>
            <a:off x="1543050" y="3051810"/>
            <a:ext cx="26403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Explainable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1543050" y="3360420"/>
            <a:ext cx="264033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906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For its top detections, the model re-runs inference over a grid of masked regions to show which pixels actually drove each classification.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4526280" y="1110996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SIX DAMAGE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4526280" y="1405890"/>
            <a:ext cx="1954530" cy="768096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4725162" y="1563624"/>
            <a:ext cx="452628" cy="452628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6" name="Google Shape;44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8319" y="1676781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5"/>
          <p:cNvSpPr/>
          <p:nvPr/>
        </p:nvSpPr>
        <p:spPr>
          <a:xfrm>
            <a:off x="5246370" y="1405890"/>
            <a:ext cx="113157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6672834" y="1405890"/>
            <a:ext cx="1954530" cy="768096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6871716" y="1563624"/>
            <a:ext cx="452628" cy="452628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0" name="Google Shape;45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4873" y="1676781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5"/>
          <p:cNvSpPr/>
          <p:nvPr/>
        </p:nvSpPr>
        <p:spPr>
          <a:xfrm>
            <a:off x="7392924" y="1405890"/>
            <a:ext cx="113157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Scratch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4526280" y="2338578"/>
            <a:ext cx="1954530" cy="768096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4725162" y="2496312"/>
            <a:ext cx="452628" cy="452628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4" name="Google Shape;45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8319" y="2609469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5"/>
          <p:cNvSpPr/>
          <p:nvPr/>
        </p:nvSpPr>
        <p:spPr>
          <a:xfrm>
            <a:off x="5246370" y="2338578"/>
            <a:ext cx="113157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Crack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6672834" y="2338578"/>
            <a:ext cx="1954530" cy="768096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6871716" y="2496312"/>
            <a:ext cx="452628" cy="452628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8" name="Google Shape;45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84873" y="2609469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5"/>
          <p:cNvSpPr/>
          <p:nvPr/>
        </p:nvSpPr>
        <p:spPr>
          <a:xfrm>
            <a:off x="7392924" y="2338578"/>
            <a:ext cx="113157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Broken lamp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4526280" y="3271266"/>
            <a:ext cx="1954530" cy="768096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4725162" y="3429000"/>
            <a:ext cx="452628" cy="452628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2" name="Google Shape;46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38319" y="3542157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5"/>
          <p:cNvSpPr/>
          <p:nvPr/>
        </p:nvSpPr>
        <p:spPr>
          <a:xfrm>
            <a:off x="5246370" y="3271266"/>
            <a:ext cx="113157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Shattered glass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6672834" y="3271266"/>
            <a:ext cx="1954530" cy="768096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6871716" y="3429000"/>
            <a:ext cx="452628" cy="452628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6" name="Google Shape;466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4873" y="3542157"/>
            <a:ext cx="226314" cy="226314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5"/>
          <p:cNvSpPr/>
          <p:nvPr/>
        </p:nvSpPr>
        <p:spPr>
          <a:xfrm>
            <a:off x="7392924" y="3271266"/>
            <a:ext cx="113157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Flat tyre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4526280" y="4149090"/>
            <a:ext cx="4149090" cy="425196"/>
          </a:xfrm>
          <a:prstGeom prst="roundRect">
            <a:avLst>
              <a:gd fmla="val 50000" name="adj"/>
            </a:avLst>
          </a:prstGeom>
          <a:solidFill>
            <a:srgbClr val="E1E9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4526280" y="4149090"/>
            <a:ext cx="41490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Tuned model  </a:t>
            </a: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Box mAP50 0.485</a:t>
            </a:r>
            <a:r>
              <a:rPr b="0" i="0" lang="en" sz="900" u="none" cap="none" strike="noStrike">
                <a:solidFill>
                  <a:srgbClr val="AAB6C6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Mask mAP50 0.449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CHOOSING THE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Why YOLO11m-seg, Not Something Else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480060" y="10000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YOLO already won on speed and CPU-deployability over two-stage detectors and VLMs. Three decisions remained: which generation, which task, and which size.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1285035" y="1470000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1974264" y="1672311"/>
            <a:ext cx="582900" cy="5829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9" name="Google Shape;4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997" y="181804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6"/>
          <p:cNvSpPr/>
          <p:nvPr/>
        </p:nvSpPr>
        <p:spPr>
          <a:xfrm>
            <a:off x="1285035" y="2292960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1422195" y="2841600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Generation: YOLO11 vs YOLOv8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1456485" y="3184500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 15-epoch probe found accuracy tied (Δ0.0066) — decided on YOLO11’s attention blocks for small objects instead.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3568768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4257998" y="1672299"/>
            <a:ext cx="582900" cy="5829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5" name="Google Shape;4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731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6"/>
          <p:cNvSpPr/>
          <p:nvPr/>
        </p:nvSpPr>
        <p:spPr>
          <a:xfrm>
            <a:off x="3568768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-seg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3705929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Task: Segmentation vs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3740218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Pixel masks feed the Severity Agent directly, instead of a bounding box that overestimates damaged area.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852523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6541752" y="1672299"/>
            <a:ext cx="582900" cy="582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1" name="Google Shape;49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7485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6"/>
          <p:cNvSpPr/>
          <p:nvPr/>
        </p:nvSpPr>
        <p:spPr>
          <a:xfrm>
            <a:off x="5852523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5989683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Scale: Model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6023973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n/s too weak, l/x too large for CPU deployment — confirmed when x later OOM’d on a 16GB T4.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480060" y="3917400"/>
            <a:ext cx="81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Final pick: </a:t>
            </a: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YOLO11m-seg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 — YOLO11 generation, instance segmentation, medium scale, built for VehiDE’s small, irregular damage regions.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FINE-TUNING THE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12-Trial Search Finds the Right Learning Rate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480060" y="10000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A baseline run quietly trained at the wrong learning rate. A 12-trial Optuna search found the fix — and beat 20 extra epochs of plain training.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1285035" y="1470000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1974264" y="1672311"/>
            <a:ext cx="582900" cy="5829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5" name="Google Shape;5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997" y="181804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7"/>
          <p:cNvSpPr/>
          <p:nvPr/>
        </p:nvSpPr>
        <p:spPr>
          <a:xfrm>
            <a:off x="1285035" y="2292960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1422195" y="2841600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40 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1456485" y="3184500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optimizer="auto" silently fixed lr0 at 0.001, no matter what was requested.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3568768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4257998" y="1672299"/>
            <a:ext cx="582900" cy="5829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1" name="Google Shape;5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731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7"/>
          <p:cNvSpPr/>
          <p:nvPr/>
        </p:nvSpPr>
        <p:spPr>
          <a:xfrm>
            <a:off x="3568768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3705929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Extended (+20 ep)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3740218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20 more epochs alone barely moved Mask mAP50 — more training was not the fix.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5852523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6541752" y="1672299"/>
            <a:ext cx="582900" cy="582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7" name="Google Shape;5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7485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7"/>
          <p:cNvSpPr/>
          <p:nvPr/>
        </p:nvSpPr>
        <p:spPr>
          <a:xfrm>
            <a:off x="5852523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0.447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5989683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Tuned (Optuna)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6023973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lr0 ≈ 0.0001, weight_decay ≈ 0.0003, degrees ≈ 5.5° — found by search.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480060" y="3917400"/>
            <a:ext cx="81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The fix gained </a:t>
            </a: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+0.047 Mask mAP50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 in the same 40 epochs — over 10x what 20 extra epochs of plain training achieved (</a:t>
            </a:r>
            <a:r>
              <a:rPr b="1" i="0" lang="en" sz="10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+0.004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8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Held-Out Test Results, Checked for Overfitting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480060" y="10000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The tuned checkpoint was scored on a 2,047-image test split it never touched during training or tuning, then checked against validation for overfitting.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1285035" y="1470000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1974264" y="1672311"/>
            <a:ext cx="582900" cy="5829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1" name="Google Shape;5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997" y="181804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8"/>
          <p:cNvSpPr/>
          <p:nvPr/>
        </p:nvSpPr>
        <p:spPr>
          <a:xfrm>
            <a:off x="1285035" y="2292960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0.491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1422195" y="2841600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Box mAP50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1456485" y="3184500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Test split. Up from a 0.445 untuned baseline.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3568768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4257998" y="1672299"/>
            <a:ext cx="582900" cy="5829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7" name="Google Shape;5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731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8"/>
          <p:cNvSpPr/>
          <p:nvPr/>
        </p:nvSpPr>
        <p:spPr>
          <a:xfrm>
            <a:off x="3568768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0.447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3705929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Mask mAP50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3740218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Pixel-level accuracy. Up from a 0.400 baseline.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5852523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6541752" y="1672299"/>
            <a:ext cx="582900" cy="582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3" name="Google Shape;54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7485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8"/>
          <p:cNvSpPr/>
          <p:nvPr/>
        </p:nvSpPr>
        <p:spPr>
          <a:xfrm>
            <a:off x="5852523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≤0.02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5989683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Val → Test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6023973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Every metric within 0.02 of validation — no meaningful overfitting.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480060" y="3917400"/>
            <a:ext cx="81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The single largest error isn’t confusing damage types — it’s flagging undamaged background as </a:t>
            </a: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scratch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, in over </a:t>
            </a:r>
            <a:r>
              <a:rPr b="1" i="0" lang="en" sz="10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half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 of background regions.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9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Every Headline Metric, Against Target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480060" y="10000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The Tuned checkpoint’s full test-split scorecard, measured against the Milestone 1 target — including where it falls short.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1285035" y="1470000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1974264" y="1672311"/>
            <a:ext cx="582900" cy="5829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57" name="Google Shape;5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997" y="181804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9"/>
          <p:cNvSpPr/>
          <p:nvPr/>
        </p:nvSpPr>
        <p:spPr>
          <a:xfrm>
            <a:off x="1285035" y="2292960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0.491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1422195" y="2841600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Box mAP50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1456485" y="3184500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 0.585 · R 0.485 · mAP50-95 0.312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3568768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4257998" y="1672299"/>
            <a:ext cx="582900" cy="5829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3" name="Google Shape;56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731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9"/>
          <p:cNvSpPr/>
          <p:nvPr/>
        </p:nvSpPr>
        <p:spPr>
          <a:xfrm>
            <a:off x="3568768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0.447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9"/>
          <p:cNvSpPr/>
          <p:nvPr/>
        </p:nvSpPr>
        <p:spPr>
          <a:xfrm>
            <a:off x="3705929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Mask mAP50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3740218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 0.557 · R 0.459 · mAP50-95 0.242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9"/>
          <p:cNvSpPr/>
          <p:nvPr/>
        </p:nvSpPr>
        <p:spPr>
          <a:xfrm>
            <a:off x="5852523" y="146998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9"/>
          <p:cNvSpPr/>
          <p:nvPr/>
        </p:nvSpPr>
        <p:spPr>
          <a:xfrm>
            <a:off x="6541752" y="1672299"/>
            <a:ext cx="582900" cy="582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69" name="Google Shape;56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7485" y="181803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9"/>
          <p:cNvSpPr/>
          <p:nvPr/>
        </p:nvSpPr>
        <p:spPr>
          <a:xfrm>
            <a:off x="5852523" y="229294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0.447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9"/>
          <p:cNvSpPr/>
          <p:nvPr/>
        </p:nvSpPr>
        <p:spPr>
          <a:xfrm>
            <a:off x="5989683" y="284158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vs. Target ≥ 0.70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6023973" y="318448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A real, disclosed gap — not hidden.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480060" y="3917400"/>
            <a:ext cx="81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Mask mAP50 falls short of the </a:t>
            </a:r>
            <a:r>
              <a:rPr b="1" i="0" lang="en" sz="10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≥0.70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 target, but the val→test generalization gap is </a:t>
            </a: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≤0.02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 on every metric — confirming this is a real, non-overfit measurement.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0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ERROR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Where the Model Actually Fails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480060" y="10000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A single confusion matrix reveals more than any summary metric — and the raw failure images confirm the same pattern from a different angle.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0"/>
          <p:cNvSpPr/>
          <p:nvPr/>
        </p:nvSpPr>
        <p:spPr>
          <a:xfrm>
            <a:off x="480060" y="1450000"/>
            <a:ext cx="2450000" cy="13000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dir="5400000" dist="12700">
              <a:srgbClr val="AEBED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0"/>
          <p:cNvSpPr txBox="1"/>
          <p:nvPr/>
        </p:nvSpPr>
        <p:spPr>
          <a:xfrm>
            <a:off x="617220" y="1587160"/>
            <a:ext cx="2175680" cy="10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C8820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47%</a:t>
            </a:r>
            <a:endParaRPr/>
          </a:p>
          <a:p>
            <a:pPr indent="0" lvl="0" marL="0" marR="0" rtl="0" algn="ct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of all background (no-damage) regions get a false “scratch” flag — the single largest error in the entire confusion matrix.</a:t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480060" y="2900000"/>
            <a:ext cx="2450000" cy="13000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dir="5400000" dist="12700">
              <a:srgbClr val="AEBED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0"/>
          <p:cNvSpPr txBox="1"/>
          <p:nvPr/>
        </p:nvSpPr>
        <p:spPr>
          <a:xfrm>
            <a:off x="617220" y="3037160"/>
            <a:ext cx="2175680" cy="10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 of 10</a:t>
            </a:r>
            <a:endParaRPr/>
          </a:p>
          <a:p>
            <a:pPr indent="0" lvl="0" marL="0" marR="0" rtl="0" algn="ctr">
              <a:lnSpc>
                <a:spcPct val="128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flagged failure cases were under-detections (missed damage), not false alarms — the model misses more than it invents.</a:t>
            </a:r>
            <a:endParaRPr/>
          </a:p>
        </p:txBody>
      </p:sp>
      <p:pic>
        <p:nvPicPr>
          <p:cNvPr id="585" name="Google Shape;5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000" y="1450000"/>
            <a:ext cx="2500000" cy="2754820"/>
          </a:xfrm>
          <a:prstGeom prst="rect">
            <a:avLst/>
          </a:prstGeom>
          <a:noFill/>
          <a:ln cap="flat" cmpd="sng" w="9525">
            <a:solidFill>
              <a:srgbClr val="D7E0EC"/>
            </a:solidFill>
            <a:prstDash val="solid"/>
            <a:miter lim="4000"/>
            <a:headEnd len="sm" w="sm" type="none"/>
            <a:tailEnd len="sm" w="sm" type="none"/>
          </a:ln>
        </p:spPr>
      </p:pic>
      <p:pic>
        <p:nvPicPr>
          <p:cNvPr id="586" name="Google Shape;5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0000" y="1450000"/>
            <a:ext cx="2500000" cy="2754820"/>
          </a:xfrm>
          <a:prstGeom prst="rect">
            <a:avLst/>
          </a:prstGeom>
          <a:noFill/>
          <a:ln cap="flat" cmpd="sng" w="9525">
            <a:solidFill>
              <a:srgbClr val="D7E0EC"/>
            </a:solidFill>
            <a:prstDash val="solid"/>
            <a:miter lim="4000"/>
            <a:headEnd len="sm" w="sm" type="none"/>
            <a:tailEnd len="sm" w="sm" type="none"/>
          </a:ln>
        </p:spPr>
      </p:pic>
      <p:sp>
        <p:nvSpPr>
          <p:cNvPr id="587" name="Google Shape;587;p30"/>
          <p:cNvSpPr txBox="1"/>
          <p:nvPr/>
        </p:nvSpPr>
        <p:spPr>
          <a:xfrm>
            <a:off x="480060" y="4360000"/>
            <a:ext cx="81954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Two different lenses, one consistent story: </a:t>
            </a: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the model is more likely to miss subtle damage than to invent it</a:t>
            </a:r>
            <a:r>
              <a:rPr b="0" i="0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 — a specific, addressable finding, not a diffuse capacity limitation.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1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READING THE POLICY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Grounded Retrieval, Not Guesswork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480060" y="1028700"/>
            <a:ext cx="8160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Each policy's own PDF wording is ingested into its own vector collection. When a claim comes in, we retrieve the clauses that actually apply, so coverage is grounded in the real document.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480060" y="1714500"/>
            <a:ext cx="2571900" cy="1748700"/>
          </a:xfrm>
          <a:prstGeom prst="roundRect">
            <a:avLst>
              <a:gd fmla="val 470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1423035" y="1885950"/>
            <a:ext cx="685800" cy="6858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8" name="Google Shape;5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4485" y="20574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1"/>
          <p:cNvSpPr/>
          <p:nvPr/>
        </p:nvSpPr>
        <p:spPr>
          <a:xfrm>
            <a:off x="480060" y="2640330"/>
            <a:ext cx="257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Dense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699516" y="2914650"/>
            <a:ext cx="2132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Sentence-transformer embeddings capture the meaning of a clause, matching ideas even when the words differ.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/>
          <p:nvPr/>
        </p:nvSpPr>
        <p:spPr>
          <a:xfrm>
            <a:off x="3236976" y="1714500"/>
            <a:ext cx="2571900" cy="1748700"/>
          </a:xfrm>
          <a:prstGeom prst="roundRect">
            <a:avLst>
              <a:gd fmla="val 470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4179951" y="1885950"/>
            <a:ext cx="685800" cy="6858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3" name="Google Shape;60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1401" y="20574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1"/>
          <p:cNvSpPr/>
          <p:nvPr/>
        </p:nvSpPr>
        <p:spPr>
          <a:xfrm>
            <a:off x="3236976" y="2640330"/>
            <a:ext cx="257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Sparse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/>
          <p:nvPr/>
        </p:nvSpPr>
        <p:spPr>
          <a:xfrm>
            <a:off x="3456432" y="2914650"/>
            <a:ext cx="2132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 TF-IDF index catches exact terms and clause numbers that meaning-based search can miss.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/>
          <p:nvPr/>
        </p:nvSpPr>
        <p:spPr>
          <a:xfrm>
            <a:off x="5993892" y="1714500"/>
            <a:ext cx="2571900" cy="1748700"/>
          </a:xfrm>
          <a:prstGeom prst="roundRect">
            <a:avLst>
              <a:gd fmla="val 470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1"/>
          <p:cNvSpPr/>
          <p:nvPr/>
        </p:nvSpPr>
        <p:spPr>
          <a:xfrm>
            <a:off x="6936867" y="1885950"/>
            <a:ext cx="685800" cy="68580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8" name="Google Shape;60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8317" y="20574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1"/>
          <p:cNvSpPr/>
          <p:nvPr/>
        </p:nvSpPr>
        <p:spPr>
          <a:xfrm>
            <a:off x="5993892" y="2640330"/>
            <a:ext cx="257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Hybrid, per policy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1"/>
          <p:cNvSpPr/>
          <p:nvPr/>
        </p:nvSpPr>
        <p:spPr>
          <a:xfrm>
            <a:off x="6213348" y="2914650"/>
            <a:ext cx="2132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Combined via weighted RRF (3:1 dense:sparse) — the ratio a 4-point sweep confirmed as best.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1"/>
          <p:cNvSpPr/>
          <p:nvPr/>
        </p:nvSpPr>
        <p:spPr>
          <a:xfrm>
            <a:off x="480060" y="3669030"/>
            <a:ext cx="8195400" cy="925800"/>
          </a:xfrm>
          <a:prstGeom prst="roundRect">
            <a:avLst>
              <a:gd fmla="val 8889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1"/>
          <p:cNvSpPr/>
          <p:nvPr/>
        </p:nvSpPr>
        <p:spPr>
          <a:xfrm>
            <a:off x="781812" y="3816477"/>
            <a:ext cx="630900" cy="630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3" name="Google Shape;61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546" y="3974211"/>
            <a:ext cx="315468" cy="315468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1"/>
          <p:cNvSpPr/>
          <p:nvPr/>
        </p:nvSpPr>
        <p:spPr>
          <a:xfrm>
            <a:off x="1680210" y="3806190"/>
            <a:ext cx="3703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 on a 50-incident benchmark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/>
          <p:nvPr/>
        </p:nvSpPr>
        <p:spPr>
          <a:xfrm>
            <a:off x="5486400" y="3806190"/>
            <a:ext cx="102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F5A62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0.91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/>
          <p:nvPr/>
        </p:nvSpPr>
        <p:spPr>
          <a:xfrm>
            <a:off x="5486400" y="4149090"/>
            <a:ext cx="102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P@3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1"/>
          <p:cNvSpPr/>
          <p:nvPr/>
        </p:nvSpPr>
        <p:spPr>
          <a:xfrm>
            <a:off x="6549390" y="3806190"/>
            <a:ext cx="102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F5A62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0.98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6549390" y="4149090"/>
            <a:ext cx="102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MRR@5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7612380" y="3806190"/>
            <a:ext cx="102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F5A62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 / 50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1"/>
          <p:cNvSpPr/>
          <p:nvPr/>
        </p:nvSpPr>
        <p:spPr>
          <a:xfrm>
            <a:off x="7612380" y="4149090"/>
            <a:ext cx="102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zero-hit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METADATA-DRIVEN 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What Gets Detected Decides What Gets Retrieved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/>
          <p:nvPr/>
        </p:nvSpPr>
        <p:spPr>
          <a:xfrm>
            <a:off x="480060" y="1097280"/>
            <a:ext cx="8195400" cy="6996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2"/>
          <p:cNvSpPr/>
          <p:nvPr/>
        </p:nvSpPr>
        <p:spPr>
          <a:xfrm>
            <a:off x="726948" y="1200150"/>
            <a:ext cx="493800" cy="4938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9" name="Google Shape;6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132359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2"/>
          <p:cNvSpPr/>
          <p:nvPr/>
        </p:nvSpPr>
        <p:spPr>
          <a:xfrm>
            <a:off x="1371600" y="1138428"/>
            <a:ext cx="342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2000"/>
              <a:buFont typeface="Bookman Old Style"/>
              <a:buNone/>
            </a:pPr>
            <a:r>
              <a:rPr b="1" i="0" lang="en" sz="20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1748790" y="1186434"/>
            <a:ext cx="216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Detect &amp; Tag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3977640" y="1159002"/>
            <a:ext cx="4560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YOLO's six damage classes — dent, scratch, crack, broken lamp, shattered glass, flat tyre — become the claim's retrieval metadata.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2"/>
          <p:cNvSpPr/>
          <p:nvPr/>
        </p:nvSpPr>
        <p:spPr>
          <a:xfrm>
            <a:off x="480060" y="1872234"/>
            <a:ext cx="8195400" cy="699600"/>
          </a:xfrm>
          <a:prstGeom prst="roundRect">
            <a:avLst>
              <a:gd fmla="val 8824" name="adj"/>
            </a:avLst>
          </a:prstGeom>
          <a:solidFill>
            <a:srgbClr val="EDF2F8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2"/>
          <p:cNvSpPr/>
          <p:nvPr/>
        </p:nvSpPr>
        <p:spPr>
          <a:xfrm>
            <a:off x="726948" y="1975104"/>
            <a:ext cx="493800" cy="4938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35" name="Google Shape;63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392" y="209854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2"/>
          <p:cNvSpPr/>
          <p:nvPr/>
        </p:nvSpPr>
        <p:spPr>
          <a:xfrm>
            <a:off x="1371600" y="1913382"/>
            <a:ext cx="342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2000"/>
              <a:buFont typeface="Bookman Old Style"/>
              <a:buNone/>
            </a:pPr>
            <a:r>
              <a:rPr b="1" i="0" lang="en" sz="20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2"/>
          <p:cNvSpPr/>
          <p:nvPr/>
        </p:nvSpPr>
        <p:spPr>
          <a:xfrm>
            <a:off x="1748790" y="1961388"/>
            <a:ext cx="216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Clauses Carry the Same Tags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2"/>
          <p:cNvSpPr/>
          <p:nvPr/>
        </p:nvSpPr>
        <p:spPr>
          <a:xfrm>
            <a:off x="3977640" y="1933956"/>
            <a:ext cx="4560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Each policy chunk is auto-tagged with the damage classes its own wording mentions, by the same tagger used to build the eval ground truth.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2"/>
          <p:cNvSpPr/>
          <p:nvPr/>
        </p:nvSpPr>
        <p:spPr>
          <a:xfrm>
            <a:off x="480060" y="2647188"/>
            <a:ext cx="8195400" cy="699600"/>
          </a:xfrm>
          <a:prstGeom prst="roundRect">
            <a:avLst>
              <a:gd fmla="val 8824" name="adj"/>
            </a:avLst>
          </a:prstGeom>
          <a:solidFill>
            <a:srgbClr val="FFFFFF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2"/>
          <p:cNvSpPr/>
          <p:nvPr/>
        </p:nvSpPr>
        <p:spPr>
          <a:xfrm>
            <a:off x="726948" y="2750058"/>
            <a:ext cx="493800" cy="4938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1" name="Google Shape;64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" y="287350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2"/>
          <p:cNvSpPr/>
          <p:nvPr/>
        </p:nvSpPr>
        <p:spPr>
          <a:xfrm>
            <a:off x="1371600" y="2688336"/>
            <a:ext cx="342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2000"/>
              <a:buFont typeface="Bookman Old Style"/>
              <a:buNone/>
            </a:pPr>
            <a:r>
              <a:rPr b="1" i="0" lang="en" sz="20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1748790" y="2736342"/>
            <a:ext cx="216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Two Queries per 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2"/>
          <p:cNvSpPr/>
          <p:nvPr/>
        </p:nvSpPr>
        <p:spPr>
          <a:xfrm>
            <a:off x="3977640" y="2708910"/>
            <a:ext cx="4560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 coverage query and an exclusion query run per detected class against the hybrid retriever — so what's covered and what's excluded both surface.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480060" y="3422142"/>
            <a:ext cx="8195400" cy="699600"/>
          </a:xfrm>
          <a:prstGeom prst="roundRect">
            <a:avLst>
              <a:gd fmla="val 8824" name="adj"/>
            </a:avLst>
          </a:prstGeom>
          <a:solidFill>
            <a:srgbClr val="EDF2F8"/>
          </a:solidFill>
          <a:ln cap="flat" cmpd="sng" w="12700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2"/>
          <p:cNvSpPr/>
          <p:nvPr/>
        </p:nvSpPr>
        <p:spPr>
          <a:xfrm>
            <a:off x="726948" y="3525012"/>
            <a:ext cx="493800" cy="4938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7" name="Google Shape;64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2" y="36484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32"/>
          <p:cNvSpPr/>
          <p:nvPr/>
        </p:nvSpPr>
        <p:spPr>
          <a:xfrm>
            <a:off x="1371600" y="3463290"/>
            <a:ext cx="342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D2E0"/>
              </a:buClr>
              <a:buSzPts val="2000"/>
              <a:buFont typeface="Bookman Old Style"/>
              <a:buNone/>
            </a:pPr>
            <a:r>
              <a:rPr b="1" i="0" lang="en" sz="2000" u="none" cap="none" strike="noStrike">
                <a:solidFill>
                  <a:srgbClr val="C6D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1748790" y="3511296"/>
            <a:ext cx="2160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General-Coverage Fallback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2"/>
          <p:cNvSpPr/>
          <p:nvPr/>
        </p:nvSpPr>
        <p:spPr>
          <a:xfrm>
            <a:off x="3977640" y="3483864"/>
            <a:ext cx="4560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 class-agnostic query for the policy's own operative clause is merged in — added after a real bug where a class-specific query lost to an unrelated, higher-similarity chunk.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TUNING THE RETRIEVER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Where the Tuning Actually Moved the Needle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1285035" y="1200150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3"/>
          <p:cNvSpPr/>
          <p:nvPr/>
        </p:nvSpPr>
        <p:spPr>
          <a:xfrm>
            <a:off x="1974264" y="1402461"/>
            <a:ext cx="582900" cy="5829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59" name="Google Shape;6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997" y="154819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3"/>
          <p:cNvSpPr/>
          <p:nvPr/>
        </p:nvSpPr>
        <p:spPr>
          <a:xfrm>
            <a:off x="1285035" y="2023110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3:1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3"/>
          <p:cNvSpPr/>
          <p:nvPr/>
        </p:nvSpPr>
        <p:spPr>
          <a:xfrm>
            <a:off x="1422195" y="2571750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Dense : sparse fusion (RRF)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1456485" y="2914650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Swept 4 ratios against all 50 incidents; 3:1 hit peak P@3 (0.913) without hurting MRR@5.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3"/>
          <p:cNvSpPr/>
          <p:nvPr/>
        </p:nvSpPr>
        <p:spPr>
          <a:xfrm>
            <a:off x="3568768" y="120013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4257998" y="1402449"/>
            <a:ext cx="582900" cy="5829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5" name="Google Shape;6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731" y="154818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3"/>
          <p:cNvSpPr/>
          <p:nvPr/>
        </p:nvSpPr>
        <p:spPr>
          <a:xfrm>
            <a:off x="3568768" y="202309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MiniLM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3705929" y="257173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Embedding model, over BGE-small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3740218" y="291463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P@3 1.00 vs 0.94, at two-thirds the parameters — no speed/accuracy tradeoff needed.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5852523" y="1200138"/>
            <a:ext cx="1961400" cy="229740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6541752" y="1402449"/>
            <a:ext cx="582900" cy="582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1" name="Google Shape;6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7485" y="1548182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3"/>
          <p:cNvSpPr/>
          <p:nvPr/>
        </p:nvSpPr>
        <p:spPr>
          <a:xfrm>
            <a:off x="5852523" y="2023098"/>
            <a:ext cx="196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5989683" y="2571738"/>
            <a:ext cx="168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Configs swept, 6 studies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6023973" y="2914638"/>
            <a:ext cx="161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RRF_k, pool size, min-score floor, dedup threshold all confirmed inert — only fusion ratio and chunk size moved P@3.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3"/>
          <p:cNvSpPr/>
          <p:nvPr/>
        </p:nvSpPr>
        <p:spPr>
          <a:xfrm>
            <a:off x="480060" y="3703320"/>
            <a:ext cx="81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Chunking stayed structure-aware (300 chars / 40 overlap, split on headings first) — bigger chunks raised raw P@3, but the random baseline rose faster, so real lift over chance fell.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4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RAG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Retrieval and Generation, Both Scored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1285035" y="2840000"/>
            <a:ext cx="1961400" cy="13500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1285035" y="2920000"/>
            <a:ext cx="1961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0.63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4"/>
          <p:cNvSpPr/>
          <p:nvPr/>
        </p:nvSpPr>
        <p:spPr>
          <a:xfrm>
            <a:off x="1422195" y="3360000"/>
            <a:ext cx="16872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Faithfulness (RAGAs)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1456485" y="3640000"/>
            <a:ext cx="1618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Is the prose actually entailed by the retrieved clause text?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3568768" y="2840000"/>
            <a:ext cx="1961400" cy="13500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4"/>
          <p:cNvSpPr/>
          <p:nvPr/>
        </p:nvSpPr>
        <p:spPr>
          <a:xfrm>
            <a:off x="3568768" y="2920000"/>
            <a:ext cx="1961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4"/>
          <p:cNvSpPr/>
          <p:nvPr/>
        </p:nvSpPr>
        <p:spPr>
          <a:xfrm>
            <a:off x="3705928" y="3360000"/>
            <a:ext cx="16872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Answer relevancy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4"/>
          <p:cNvSpPr/>
          <p:nvPr/>
        </p:nvSpPr>
        <p:spPr>
          <a:xfrm>
            <a:off x="3740218" y="3640000"/>
            <a:ext cx="1618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Does the answer actually address the claim's damage items?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4"/>
          <p:cNvSpPr/>
          <p:nvPr/>
        </p:nvSpPr>
        <p:spPr>
          <a:xfrm>
            <a:off x="5852523" y="2840000"/>
            <a:ext cx="1961400" cy="135000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5852523" y="2920000"/>
            <a:ext cx="1961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0.52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5989683" y="3360000"/>
            <a:ext cx="16872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Answer correctness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6023973" y="3640000"/>
            <a:ext cx="1618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vs. a hand-written reference verdict, independent of the model.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4"/>
          <p:cNvSpPr/>
          <p:nvPr/>
        </p:nvSpPr>
        <p:spPr>
          <a:xfrm>
            <a:off x="480060" y="4310000"/>
            <a:ext cx="8195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Retrieval almost always finds the right clause (P@3 0.91); teaching the model to write from it faithfully is the harder, still-improving half.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4"/>
          <p:cNvSpPr/>
          <p:nvPr/>
        </p:nvSpPr>
        <p:spPr>
          <a:xfrm>
            <a:off x="1285035" y="1180000"/>
            <a:ext cx="1961400" cy="13500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1285035" y="1260000"/>
            <a:ext cx="1961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0.91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1422195" y="1700000"/>
            <a:ext cx="16872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P@3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4"/>
          <p:cNvSpPr/>
          <p:nvPr/>
        </p:nvSpPr>
        <p:spPr>
          <a:xfrm>
            <a:off x="1456485" y="1980000"/>
            <a:ext cx="1618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Deterministic: regex damage-class tag match, 50 incidents.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4"/>
          <p:cNvSpPr/>
          <p:nvPr/>
        </p:nvSpPr>
        <p:spPr>
          <a:xfrm>
            <a:off x="3568768" y="1180000"/>
            <a:ext cx="1961400" cy="135000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4"/>
          <p:cNvSpPr/>
          <p:nvPr/>
        </p:nvSpPr>
        <p:spPr>
          <a:xfrm>
            <a:off x="3568768" y="1260000"/>
            <a:ext cx="1961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0.98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4"/>
          <p:cNvSpPr/>
          <p:nvPr/>
        </p:nvSpPr>
        <p:spPr>
          <a:xfrm>
            <a:off x="3705928" y="1700000"/>
            <a:ext cx="16872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MRR@5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4"/>
          <p:cNvSpPr/>
          <p:nvPr/>
        </p:nvSpPr>
        <p:spPr>
          <a:xfrm>
            <a:off x="3740218" y="1980000"/>
            <a:ext cx="1618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First relevant clause lands near rank 1, on average.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4"/>
          <p:cNvSpPr/>
          <p:nvPr/>
        </p:nvSpPr>
        <p:spPr>
          <a:xfrm>
            <a:off x="5852523" y="1180000"/>
            <a:ext cx="1961400" cy="135000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4"/>
          <p:cNvSpPr/>
          <p:nvPr/>
        </p:nvSpPr>
        <p:spPr>
          <a:xfrm>
            <a:off x="5852523" y="1260000"/>
            <a:ext cx="1961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0.83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4"/>
          <p:cNvSpPr/>
          <p:nvPr/>
        </p:nvSpPr>
        <p:spPr>
          <a:xfrm>
            <a:off x="5989683" y="1700000"/>
            <a:ext cx="16872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context_precision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4"/>
          <p:cNvSpPr/>
          <p:nvPr/>
        </p:nvSpPr>
        <p:spPr>
          <a:xfrm>
            <a:off x="6023973" y="1980000"/>
            <a:ext cx="16185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LLM-judged (Gemini): does each chunk actually apply here?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4"/>
          <p:cNvSpPr/>
          <p:nvPr/>
        </p:nvSpPr>
        <p:spPr>
          <a:xfrm>
            <a:off x="480060" y="970000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RETRIEVAL — TAG MATCH + LLM-JUDGED RELEVANCE, 50 INCIDENTS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4"/>
          <p:cNvSpPr/>
          <p:nvPr/>
        </p:nvSpPr>
        <p:spPr>
          <a:xfrm>
            <a:off x="480060" y="2630000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GENERATION — LLM-JUDGED (GEMINI-2.5-FLASH), INDEPENDENT OF THE GENERATOR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5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Measured, Reproducible Numbers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480060" y="1200150"/>
            <a:ext cx="1961388" cy="229743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1169289" y="1402461"/>
            <a:ext cx="582930" cy="58293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8" name="Google Shape;7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5022" y="154819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35"/>
          <p:cNvSpPr/>
          <p:nvPr/>
        </p:nvSpPr>
        <p:spPr>
          <a:xfrm>
            <a:off x="480060" y="2023110"/>
            <a:ext cx="19613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0.91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617220" y="2571750"/>
            <a:ext cx="16870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RAG retrieval P@3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651510" y="2914650"/>
            <a:ext cx="16184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across 50 incidents, with MRR@5 of 0.98 and zero misses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2619756" y="1200150"/>
            <a:ext cx="1961388" cy="229743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3308985" y="1402461"/>
            <a:ext cx="582930" cy="58293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4" name="Google Shape;72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4718" y="154819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35"/>
          <p:cNvSpPr/>
          <p:nvPr/>
        </p:nvSpPr>
        <p:spPr>
          <a:xfrm>
            <a:off x="2619756" y="2023110"/>
            <a:ext cx="19613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1.00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2756916" y="2571750"/>
            <a:ext cx="16870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Report faithfulness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2791206" y="2914650"/>
            <a:ext cx="16184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composite score, with no fabricated currency figures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4759452" y="1200150"/>
            <a:ext cx="1961388" cy="2297430"/>
          </a:xfrm>
          <a:prstGeom prst="roundRect">
            <a:avLst>
              <a:gd fmla="val 4196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5"/>
          <p:cNvSpPr/>
          <p:nvPr/>
        </p:nvSpPr>
        <p:spPr>
          <a:xfrm>
            <a:off x="5448681" y="1402461"/>
            <a:ext cx="582930" cy="58293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30" name="Google Shape;73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4413" y="154819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35"/>
          <p:cNvSpPr/>
          <p:nvPr/>
        </p:nvSpPr>
        <p:spPr>
          <a:xfrm>
            <a:off x="4759452" y="2023110"/>
            <a:ext cx="19613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0.485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4896612" y="2571750"/>
            <a:ext cx="16870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YOLO box mAP50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4930902" y="2914650"/>
            <a:ext cx="16184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tuned model, up from a 0.438 baseline, mask mAP50 0.449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5"/>
          <p:cNvSpPr/>
          <p:nvPr/>
        </p:nvSpPr>
        <p:spPr>
          <a:xfrm>
            <a:off x="6899148" y="1200150"/>
            <a:ext cx="1961388" cy="2297430"/>
          </a:xfrm>
          <a:prstGeom prst="roundRect">
            <a:avLst>
              <a:gd fmla="val 4196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5"/>
          <p:cNvSpPr/>
          <p:nvPr/>
        </p:nvSpPr>
        <p:spPr>
          <a:xfrm>
            <a:off x="7588377" y="1402461"/>
            <a:ext cx="582930" cy="58293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36" name="Google Shape;73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4110" y="1548194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35"/>
          <p:cNvSpPr/>
          <p:nvPr/>
        </p:nvSpPr>
        <p:spPr>
          <a:xfrm>
            <a:off x="6899148" y="2023110"/>
            <a:ext cx="19613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5"/>
          <p:cNvSpPr/>
          <p:nvPr/>
        </p:nvSpPr>
        <p:spPr>
          <a:xfrm>
            <a:off x="7036308" y="2571750"/>
            <a:ext cx="16870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Backend tests passing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5"/>
          <p:cNvSpPr/>
          <p:nvPr/>
        </p:nvSpPr>
        <p:spPr>
          <a:xfrm>
            <a:off x="7070598" y="2914650"/>
            <a:ext cx="16184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8317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with a live Groq key, exercising the real end-to-end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5"/>
          <p:cNvSpPr/>
          <p:nvPr/>
        </p:nvSpPr>
        <p:spPr>
          <a:xfrm>
            <a:off x="480060" y="3703320"/>
            <a:ext cx="8195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567A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3D567A"/>
                </a:solidFill>
                <a:latin typeface="Calibri"/>
                <a:ea typeface="Calibri"/>
                <a:cs typeface="Calibri"/>
                <a:sym typeface="Calibri"/>
              </a:rPr>
              <a:t>Every result above is reproducible from a single entry-point script, and was independently verified on a fresh clone.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6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FOUR PORTALS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One Claim, Four Points of 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480060" y="1131570"/>
            <a:ext cx="4011930" cy="1563624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908685" y="1553337"/>
            <a:ext cx="720090" cy="72009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0" name="Google Shape;75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708" y="1733360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36"/>
          <p:cNvSpPr/>
          <p:nvPr/>
        </p:nvSpPr>
        <p:spPr>
          <a:xfrm>
            <a:off x="1885950" y="1419606"/>
            <a:ext cx="2434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Claimant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6"/>
          <p:cNvSpPr/>
          <p:nvPr/>
        </p:nvSpPr>
        <p:spPr>
          <a:xfrm>
            <a:off x="1885950" y="1831086"/>
            <a:ext cx="243459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Look up a policy and submit a claim with one to five photos of the damage.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4663440" y="1131570"/>
            <a:ext cx="4011930" cy="1563624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6"/>
          <p:cNvSpPr/>
          <p:nvPr/>
        </p:nvSpPr>
        <p:spPr>
          <a:xfrm>
            <a:off x="5092065" y="1553337"/>
            <a:ext cx="720090" cy="72009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5" name="Google Shape;75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2088" y="1733360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6"/>
          <p:cNvSpPr/>
          <p:nvPr/>
        </p:nvSpPr>
        <p:spPr>
          <a:xfrm>
            <a:off x="6069330" y="1419606"/>
            <a:ext cx="2434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Adjuster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6069330" y="1831086"/>
            <a:ext cx="243459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Review the AI findings side by side with the photos, then approve, deny, or ask for more.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6"/>
          <p:cNvSpPr/>
          <p:nvPr/>
        </p:nvSpPr>
        <p:spPr>
          <a:xfrm>
            <a:off x="480060" y="2887218"/>
            <a:ext cx="4011900" cy="1563600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6"/>
          <p:cNvSpPr/>
          <p:nvPr/>
        </p:nvSpPr>
        <p:spPr>
          <a:xfrm>
            <a:off x="908685" y="3308985"/>
            <a:ext cx="720090" cy="72009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0" name="Google Shape;76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708" y="3489007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6"/>
          <p:cNvSpPr/>
          <p:nvPr/>
        </p:nvSpPr>
        <p:spPr>
          <a:xfrm>
            <a:off x="1885950" y="3175254"/>
            <a:ext cx="2434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SIU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6"/>
          <p:cNvSpPr/>
          <p:nvPr/>
        </p:nvSpPr>
        <p:spPr>
          <a:xfrm>
            <a:off x="1885950" y="3586734"/>
            <a:ext cx="243459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Investigate the high-fraud-score claims, opening and updating a case for each.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6"/>
          <p:cNvSpPr/>
          <p:nvPr/>
        </p:nvSpPr>
        <p:spPr>
          <a:xfrm>
            <a:off x="4628990" y="2894068"/>
            <a:ext cx="4011900" cy="1563600"/>
          </a:xfrm>
          <a:prstGeom prst="roundRect">
            <a:avLst>
              <a:gd fmla="val 5263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6"/>
          <p:cNvSpPr/>
          <p:nvPr/>
        </p:nvSpPr>
        <p:spPr>
          <a:xfrm>
            <a:off x="5092065" y="3308985"/>
            <a:ext cx="720090" cy="72009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5" name="Google Shape;76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2088" y="3489007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6"/>
          <p:cNvSpPr/>
          <p:nvPr/>
        </p:nvSpPr>
        <p:spPr>
          <a:xfrm>
            <a:off x="6069330" y="3175254"/>
            <a:ext cx="2434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Supervisor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6069330" y="3586734"/>
            <a:ext cx="243459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See portfolio analytics across the whole book of claims at a glance.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497205" y="4550490"/>
            <a:ext cx="1954500" cy="342900"/>
          </a:xfrm>
          <a:prstGeom prst="roundRect">
            <a:avLst>
              <a:gd fmla="val 50000" name="adj"/>
            </a:avLst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6"/>
          <p:cNvSpPr/>
          <p:nvPr/>
        </p:nvSpPr>
        <p:spPr>
          <a:xfrm>
            <a:off x="2554605" y="4550490"/>
            <a:ext cx="1954500" cy="342900"/>
          </a:xfrm>
          <a:prstGeom prst="roundRect">
            <a:avLst>
              <a:gd fmla="val 50000" name="adj"/>
            </a:avLst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6"/>
          <p:cNvSpPr/>
          <p:nvPr/>
        </p:nvSpPr>
        <p:spPr>
          <a:xfrm>
            <a:off x="4612005" y="4550490"/>
            <a:ext cx="1954500" cy="342900"/>
          </a:xfrm>
          <a:prstGeom prst="roundRect">
            <a:avLst>
              <a:gd fmla="val 50000" name="adj"/>
            </a:avLst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6"/>
          <p:cNvSpPr/>
          <p:nvPr/>
        </p:nvSpPr>
        <p:spPr>
          <a:xfrm>
            <a:off x="6669405" y="4550490"/>
            <a:ext cx="1954500" cy="342900"/>
          </a:xfrm>
          <a:prstGeom prst="roundRect">
            <a:avLst>
              <a:gd fmla="val 50000" name="adj"/>
            </a:avLst>
          </a:prstGeom>
          <a:solidFill>
            <a:srgbClr val="E8F7E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6"/>
          <p:cNvSpPr/>
          <p:nvPr/>
        </p:nvSpPr>
        <p:spPr>
          <a:xfrm>
            <a:off x="497217" y="4548190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6"/>
          <p:cNvSpPr/>
          <p:nvPr/>
        </p:nvSpPr>
        <p:spPr>
          <a:xfrm>
            <a:off x="2554618" y="4548190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6"/>
          <p:cNvSpPr/>
          <p:nvPr/>
        </p:nvSpPr>
        <p:spPr>
          <a:xfrm>
            <a:off x="4612018" y="4548190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Adjuster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6"/>
          <p:cNvSpPr/>
          <p:nvPr/>
        </p:nvSpPr>
        <p:spPr>
          <a:xfrm>
            <a:off x="6669418" y="4548190"/>
            <a:ext cx="195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7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4A870"/>
                </a:solidFill>
                <a:latin typeface="Calibri"/>
                <a:ea typeface="Calibri"/>
                <a:cs typeface="Calibri"/>
                <a:sym typeface="Calibri"/>
              </a:rPr>
              <a:t>Decision recorded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6"/>
          <p:cNvSpPr/>
          <p:nvPr/>
        </p:nvSpPr>
        <p:spPr>
          <a:xfrm>
            <a:off x="6592394" y="4678475"/>
            <a:ext cx="75300" cy="9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6"/>
          <p:cNvSpPr/>
          <p:nvPr/>
        </p:nvSpPr>
        <p:spPr>
          <a:xfrm>
            <a:off x="2474269" y="4673942"/>
            <a:ext cx="75300" cy="9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6"/>
          <p:cNvSpPr/>
          <p:nvPr/>
        </p:nvSpPr>
        <p:spPr>
          <a:xfrm>
            <a:off x="4520795" y="4673942"/>
            <a:ext cx="75300" cy="9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7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BUILT TO SHIP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7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Database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7"/>
          <p:cNvSpPr/>
          <p:nvPr/>
        </p:nvSpPr>
        <p:spPr>
          <a:xfrm>
            <a:off x="480060" y="1200150"/>
            <a:ext cx="2571900" cy="3326100"/>
          </a:xfrm>
          <a:prstGeom prst="roundRect">
            <a:avLst>
              <a:gd fmla="val 3200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7"/>
          <p:cNvSpPr/>
          <p:nvPr/>
        </p:nvSpPr>
        <p:spPr>
          <a:xfrm>
            <a:off x="1405890" y="1423035"/>
            <a:ext cx="720090" cy="72009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7"/>
          <p:cNvSpPr/>
          <p:nvPr/>
        </p:nvSpPr>
        <p:spPr>
          <a:xfrm>
            <a:off x="480060" y="22288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SQLite 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7"/>
          <p:cNvSpPr/>
          <p:nvPr/>
        </p:nvSpPr>
        <p:spPr>
          <a:xfrm>
            <a:off x="768096" y="2763774"/>
            <a:ext cx="89154" cy="89154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7"/>
          <p:cNvSpPr/>
          <p:nvPr/>
        </p:nvSpPr>
        <p:spPr>
          <a:xfrm>
            <a:off x="946400" y="2674623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claims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7"/>
          <p:cNvSpPr/>
          <p:nvPr/>
        </p:nvSpPr>
        <p:spPr>
          <a:xfrm>
            <a:off x="768121" y="3381032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7"/>
          <p:cNvSpPr/>
          <p:nvPr/>
        </p:nvSpPr>
        <p:spPr>
          <a:xfrm>
            <a:off x="946438" y="3291845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decision_records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7"/>
          <p:cNvSpPr/>
          <p:nvPr/>
        </p:nvSpPr>
        <p:spPr>
          <a:xfrm>
            <a:off x="768121" y="3521614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7"/>
          <p:cNvSpPr/>
          <p:nvPr/>
        </p:nvSpPr>
        <p:spPr>
          <a:xfrm>
            <a:off x="946450" y="3422780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investigation_cases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7"/>
          <p:cNvSpPr/>
          <p:nvPr/>
        </p:nvSpPr>
        <p:spPr>
          <a:xfrm>
            <a:off x="3236976" y="1200150"/>
            <a:ext cx="2571750" cy="3326130"/>
          </a:xfrm>
          <a:prstGeom prst="roundRect">
            <a:avLst>
              <a:gd fmla="val 3200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7"/>
          <p:cNvSpPr/>
          <p:nvPr/>
        </p:nvSpPr>
        <p:spPr>
          <a:xfrm>
            <a:off x="4162806" y="1423035"/>
            <a:ext cx="720090" cy="72009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97" name="Google Shape;7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2829" y="1603058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7"/>
          <p:cNvSpPr/>
          <p:nvPr/>
        </p:nvSpPr>
        <p:spPr>
          <a:xfrm>
            <a:off x="3236976" y="22288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 Vector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7"/>
          <p:cNvSpPr/>
          <p:nvPr/>
        </p:nvSpPr>
        <p:spPr>
          <a:xfrm>
            <a:off x="3525012" y="2763774"/>
            <a:ext cx="89154" cy="8915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7"/>
          <p:cNvSpPr/>
          <p:nvPr/>
        </p:nvSpPr>
        <p:spPr>
          <a:xfrm>
            <a:off x="3703320" y="2674620"/>
            <a:ext cx="19545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8E2F0"/>
                </a:solidFill>
                <a:latin typeface="Calibri"/>
                <a:ea typeface="Calibri"/>
                <a:cs typeface="Calibri"/>
                <a:sym typeface="Calibri"/>
              </a:rPr>
              <a:t>It indexes and stores 185 synthetic policy document chunks broken down from policy PDFs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7"/>
          <p:cNvSpPr/>
          <p:nvPr/>
        </p:nvSpPr>
        <p:spPr>
          <a:xfrm>
            <a:off x="3703320" y="3291840"/>
            <a:ext cx="19545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7"/>
          <p:cNvSpPr/>
          <p:nvPr/>
        </p:nvSpPr>
        <p:spPr>
          <a:xfrm>
            <a:off x="3703320" y="3909060"/>
            <a:ext cx="195453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7"/>
          <p:cNvSpPr/>
          <p:nvPr/>
        </p:nvSpPr>
        <p:spPr>
          <a:xfrm>
            <a:off x="5993892" y="1200150"/>
            <a:ext cx="2571750" cy="3326130"/>
          </a:xfrm>
          <a:prstGeom prst="roundRect">
            <a:avLst>
              <a:gd fmla="val 3200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7"/>
          <p:cNvSpPr/>
          <p:nvPr/>
        </p:nvSpPr>
        <p:spPr>
          <a:xfrm>
            <a:off x="6919722" y="1423035"/>
            <a:ext cx="720090" cy="72009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5" name="Google Shape;80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9745" y="1603058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37"/>
          <p:cNvSpPr/>
          <p:nvPr/>
        </p:nvSpPr>
        <p:spPr>
          <a:xfrm>
            <a:off x="5993892" y="2228850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Security &amp; Auth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7"/>
          <p:cNvSpPr/>
          <p:nvPr/>
        </p:nvSpPr>
        <p:spPr>
          <a:xfrm>
            <a:off x="6281928" y="2763774"/>
            <a:ext cx="89154" cy="89154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7"/>
          <p:cNvSpPr/>
          <p:nvPr/>
        </p:nvSpPr>
        <p:spPr>
          <a:xfrm>
            <a:off x="6460225" y="2747825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JWT tokens guard every claim and analytics 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7"/>
          <p:cNvSpPr/>
          <p:nvPr/>
        </p:nvSpPr>
        <p:spPr>
          <a:xfrm>
            <a:off x="6281928" y="3380994"/>
            <a:ext cx="89154" cy="89154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7"/>
          <p:cNvSpPr/>
          <p:nvPr/>
        </p:nvSpPr>
        <p:spPr>
          <a:xfrm>
            <a:off x="6460225" y="3291845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Signup and login with bcrypt password hashing and Role based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7"/>
          <p:cNvSpPr/>
          <p:nvPr/>
        </p:nvSpPr>
        <p:spPr>
          <a:xfrm>
            <a:off x="6281928" y="3998214"/>
            <a:ext cx="89154" cy="89154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7"/>
          <p:cNvSpPr/>
          <p:nvPr/>
        </p:nvSpPr>
        <p:spPr>
          <a:xfrm>
            <a:off x="6460225" y="3909054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POST /auth/signup</a:t>
            </a:r>
            <a:endParaRPr b="0" i="0" sz="9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POST /auth/login</a:t>
            </a:r>
            <a:endParaRPr b="0" i="0" sz="9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GET /claims &amp; GET /claims/{claim_id}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5900" y="1563625"/>
            <a:ext cx="480076" cy="48007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7"/>
          <p:cNvSpPr/>
          <p:nvPr/>
        </p:nvSpPr>
        <p:spPr>
          <a:xfrm>
            <a:off x="946450" y="2983235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claim_photos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7"/>
          <p:cNvSpPr/>
          <p:nvPr/>
        </p:nvSpPr>
        <p:spPr>
          <a:xfrm>
            <a:off x="768121" y="3072412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7"/>
          <p:cNvSpPr/>
          <p:nvPr/>
        </p:nvSpPr>
        <p:spPr>
          <a:xfrm>
            <a:off x="768121" y="3240437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7"/>
          <p:cNvSpPr/>
          <p:nvPr/>
        </p:nvSpPr>
        <p:spPr>
          <a:xfrm>
            <a:off x="946450" y="3141585"/>
            <a:ext cx="1954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analysis_results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946450" y="2853852"/>
            <a:ext cx="195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policy_clauses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7"/>
          <p:cNvSpPr/>
          <p:nvPr/>
        </p:nvSpPr>
        <p:spPr>
          <a:xfrm>
            <a:off x="768121" y="2918112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7"/>
          <p:cNvSpPr/>
          <p:nvPr/>
        </p:nvSpPr>
        <p:spPr>
          <a:xfrm>
            <a:off x="768121" y="3662214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7"/>
          <p:cNvSpPr/>
          <p:nvPr/>
        </p:nvSpPr>
        <p:spPr>
          <a:xfrm>
            <a:off x="946450" y="3600478"/>
            <a:ext cx="195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2" name="Google Shape;822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2888" y="1563637"/>
            <a:ext cx="480075" cy="480075"/>
          </a:xfrm>
          <a:prstGeom prst="rect">
            <a:avLst/>
          </a:prstGeom>
          <a:solidFill>
            <a:srgbClr val="F5A623"/>
          </a:solidFill>
          <a:ln>
            <a:noFill/>
          </a:ln>
        </p:spPr>
      </p:pic>
      <p:pic>
        <p:nvPicPr>
          <p:cNvPr id="823" name="Google Shape;82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9725" y="1469822"/>
            <a:ext cx="667675" cy="66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8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FOUR PORTALS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8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API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8"/>
          <p:cNvSpPr/>
          <p:nvPr/>
        </p:nvSpPr>
        <p:spPr>
          <a:xfrm>
            <a:off x="480060" y="1131570"/>
            <a:ext cx="4011900" cy="1563600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8"/>
          <p:cNvSpPr/>
          <p:nvPr/>
        </p:nvSpPr>
        <p:spPr>
          <a:xfrm>
            <a:off x="908685" y="1553337"/>
            <a:ext cx="720000" cy="72000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32" name="Google Shape;8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708" y="1733360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8"/>
          <p:cNvSpPr/>
          <p:nvPr/>
        </p:nvSpPr>
        <p:spPr>
          <a:xfrm>
            <a:off x="1885950" y="1419606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Claimant Portal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8"/>
          <p:cNvSpPr/>
          <p:nvPr/>
        </p:nvSpPr>
        <p:spPr>
          <a:xfrm>
            <a:off x="1885950" y="1831086"/>
            <a:ext cx="2434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GET /claims/{claim_id}/detail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POST /claims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POST /policies/lookup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8"/>
          <p:cNvSpPr/>
          <p:nvPr/>
        </p:nvSpPr>
        <p:spPr>
          <a:xfrm>
            <a:off x="4663440" y="1131570"/>
            <a:ext cx="4011900" cy="1563600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8"/>
          <p:cNvSpPr/>
          <p:nvPr/>
        </p:nvSpPr>
        <p:spPr>
          <a:xfrm>
            <a:off x="5092065" y="1553337"/>
            <a:ext cx="720000" cy="7200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37" name="Google Shape;83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2088" y="1733360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8"/>
          <p:cNvSpPr/>
          <p:nvPr/>
        </p:nvSpPr>
        <p:spPr>
          <a:xfrm>
            <a:off x="6001150" y="1419600"/>
            <a:ext cx="306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Adjuster Portal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/>
          <p:cNvSpPr/>
          <p:nvPr/>
        </p:nvSpPr>
        <p:spPr>
          <a:xfrm>
            <a:off x="5812074" y="1831075"/>
            <a:ext cx="2691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GET /claims/adjuster-dashboard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GET /claims/{claim_id}/detail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GET /claims/{claim_id}/annotated-photo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POST /claims/{claim_id}/decision</a:t>
            </a:r>
            <a:b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8"/>
          <p:cNvSpPr/>
          <p:nvPr/>
        </p:nvSpPr>
        <p:spPr>
          <a:xfrm>
            <a:off x="480060" y="2887218"/>
            <a:ext cx="4011900" cy="1563600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8"/>
          <p:cNvSpPr/>
          <p:nvPr/>
        </p:nvSpPr>
        <p:spPr>
          <a:xfrm>
            <a:off x="908685" y="3308985"/>
            <a:ext cx="720000" cy="72000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2" name="Google Shape;84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708" y="3489007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38"/>
          <p:cNvSpPr/>
          <p:nvPr/>
        </p:nvSpPr>
        <p:spPr>
          <a:xfrm>
            <a:off x="1885950" y="3175254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SIU Portal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8"/>
          <p:cNvSpPr/>
          <p:nvPr/>
        </p:nvSpPr>
        <p:spPr>
          <a:xfrm>
            <a:off x="1885950" y="3586734"/>
            <a:ext cx="2434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GET /claims/siu-dashboard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POST /claims/{claim_id}/siu-action</a:t>
            </a:r>
            <a:endParaRPr b="0" i="0" sz="1000" u="none" cap="none" strike="noStrike">
              <a:solidFill>
                <a:srgbClr val="5C6B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8"/>
          <p:cNvSpPr/>
          <p:nvPr/>
        </p:nvSpPr>
        <p:spPr>
          <a:xfrm>
            <a:off x="4663440" y="2887218"/>
            <a:ext cx="4011900" cy="1563600"/>
          </a:xfrm>
          <a:prstGeom prst="roundRect">
            <a:avLst>
              <a:gd fmla="val 5263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8"/>
          <p:cNvSpPr/>
          <p:nvPr/>
        </p:nvSpPr>
        <p:spPr>
          <a:xfrm>
            <a:off x="5092065" y="3308985"/>
            <a:ext cx="720000" cy="7200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47" name="Google Shape;84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2088" y="3489007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38"/>
          <p:cNvSpPr/>
          <p:nvPr/>
        </p:nvSpPr>
        <p:spPr>
          <a:xfrm>
            <a:off x="6069330" y="3175254"/>
            <a:ext cx="2434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Bookman Old Style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Supervisor Portal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8"/>
          <p:cNvSpPr/>
          <p:nvPr/>
        </p:nvSpPr>
        <p:spPr>
          <a:xfrm>
            <a:off x="6069330" y="3449534"/>
            <a:ext cx="2434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2100" lvl="0" marL="45720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CBD8E8"/>
              </a:buClr>
              <a:buSzPts val="1000"/>
              <a:buFont typeface="Calibri"/>
              <a:buChar char="●"/>
            </a:pPr>
            <a:r>
              <a:rPr b="0" i="0" lang="en" sz="1000" u="none" cap="none" strike="noStrike">
                <a:solidFill>
                  <a:srgbClr val="CBD8E8"/>
                </a:solidFill>
                <a:latin typeface="Calibri"/>
                <a:ea typeface="Calibri"/>
                <a:cs typeface="Calibri"/>
                <a:sym typeface="Calibri"/>
              </a:rPr>
              <a:t>GET /analytics/summary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9"/>
          <p:cNvSpPr/>
          <p:nvPr/>
        </p:nvSpPr>
        <p:spPr>
          <a:xfrm>
            <a:off x="480060" y="28803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BUILT TO SHI</a:t>
            </a: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9"/>
          <p:cNvSpPr/>
          <p:nvPr/>
        </p:nvSpPr>
        <p:spPr>
          <a:xfrm>
            <a:off x="466344" y="452628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Secured, Containerized, Continuously Deployed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9"/>
          <p:cNvSpPr/>
          <p:nvPr/>
        </p:nvSpPr>
        <p:spPr>
          <a:xfrm>
            <a:off x="480060" y="1200150"/>
            <a:ext cx="2571900" cy="3326100"/>
          </a:xfrm>
          <a:prstGeom prst="roundRect">
            <a:avLst>
              <a:gd fmla="val 3200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9"/>
          <p:cNvSpPr/>
          <p:nvPr/>
        </p:nvSpPr>
        <p:spPr>
          <a:xfrm>
            <a:off x="1405890" y="1423035"/>
            <a:ext cx="720000" cy="7200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59" name="Google Shape;85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5912" y="1603057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39"/>
          <p:cNvSpPr/>
          <p:nvPr/>
        </p:nvSpPr>
        <p:spPr>
          <a:xfrm>
            <a:off x="480060" y="2228850"/>
            <a:ext cx="25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Security &amp;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9"/>
          <p:cNvSpPr/>
          <p:nvPr/>
        </p:nvSpPr>
        <p:spPr>
          <a:xfrm>
            <a:off x="768096" y="2763774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9"/>
          <p:cNvSpPr/>
          <p:nvPr/>
        </p:nvSpPr>
        <p:spPr>
          <a:xfrm>
            <a:off x="946404" y="267462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Signup and login with bcrypt password hashing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9"/>
          <p:cNvSpPr/>
          <p:nvPr/>
        </p:nvSpPr>
        <p:spPr>
          <a:xfrm>
            <a:off x="768096" y="3380994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9"/>
          <p:cNvSpPr/>
          <p:nvPr/>
        </p:nvSpPr>
        <p:spPr>
          <a:xfrm>
            <a:off x="946404" y="329184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JWT tokens guard every claim and analytics route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9"/>
          <p:cNvSpPr/>
          <p:nvPr/>
        </p:nvSpPr>
        <p:spPr>
          <a:xfrm>
            <a:off x="768096" y="3998214"/>
            <a:ext cx="89100" cy="8910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9"/>
          <p:cNvSpPr/>
          <p:nvPr/>
        </p:nvSpPr>
        <p:spPr>
          <a:xfrm>
            <a:off x="946404" y="390906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Role-based access: admin gates three portals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9"/>
          <p:cNvSpPr/>
          <p:nvPr/>
        </p:nvSpPr>
        <p:spPr>
          <a:xfrm>
            <a:off x="3236976" y="1200150"/>
            <a:ext cx="2571900" cy="3326100"/>
          </a:xfrm>
          <a:prstGeom prst="roundRect">
            <a:avLst>
              <a:gd fmla="val 3200" name="adj"/>
            </a:avLst>
          </a:prstGeom>
          <a:solidFill>
            <a:srgbClr val="13233F"/>
          </a:solidFill>
          <a:ln>
            <a:noFill/>
          </a:ln>
          <a:effectLst>
            <a:outerShdw blurRad="114300" rotWithShape="0" algn="bl" dir="5400000" dist="38100">
              <a:srgbClr val="8CA0B8">
                <a:alpha val="32157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9"/>
          <p:cNvSpPr/>
          <p:nvPr/>
        </p:nvSpPr>
        <p:spPr>
          <a:xfrm>
            <a:off x="4162806" y="1423035"/>
            <a:ext cx="720000" cy="7200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9" name="Google Shape;8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2829" y="1603057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39"/>
          <p:cNvSpPr/>
          <p:nvPr/>
        </p:nvSpPr>
        <p:spPr>
          <a:xfrm>
            <a:off x="3236976" y="2228850"/>
            <a:ext cx="25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&amp; packaging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9"/>
          <p:cNvSpPr/>
          <p:nvPr/>
        </p:nvSpPr>
        <p:spPr>
          <a:xfrm>
            <a:off x="3525012" y="2763774"/>
            <a:ext cx="89100" cy="891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9"/>
          <p:cNvSpPr/>
          <p:nvPr/>
        </p:nvSpPr>
        <p:spPr>
          <a:xfrm>
            <a:off x="3703320" y="267462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8E2F0"/>
                </a:solidFill>
                <a:latin typeface="Calibri"/>
                <a:ea typeface="Calibri"/>
                <a:cs typeface="Calibri"/>
                <a:sym typeface="Calibri"/>
              </a:rPr>
              <a:t>FastAPI backend with a Vue 3 single-page 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9"/>
          <p:cNvSpPr/>
          <p:nvPr/>
        </p:nvSpPr>
        <p:spPr>
          <a:xfrm>
            <a:off x="3525012" y="3380994"/>
            <a:ext cx="89100" cy="891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9"/>
          <p:cNvSpPr/>
          <p:nvPr/>
        </p:nvSpPr>
        <p:spPr>
          <a:xfrm>
            <a:off x="3703320" y="329184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8E2F0"/>
                </a:solidFill>
                <a:latin typeface="Calibri"/>
                <a:ea typeface="Calibri"/>
                <a:cs typeface="Calibri"/>
                <a:sym typeface="Calibri"/>
              </a:rPr>
              <a:t>SQLite plus a local ChromaDB vector 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9"/>
          <p:cNvSpPr/>
          <p:nvPr/>
        </p:nvSpPr>
        <p:spPr>
          <a:xfrm>
            <a:off x="3525012" y="3998214"/>
            <a:ext cx="89100" cy="891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9"/>
          <p:cNvSpPr/>
          <p:nvPr/>
        </p:nvSpPr>
        <p:spPr>
          <a:xfrm>
            <a:off x="3703320" y="390906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D8E2F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8E2F0"/>
                </a:solidFill>
                <a:latin typeface="Calibri"/>
                <a:ea typeface="Calibri"/>
                <a:cs typeface="Calibri"/>
                <a:sym typeface="Calibri"/>
              </a:rPr>
              <a:t>One Docker image serves the API and the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9"/>
          <p:cNvSpPr/>
          <p:nvPr/>
        </p:nvSpPr>
        <p:spPr>
          <a:xfrm>
            <a:off x="5993892" y="1200150"/>
            <a:ext cx="2571900" cy="3326100"/>
          </a:xfrm>
          <a:prstGeom prst="roundRect">
            <a:avLst>
              <a:gd fmla="val 3200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9"/>
          <p:cNvSpPr/>
          <p:nvPr/>
        </p:nvSpPr>
        <p:spPr>
          <a:xfrm>
            <a:off x="6919722" y="1423035"/>
            <a:ext cx="720000" cy="72000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9" name="Google Shape;87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9745" y="1603057"/>
            <a:ext cx="360045" cy="360045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39"/>
          <p:cNvSpPr/>
          <p:nvPr/>
        </p:nvSpPr>
        <p:spPr>
          <a:xfrm>
            <a:off x="5993892" y="2228850"/>
            <a:ext cx="2571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Deploy &amp; monitor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9"/>
          <p:cNvSpPr/>
          <p:nvPr/>
        </p:nvSpPr>
        <p:spPr>
          <a:xfrm>
            <a:off x="6281928" y="2763774"/>
            <a:ext cx="89100" cy="8910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9"/>
          <p:cNvSpPr/>
          <p:nvPr/>
        </p:nvSpPr>
        <p:spPr>
          <a:xfrm>
            <a:off x="6460236" y="267462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Kubernetes manifests for Google Kubernetes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9"/>
          <p:cNvSpPr/>
          <p:nvPr/>
        </p:nvSpPr>
        <p:spPr>
          <a:xfrm>
            <a:off x="6281928" y="3380994"/>
            <a:ext cx="89100" cy="8910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9"/>
          <p:cNvSpPr/>
          <p:nvPr/>
        </p:nvSpPr>
        <p:spPr>
          <a:xfrm>
            <a:off x="6460236" y="329184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CI/CD builds, Trivy-scans, and auto-rolls-back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9"/>
          <p:cNvSpPr/>
          <p:nvPr/>
        </p:nvSpPr>
        <p:spPr>
          <a:xfrm>
            <a:off x="6281928" y="3998214"/>
            <a:ext cx="89100" cy="89100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9"/>
          <p:cNvSpPr/>
          <p:nvPr/>
        </p:nvSpPr>
        <p:spPr>
          <a:xfrm>
            <a:off x="6460236" y="3909060"/>
            <a:ext cx="1954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Langfuse traces every claim in 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0"/>
          <p:cNvSpPr/>
          <p:nvPr/>
        </p:nvSpPr>
        <p:spPr>
          <a:xfrm>
            <a:off x="342900" y="192024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SYSTEM ARCHITECTURE  ·  AS IMPLEMENTED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0"/>
          <p:cNvSpPr/>
          <p:nvPr/>
        </p:nvSpPr>
        <p:spPr>
          <a:xfrm>
            <a:off x="342900" y="384048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1A1F2E"/>
                </a:solidFill>
                <a:latin typeface="Cambria"/>
                <a:ea typeface="Cambria"/>
                <a:cs typeface="Cambria"/>
                <a:sym typeface="Cambria"/>
              </a:rPr>
              <a:t>Current Implementation — High-Level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40"/>
          <p:cNvSpPr/>
          <p:nvPr/>
        </p:nvSpPr>
        <p:spPr>
          <a:xfrm>
            <a:off x="342900" y="699516"/>
            <a:ext cx="84353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Client → API → Orchestration → Agents → Data / External Services, with synchronous calls, async background analysis, and observability tracing.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0"/>
          <p:cNvSpPr/>
          <p:nvPr/>
        </p:nvSpPr>
        <p:spPr>
          <a:xfrm>
            <a:off x="342900" y="1028700"/>
            <a:ext cx="8455914" cy="493776"/>
          </a:xfrm>
          <a:prstGeom prst="roundRect">
            <a:avLst>
              <a:gd fmla="val 9722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0"/>
          <p:cNvSpPr/>
          <p:nvPr/>
        </p:nvSpPr>
        <p:spPr>
          <a:xfrm>
            <a:off x="425196" y="936117"/>
            <a:ext cx="392278" cy="164592"/>
          </a:xfrm>
          <a:prstGeom prst="roundRect">
            <a:avLst>
              <a:gd fmla="val 5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0"/>
          <p:cNvSpPr/>
          <p:nvPr/>
        </p:nvSpPr>
        <p:spPr>
          <a:xfrm>
            <a:off x="425196" y="936117"/>
            <a:ext cx="39227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0"/>
          <p:cNvSpPr/>
          <p:nvPr/>
        </p:nvSpPr>
        <p:spPr>
          <a:xfrm>
            <a:off x="466344" y="1097280"/>
            <a:ext cx="2263140" cy="356616"/>
          </a:xfrm>
          <a:prstGeom prst="roundRect">
            <a:avLst>
              <a:gd fmla="val 13462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0"/>
          <p:cNvSpPr/>
          <p:nvPr/>
        </p:nvSpPr>
        <p:spPr>
          <a:xfrm>
            <a:off x="548640" y="1152144"/>
            <a:ext cx="246888" cy="246888"/>
          </a:xfrm>
          <a:prstGeom prst="ellipse">
            <a:avLst/>
          </a:prstGeom>
          <a:solidFill>
            <a:srgbClr val="ECE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esktop_5B6472.png" id="900" name="Google Shape;90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190" y="1207694"/>
            <a:ext cx="135788" cy="135788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40"/>
          <p:cNvSpPr/>
          <p:nvPr/>
        </p:nvSpPr>
        <p:spPr>
          <a:xfrm>
            <a:off x="864108" y="1138428"/>
            <a:ext cx="1796796" cy="17830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0"/>
          <p:cNvSpPr/>
          <p:nvPr/>
        </p:nvSpPr>
        <p:spPr>
          <a:xfrm>
            <a:off x="864108" y="1282720"/>
            <a:ext cx="1796796" cy="1569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End user — Claimant / Adjuster / SIU / Supervisor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0"/>
          <p:cNvSpPr/>
          <p:nvPr/>
        </p:nvSpPr>
        <p:spPr>
          <a:xfrm>
            <a:off x="2846070" y="1056132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0"/>
          <p:cNvSpPr/>
          <p:nvPr/>
        </p:nvSpPr>
        <p:spPr>
          <a:xfrm>
            <a:off x="342900" y="1645920"/>
            <a:ext cx="8455914" cy="582930"/>
          </a:xfrm>
          <a:prstGeom prst="roundRect">
            <a:avLst>
              <a:gd fmla="val 8235" name="adj"/>
            </a:avLst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0"/>
          <p:cNvSpPr/>
          <p:nvPr/>
        </p:nvSpPr>
        <p:spPr>
          <a:xfrm>
            <a:off x="425196" y="1553337"/>
            <a:ext cx="984809" cy="164592"/>
          </a:xfrm>
          <a:prstGeom prst="roundRect">
            <a:avLst>
              <a:gd fmla="val 5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0"/>
          <p:cNvSpPr/>
          <p:nvPr/>
        </p:nvSpPr>
        <p:spPr>
          <a:xfrm>
            <a:off x="425196" y="1553337"/>
            <a:ext cx="98480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/ API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0"/>
          <p:cNvSpPr/>
          <p:nvPr/>
        </p:nvSpPr>
        <p:spPr>
          <a:xfrm>
            <a:off x="466344" y="1728216"/>
            <a:ext cx="2263140" cy="418338"/>
          </a:xfrm>
          <a:prstGeom prst="roundRect">
            <a:avLst>
              <a:gd fmla="val 11475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0"/>
          <p:cNvSpPr/>
          <p:nvPr/>
        </p:nvSpPr>
        <p:spPr>
          <a:xfrm>
            <a:off x="548640" y="1800225"/>
            <a:ext cx="274320" cy="274320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sitemap_2F6FED.png" id="909" name="Google Shape;90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362" y="1861947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40"/>
          <p:cNvSpPr/>
          <p:nvPr/>
        </p:nvSpPr>
        <p:spPr>
          <a:xfrm>
            <a:off x="891540" y="1769364"/>
            <a:ext cx="1769364" cy="2091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Vue 3 SPA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0"/>
          <p:cNvSpPr/>
          <p:nvPr/>
        </p:nvSpPr>
        <p:spPr>
          <a:xfrm>
            <a:off x="891540" y="1945752"/>
            <a:ext cx="1769364" cy="1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frontend/ · 4 role-based portals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0"/>
          <p:cNvSpPr/>
          <p:nvPr/>
        </p:nvSpPr>
        <p:spPr>
          <a:xfrm>
            <a:off x="2825496" y="1889379"/>
            <a:ext cx="192024" cy="960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0"/>
          <p:cNvSpPr/>
          <p:nvPr/>
        </p:nvSpPr>
        <p:spPr>
          <a:xfrm>
            <a:off x="3120390" y="1728216"/>
            <a:ext cx="2297430" cy="418338"/>
          </a:xfrm>
          <a:prstGeom prst="roundRect">
            <a:avLst>
              <a:gd fmla="val 11475" name="adj"/>
            </a:avLst>
          </a:prstGeom>
          <a:solidFill>
            <a:srgbClr val="F5F8FF"/>
          </a:solidFill>
          <a:ln cap="flat" cmpd="sng" w="19050">
            <a:solidFill>
              <a:srgbClr val="2F6F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0"/>
          <p:cNvSpPr/>
          <p:nvPr/>
        </p:nvSpPr>
        <p:spPr>
          <a:xfrm>
            <a:off x="3202686" y="1800225"/>
            <a:ext cx="274320" cy="274320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server_2F6FED.png" id="915" name="Google Shape;91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4408" y="1861947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40"/>
          <p:cNvSpPr/>
          <p:nvPr/>
        </p:nvSpPr>
        <p:spPr>
          <a:xfrm>
            <a:off x="3545586" y="1769364"/>
            <a:ext cx="1803654" cy="2091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FastAPI 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0"/>
          <p:cNvSpPr/>
          <p:nvPr/>
        </p:nvSpPr>
        <p:spPr>
          <a:xfrm>
            <a:off x="3545586" y="1945752"/>
            <a:ext cx="1803654" cy="1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backend/app/main.py · REST + async tasks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0"/>
          <p:cNvSpPr/>
          <p:nvPr/>
        </p:nvSpPr>
        <p:spPr>
          <a:xfrm>
            <a:off x="5513832" y="1889379"/>
            <a:ext cx="192024" cy="960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0"/>
          <p:cNvSpPr/>
          <p:nvPr/>
        </p:nvSpPr>
        <p:spPr>
          <a:xfrm>
            <a:off x="5808726" y="1728216"/>
            <a:ext cx="2304288" cy="418338"/>
          </a:xfrm>
          <a:prstGeom prst="roundRect">
            <a:avLst>
              <a:gd fmla="val 11475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0"/>
          <p:cNvSpPr/>
          <p:nvPr/>
        </p:nvSpPr>
        <p:spPr>
          <a:xfrm>
            <a:off x="5891022" y="1813941"/>
            <a:ext cx="246888" cy="246888"/>
          </a:xfrm>
          <a:prstGeom prst="ellipse">
            <a:avLst/>
          </a:prstGeom>
          <a:solidFill>
            <a:srgbClr val="ECE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atabase_5B6472.png" id="921" name="Google Shape;92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6572" y="1869490"/>
            <a:ext cx="135788" cy="135788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40"/>
          <p:cNvSpPr/>
          <p:nvPr/>
        </p:nvSpPr>
        <p:spPr>
          <a:xfrm>
            <a:off x="6206490" y="1769364"/>
            <a:ext cx="1837944" cy="20916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0"/>
          <p:cNvSpPr/>
          <p:nvPr/>
        </p:nvSpPr>
        <p:spPr>
          <a:xfrm>
            <a:off x="6206490" y="1945752"/>
            <a:ext cx="1837944" cy="1840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claims.db · single-instance store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0"/>
          <p:cNvSpPr/>
          <p:nvPr/>
        </p:nvSpPr>
        <p:spPr>
          <a:xfrm>
            <a:off x="342900" y="2352294"/>
            <a:ext cx="8455914" cy="493776"/>
          </a:xfrm>
          <a:prstGeom prst="roundRect">
            <a:avLst>
              <a:gd fmla="val 9722" name="adj"/>
            </a:avLst>
          </a:prstGeom>
          <a:solidFill>
            <a:srgbClr val="FDEE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0"/>
          <p:cNvSpPr/>
          <p:nvPr/>
        </p:nvSpPr>
        <p:spPr>
          <a:xfrm>
            <a:off x="425196" y="2259711"/>
            <a:ext cx="737921" cy="164592"/>
          </a:xfrm>
          <a:prstGeom prst="roundRect">
            <a:avLst>
              <a:gd fmla="val 5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0"/>
          <p:cNvSpPr/>
          <p:nvPr/>
        </p:nvSpPr>
        <p:spPr>
          <a:xfrm>
            <a:off x="425196" y="2259711"/>
            <a:ext cx="737921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2651646" y="2420874"/>
            <a:ext cx="3840480" cy="356616"/>
          </a:xfrm>
          <a:prstGeom prst="roundRect">
            <a:avLst>
              <a:gd fmla="val 13462" name="adj"/>
            </a:avLst>
          </a:prstGeom>
          <a:solidFill>
            <a:srgbClr val="FFF7EE"/>
          </a:solidFill>
          <a:ln cap="flat" cmpd="sng" w="19050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0"/>
          <p:cNvSpPr/>
          <p:nvPr/>
        </p:nvSpPr>
        <p:spPr>
          <a:xfrm>
            <a:off x="2733942" y="2455164"/>
            <a:ext cx="288036" cy="288036"/>
          </a:xfrm>
          <a:prstGeom prst="ellipse">
            <a:avLst/>
          </a:prstGeom>
          <a:solidFill>
            <a:srgbClr val="FDEE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project-diagram_F2994A.png" id="929" name="Google Shape;929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8750" y="2519972"/>
            <a:ext cx="158419" cy="158419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40"/>
          <p:cNvSpPr/>
          <p:nvPr/>
        </p:nvSpPr>
        <p:spPr>
          <a:xfrm>
            <a:off x="3090558" y="2462022"/>
            <a:ext cx="3332988" cy="17830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LangGraphClaimOrchestrator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0"/>
          <p:cNvSpPr/>
          <p:nvPr/>
        </p:nvSpPr>
        <p:spPr>
          <a:xfrm>
            <a:off x="3090558" y="2606315"/>
            <a:ext cx="3332988" cy="1569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coordinator node + 5 conditional edges (LangGraph StateGraph)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2" name="Google Shape;932;p40"/>
          <p:cNvCxnSpPr/>
          <p:nvPr/>
        </p:nvCxnSpPr>
        <p:spPr>
          <a:xfrm>
            <a:off x="4571886" y="2228850"/>
            <a:ext cx="0" cy="54864"/>
          </a:xfrm>
          <a:prstGeom prst="straightConnector1">
            <a:avLst/>
          </a:prstGeom>
          <a:noFill/>
          <a:ln cap="flat" cmpd="sng" w="19050">
            <a:solidFill>
              <a:srgbClr val="5B7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p40"/>
          <p:cNvSpPr/>
          <p:nvPr/>
        </p:nvSpPr>
        <p:spPr>
          <a:xfrm>
            <a:off x="4534167" y="2269998"/>
            <a:ext cx="75438" cy="822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0"/>
          <p:cNvSpPr/>
          <p:nvPr/>
        </p:nvSpPr>
        <p:spPr>
          <a:xfrm>
            <a:off x="342900" y="2983230"/>
            <a:ext cx="8455914" cy="685800"/>
          </a:xfrm>
          <a:prstGeom prst="roundRect">
            <a:avLst>
              <a:gd fmla="val 7000" name="adj"/>
            </a:avLst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0"/>
          <p:cNvSpPr/>
          <p:nvPr/>
        </p:nvSpPr>
        <p:spPr>
          <a:xfrm>
            <a:off x="425196" y="2890647"/>
            <a:ext cx="639166" cy="164592"/>
          </a:xfrm>
          <a:prstGeom prst="roundRect">
            <a:avLst>
              <a:gd fmla="val 5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0"/>
          <p:cNvSpPr/>
          <p:nvPr/>
        </p:nvSpPr>
        <p:spPr>
          <a:xfrm>
            <a:off x="425196" y="2890647"/>
            <a:ext cx="63916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LAYER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0"/>
          <p:cNvSpPr/>
          <p:nvPr/>
        </p:nvSpPr>
        <p:spPr>
          <a:xfrm>
            <a:off x="466344" y="3051810"/>
            <a:ext cx="1371600" cy="54864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0"/>
          <p:cNvSpPr/>
          <p:nvPr/>
        </p:nvSpPr>
        <p:spPr>
          <a:xfrm>
            <a:off x="548640" y="3195828"/>
            <a:ext cx="260604" cy="260604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camera_2F6FED.png" id="939" name="Google Shape;939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276" y="3254464"/>
            <a:ext cx="143332" cy="143332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40"/>
          <p:cNvSpPr/>
          <p:nvPr/>
        </p:nvSpPr>
        <p:spPr>
          <a:xfrm>
            <a:off x="877824" y="3092958"/>
            <a:ext cx="891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Damage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40"/>
          <p:cNvSpPr/>
          <p:nvPr/>
        </p:nvSpPr>
        <p:spPr>
          <a:xfrm>
            <a:off x="877824" y="3337102"/>
            <a:ext cx="891540" cy="2414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YOLO11m-seg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(fine-tuned)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0"/>
          <p:cNvSpPr/>
          <p:nvPr/>
        </p:nvSpPr>
        <p:spPr>
          <a:xfrm>
            <a:off x="1933956" y="3051810"/>
            <a:ext cx="1371600" cy="54864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0"/>
          <p:cNvSpPr/>
          <p:nvPr/>
        </p:nvSpPr>
        <p:spPr>
          <a:xfrm>
            <a:off x="2016252" y="3195828"/>
            <a:ext cx="260604" cy="260604"/>
          </a:xfrm>
          <a:prstGeom prst="ellipse">
            <a:avLst/>
          </a:prstGeom>
          <a:solidFill>
            <a:srgbClr val="ECE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sliders_5B6472.png" id="944" name="Google Shape;944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74888" y="3254464"/>
            <a:ext cx="143333" cy="143332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40"/>
          <p:cNvSpPr/>
          <p:nvPr/>
        </p:nvSpPr>
        <p:spPr>
          <a:xfrm>
            <a:off x="2345436" y="3092958"/>
            <a:ext cx="891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Severity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0"/>
          <p:cNvSpPr/>
          <p:nvPr/>
        </p:nvSpPr>
        <p:spPr>
          <a:xfrm>
            <a:off x="2345436" y="3337102"/>
            <a:ext cx="891540" cy="2414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area-ratio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(deterministic)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0"/>
          <p:cNvSpPr/>
          <p:nvPr/>
        </p:nvSpPr>
        <p:spPr>
          <a:xfrm>
            <a:off x="3401568" y="3051810"/>
            <a:ext cx="1371600" cy="54864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0"/>
          <p:cNvSpPr/>
          <p:nvPr/>
        </p:nvSpPr>
        <p:spPr>
          <a:xfrm>
            <a:off x="3483864" y="3195828"/>
            <a:ext cx="260604" cy="260604"/>
          </a:xfrm>
          <a:prstGeom prst="ellipse">
            <a:avLst/>
          </a:prstGeom>
          <a:solidFill>
            <a:srgbClr val="FDEE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atabase_F2994A.png" id="949" name="Google Shape;94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42500" y="3254464"/>
            <a:ext cx="143332" cy="14333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40"/>
          <p:cNvSpPr/>
          <p:nvPr/>
        </p:nvSpPr>
        <p:spPr>
          <a:xfrm>
            <a:off x="3813048" y="3092958"/>
            <a:ext cx="891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0"/>
          <p:cNvSpPr/>
          <p:nvPr/>
        </p:nvSpPr>
        <p:spPr>
          <a:xfrm>
            <a:off x="3813048" y="3337102"/>
            <a:ext cx="891540" cy="2414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MiniLM + ChromaDB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+ TF-IDF (frozen)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0"/>
          <p:cNvSpPr/>
          <p:nvPr/>
        </p:nvSpPr>
        <p:spPr>
          <a:xfrm>
            <a:off x="4869180" y="3051810"/>
            <a:ext cx="1371600" cy="54864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0"/>
          <p:cNvSpPr/>
          <p:nvPr/>
        </p:nvSpPr>
        <p:spPr>
          <a:xfrm>
            <a:off x="4951476" y="3195828"/>
            <a:ext cx="260604" cy="260604"/>
          </a:xfrm>
          <a:prstGeom prst="ellipse">
            <a:avLst/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comments_6C4FD1.png" id="954" name="Google Shape;954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10112" y="3254464"/>
            <a:ext cx="143332" cy="143332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40"/>
          <p:cNvSpPr/>
          <p:nvPr/>
        </p:nvSpPr>
        <p:spPr>
          <a:xfrm>
            <a:off x="5280660" y="3092958"/>
            <a:ext cx="891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0"/>
          <p:cNvSpPr/>
          <p:nvPr/>
        </p:nvSpPr>
        <p:spPr>
          <a:xfrm>
            <a:off x="5280660" y="3337102"/>
            <a:ext cx="891540" cy="2414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Groq LLM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(prompted only)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0"/>
          <p:cNvSpPr/>
          <p:nvPr/>
        </p:nvSpPr>
        <p:spPr>
          <a:xfrm>
            <a:off x="6336792" y="3051810"/>
            <a:ext cx="1371600" cy="54864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0"/>
          <p:cNvSpPr/>
          <p:nvPr/>
        </p:nvSpPr>
        <p:spPr>
          <a:xfrm>
            <a:off x="6419088" y="3195828"/>
            <a:ext cx="260604" cy="260604"/>
          </a:xfrm>
          <a:prstGeom prst="ellipse">
            <a:avLst/>
          </a:prstGeom>
          <a:solidFill>
            <a:srgbClr val="FBEA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shield-alt_E85D5D.png" id="959" name="Google Shape;959;p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724" y="3254464"/>
            <a:ext cx="143333" cy="143332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40"/>
          <p:cNvSpPr/>
          <p:nvPr/>
        </p:nvSpPr>
        <p:spPr>
          <a:xfrm>
            <a:off x="6748272" y="3092958"/>
            <a:ext cx="891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Fraud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0"/>
          <p:cNvSpPr/>
          <p:nvPr/>
        </p:nvSpPr>
        <p:spPr>
          <a:xfrm>
            <a:off x="6748272" y="3337102"/>
            <a:ext cx="891540" cy="2414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rule engine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(deterministic)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2" name="Google Shape;962;p40"/>
          <p:cNvCxnSpPr/>
          <p:nvPr/>
        </p:nvCxnSpPr>
        <p:spPr>
          <a:xfrm>
            <a:off x="4571886" y="2846070"/>
            <a:ext cx="0" cy="68580"/>
          </a:xfrm>
          <a:prstGeom prst="straightConnector1">
            <a:avLst/>
          </a:prstGeom>
          <a:noFill/>
          <a:ln cap="flat" cmpd="sng" w="19050">
            <a:solidFill>
              <a:srgbClr val="5B7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40"/>
          <p:cNvSpPr/>
          <p:nvPr/>
        </p:nvSpPr>
        <p:spPr>
          <a:xfrm>
            <a:off x="4534167" y="2900934"/>
            <a:ext cx="75438" cy="822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0"/>
          <p:cNvSpPr/>
          <p:nvPr/>
        </p:nvSpPr>
        <p:spPr>
          <a:xfrm>
            <a:off x="342900" y="3806190"/>
            <a:ext cx="8455914" cy="562356"/>
          </a:xfrm>
          <a:prstGeom prst="roundRect">
            <a:avLst>
              <a:gd fmla="val 8537" name="adj"/>
            </a:avLst>
          </a:prstGeom>
          <a:solidFill>
            <a:srgbClr val="EFF2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0"/>
          <p:cNvSpPr/>
          <p:nvPr/>
        </p:nvSpPr>
        <p:spPr>
          <a:xfrm>
            <a:off x="425196" y="3713607"/>
            <a:ext cx="836676" cy="164592"/>
          </a:xfrm>
          <a:prstGeom prst="roundRect">
            <a:avLst>
              <a:gd fmla="val 50000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0"/>
          <p:cNvSpPr/>
          <p:nvPr/>
        </p:nvSpPr>
        <p:spPr>
          <a:xfrm>
            <a:off x="425196" y="3713607"/>
            <a:ext cx="8366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/ EXTERNAL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0"/>
          <p:cNvSpPr/>
          <p:nvPr/>
        </p:nvSpPr>
        <p:spPr>
          <a:xfrm>
            <a:off x="3401568" y="3874770"/>
            <a:ext cx="1371600" cy="425196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5875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0"/>
          <p:cNvSpPr/>
          <p:nvPr/>
        </p:nvSpPr>
        <p:spPr>
          <a:xfrm>
            <a:off x="3483864" y="3970782"/>
            <a:ext cx="233172" cy="233172"/>
          </a:xfrm>
          <a:prstGeom prst="ellipse">
            <a:avLst/>
          </a:prstGeom>
          <a:solidFill>
            <a:srgbClr val="ECE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layer-group_5B6472.png" id="969" name="Google Shape;969;p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36328" y="4023246"/>
            <a:ext cx="128245" cy="12824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40"/>
          <p:cNvSpPr/>
          <p:nvPr/>
        </p:nvSpPr>
        <p:spPr>
          <a:xfrm>
            <a:off x="3785616" y="3915918"/>
            <a:ext cx="9189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0"/>
          <p:cNvSpPr/>
          <p:nvPr/>
        </p:nvSpPr>
        <p:spPr>
          <a:xfrm>
            <a:off x="3785616" y="4095872"/>
            <a:ext cx="918972" cy="1870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500"/>
              <a:buFont typeface="Calibri"/>
              <a:buNone/>
            </a:pPr>
            <a:r>
              <a:rPr b="0" i="0" lang="en" sz="5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per-user vector index (local disk)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2" name="Google Shape;972;p40"/>
          <p:cNvCxnSpPr/>
          <p:nvPr/>
        </p:nvCxnSpPr>
        <p:spPr>
          <a:xfrm>
            <a:off x="4087368" y="3669030"/>
            <a:ext cx="0" cy="68580"/>
          </a:xfrm>
          <a:prstGeom prst="straightConnector1">
            <a:avLst/>
          </a:prstGeom>
          <a:noFill/>
          <a:ln cap="flat" cmpd="sng" w="15875">
            <a:solidFill>
              <a:srgbClr val="5B7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3" name="Google Shape;973;p40"/>
          <p:cNvSpPr/>
          <p:nvPr/>
        </p:nvSpPr>
        <p:spPr>
          <a:xfrm>
            <a:off x="4049649" y="3723894"/>
            <a:ext cx="75438" cy="822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0"/>
          <p:cNvSpPr/>
          <p:nvPr/>
        </p:nvSpPr>
        <p:spPr>
          <a:xfrm>
            <a:off x="4869180" y="3874770"/>
            <a:ext cx="1371600" cy="425196"/>
          </a:xfrm>
          <a:prstGeom prst="roundRect">
            <a:avLst>
              <a:gd fmla="val 11290" name="adj"/>
            </a:avLst>
          </a:prstGeom>
          <a:solidFill>
            <a:srgbClr val="FBFAFF"/>
          </a:solidFill>
          <a:ln cap="flat" cmpd="sng" w="15875">
            <a:solidFill>
              <a:srgbClr val="6C4FD1"/>
            </a:solidFill>
            <a:prstDash val="dash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40"/>
          <p:cNvSpPr/>
          <p:nvPr/>
        </p:nvSpPr>
        <p:spPr>
          <a:xfrm>
            <a:off x="4951476" y="3970782"/>
            <a:ext cx="233172" cy="233172"/>
          </a:xfrm>
          <a:prstGeom prst="ellipse">
            <a:avLst/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bolt_6C4FD1.png" id="976" name="Google Shape;976;p4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03940" y="4023246"/>
            <a:ext cx="128245" cy="12824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40"/>
          <p:cNvSpPr/>
          <p:nvPr/>
        </p:nvSpPr>
        <p:spPr>
          <a:xfrm>
            <a:off x="5253228" y="3915918"/>
            <a:ext cx="918972" cy="21259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Groq Cloud API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0"/>
          <p:cNvSpPr/>
          <p:nvPr/>
        </p:nvSpPr>
        <p:spPr>
          <a:xfrm>
            <a:off x="5253228" y="4095872"/>
            <a:ext cx="918972" cy="1870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500"/>
              <a:buFont typeface="Calibri"/>
              <a:buNone/>
            </a:pPr>
            <a:r>
              <a:rPr b="0" i="0" lang="en" sz="5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llama-3.3-70b-versatile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9" name="Google Shape;979;p40"/>
          <p:cNvCxnSpPr/>
          <p:nvPr/>
        </p:nvCxnSpPr>
        <p:spPr>
          <a:xfrm>
            <a:off x="5554980" y="3669030"/>
            <a:ext cx="0" cy="68580"/>
          </a:xfrm>
          <a:prstGeom prst="straightConnector1">
            <a:avLst/>
          </a:prstGeom>
          <a:noFill/>
          <a:ln cap="flat" cmpd="sng" w="15875">
            <a:solidFill>
              <a:srgbClr val="5B7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40"/>
          <p:cNvSpPr/>
          <p:nvPr/>
        </p:nvSpPr>
        <p:spPr>
          <a:xfrm>
            <a:off x="5517261" y="3723894"/>
            <a:ext cx="75438" cy="822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0"/>
          <p:cNvSpPr/>
          <p:nvPr/>
        </p:nvSpPr>
        <p:spPr>
          <a:xfrm>
            <a:off x="7790688" y="3874770"/>
            <a:ext cx="925830" cy="425196"/>
          </a:xfrm>
          <a:prstGeom prst="roundRect">
            <a:avLst>
              <a:gd fmla="val 11290" name="adj"/>
            </a:avLst>
          </a:prstGeom>
          <a:solidFill>
            <a:srgbClr val="FBFAFF"/>
          </a:solidFill>
          <a:ln cap="flat" cmpd="sng" w="15875">
            <a:solidFill>
              <a:srgbClr val="6C4FD1"/>
            </a:solidFill>
            <a:prstDash val="dash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A1F2E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0"/>
          <p:cNvSpPr/>
          <p:nvPr/>
        </p:nvSpPr>
        <p:spPr>
          <a:xfrm>
            <a:off x="7872984" y="3984498"/>
            <a:ext cx="205740" cy="205740"/>
          </a:xfrm>
          <a:prstGeom prst="ellipse">
            <a:avLst/>
          </a:prstGeom>
          <a:solidFill>
            <a:srgbClr val="F1EC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eye_6C4FD1.png" id="983" name="Google Shape;983;p4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19276" y="4030790"/>
            <a:ext cx="113157" cy="113157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40"/>
          <p:cNvSpPr/>
          <p:nvPr/>
        </p:nvSpPr>
        <p:spPr>
          <a:xfrm>
            <a:off x="8147304" y="3915918"/>
            <a:ext cx="500634" cy="21259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Langfuse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0"/>
          <p:cNvSpPr/>
          <p:nvPr/>
        </p:nvSpPr>
        <p:spPr>
          <a:xfrm>
            <a:off x="8147304" y="4095872"/>
            <a:ext cx="500634" cy="1870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500"/>
              <a:buFont typeface="Calibri"/>
              <a:buNone/>
            </a:pPr>
            <a:r>
              <a:rPr b="0" i="0" lang="en" sz="5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trace / observability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6" name="Google Shape;986;p40"/>
          <p:cNvCxnSpPr/>
          <p:nvPr/>
        </p:nvCxnSpPr>
        <p:spPr>
          <a:xfrm>
            <a:off x="6492126" y="2599182"/>
            <a:ext cx="1761477" cy="0"/>
          </a:xfrm>
          <a:prstGeom prst="straightConnector1">
            <a:avLst/>
          </a:prstGeom>
          <a:noFill/>
          <a:ln cap="flat" cmpd="sng" w="13950">
            <a:solidFill>
              <a:srgbClr val="6C4FD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87" name="Google Shape;987;p40"/>
          <p:cNvCxnSpPr/>
          <p:nvPr/>
        </p:nvCxnSpPr>
        <p:spPr>
          <a:xfrm>
            <a:off x="8253603" y="2599182"/>
            <a:ext cx="0" cy="1138428"/>
          </a:xfrm>
          <a:prstGeom prst="straightConnector1">
            <a:avLst/>
          </a:prstGeom>
          <a:noFill/>
          <a:ln cap="flat" cmpd="sng" w="13950">
            <a:solidFill>
              <a:srgbClr val="6C4FD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88" name="Google Shape;988;p40"/>
          <p:cNvSpPr/>
          <p:nvPr/>
        </p:nvSpPr>
        <p:spPr>
          <a:xfrm>
            <a:off x="8219313" y="3723894"/>
            <a:ext cx="68580" cy="7543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C4FD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0"/>
          <p:cNvSpPr/>
          <p:nvPr/>
        </p:nvSpPr>
        <p:spPr>
          <a:xfrm>
            <a:off x="342900" y="4478274"/>
            <a:ext cx="8455914" cy="425196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0" name="Google Shape;990;p40"/>
          <p:cNvCxnSpPr/>
          <p:nvPr/>
        </p:nvCxnSpPr>
        <p:spPr>
          <a:xfrm>
            <a:off x="493776" y="4608576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5B7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1" name="Google Shape;991;p40"/>
          <p:cNvSpPr/>
          <p:nvPr/>
        </p:nvSpPr>
        <p:spPr>
          <a:xfrm>
            <a:off x="781812" y="4581144"/>
            <a:ext cx="96012" cy="6172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40"/>
          <p:cNvSpPr/>
          <p:nvPr/>
        </p:nvSpPr>
        <p:spPr>
          <a:xfrm>
            <a:off x="918972" y="4519422"/>
            <a:ext cx="106299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Synchronous call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3" name="Google Shape;993;p40"/>
          <p:cNvCxnSpPr/>
          <p:nvPr/>
        </p:nvCxnSpPr>
        <p:spPr>
          <a:xfrm>
            <a:off x="2057400" y="4608576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6C4FD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4" name="Google Shape;994;p40"/>
          <p:cNvSpPr/>
          <p:nvPr/>
        </p:nvSpPr>
        <p:spPr>
          <a:xfrm>
            <a:off x="2345436" y="4581144"/>
            <a:ext cx="96012" cy="6172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C4FD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0"/>
          <p:cNvSpPr/>
          <p:nvPr/>
        </p:nvSpPr>
        <p:spPr>
          <a:xfrm>
            <a:off x="2482596" y="4519422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Async / trace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40"/>
          <p:cNvSpPr/>
          <p:nvPr/>
        </p:nvSpPr>
        <p:spPr>
          <a:xfrm>
            <a:off x="3463290" y="4539996"/>
            <a:ext cx="274320" cy="150876"/>
          </a:xfrm>
          <a:prstGeom prst="roundRect">
            <a:avLst>
              <a:gd fmla="val 18182" name="adj"/>
            </a:avLst>
          </a:prstGeom>
          <a:solidFill>
            <a:srgbClr val="FBFAFF"/>
          </a:solidFill>
          <a:ln cap="flat" cmpd="sng" w="15875">
            <a:solidFill>
              <a:srgbClr val="6C4FD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40"/>
          <p:cNvSpPr/>
          <p:nvPr/>
        </p:nvSpPr>
        <p:spPr>
          <a:xfrm>
            <a:off x="3806190" y="4519422"/>
            <a:ext cx="12687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External cloud service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0"/>
          <p:cNvSpPr/>
          <p:nvPr/>
        </p:nvSpPr>
        <p:spPr>
          <a:xfrm>
            <a:off x="5212080" y="4567428"/>
            <a:ext cx="109728" cy="1097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0"/>
          <p:cNvSpPr/>
          <p:nvPr/>
        </p:nvSpPr>
        <p:spPr>
          <a:xfrm>
            <a:off x="5362956" y="4519422"/>
            <a:ext cx="113157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Fine-tuned model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0"/>
          <p:cNvSpPr/>
          <p:nvPr/>
        </p:nvSpPr>
        <p:spPr>
          <a:xfrm>
            <a:off x="6480810" y="4567428"/>
            <a:ext cx="109728" cy="109728"/>
          </a:xfrm>
          <a:prstGeom prst="ellipse">
            <a:avLst/>
          </a:prstGeom>
          <a:solidFill>
            <a:srgbClr val="5B647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0"/>
          <p:cNvSpPr/>
          <p:nvPr/>
        </p:nvSpPr>
        <p:spPr>
          <a:xfrm>
            <a:off x="6631686" y="4519422"/>
            <a:ext cx="113157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Deterministic logic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0"/>
          <p:cNvSpPr/>
          <p:nvPr/>
        </p:nvSpPr>
        <p:spPr>
          <a:xfrm>
            <a:off x="7749540" y="4567428"/>
            <a:ext cx="109728" cy="109728"/>
          </a:xfrm>
          <a:prstGeom prst="ellipse">
            <a:avLst/>
          </a:prstGeom>
          <a:solidFill>
            <a:srgbClr val="6C4FD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0"/>
          <p:cNvSpPr/>
          <p:nvPr/>
        </p:nvSpPr>
        <p:spPr>
          <a:xfrm>
            <a:off x="7900416" y="4519422"/>
            <a:ext cx="113157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Hosted LLM (prompted)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0"/>
          <p:cNvSpPr/>
          <p:nvPr/>
        </p:nvSpPr>
        <p:spPr>
          <a:xfrm>
            <a:off x="342900" y="4910328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1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SMART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1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 Coordinator That Plans Each Step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1"/>
          <p:cNvSpPr/>
          <p:nvPr/>
        </p:nvSpPr>
        <p:spPr>
          <a:xfrm>
            <a:off x="480060" y="1028700"/>
            <a:ext cx="8161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26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B2637"/>
                </a:solidFill>
                <a:latin typeface="Calibri"/>
                <a:ea typeface="Calibri"/>
                <a:cs typeface="Calibri"/>
                <a:sym typeface="Calibri"/>
              </a:rPr>
              <a:t>The five agents are not a fixed chain. A LangGraph coordinator decides what runs next, one hop at a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1"/>
          <p:cNvSpPr/>
          <p:nvPr/>
        </p:nvSpPr>
        <p:spPr>
          <a:xfrm>
            <a:off x="519650" y="1501900"/>
            <a:ext cx="3777900" cy="3309000"/>
          </a:xfrm>
          <a:prstGeom prst="roundRect">
            <a:avLst>
              <a:gd fmla="val 2727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1"/>
          <p:cNvSpPr/>
          <p:nvPr/>
        </p:nvSpPr>
        <p:spPr>
          <a:xfrm>
            <a:off x="850195" y="1975113"/>
            <a:ext cx="925800" cy="925800"/>
          </a:xfrm>
          <a:prstGeom prst="ellipse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15" name="Google Shape;101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39" y="2225087"/>
            <a:ext cx="425882" cy="425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41"/>
          <p:cNvSpPr/>
          <p:nvPr/>
        </p:nvSpPr>
        <p:spPr>
          <a:xfrm>
            <a:off x="570953" y="1705679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Coordinator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41"/>
          <p:cNvSpPr/>
          <p:nvPr/>
        </p:nvSpPr>
        <p:spPr>
          <a:xfrm>
            <a:off x="3019256" y="1831140"/>
            <a:ext cx="630900" cy="377100"/>
          </a:xfrm>
          <a:prstGeom prst="roundRect">
            <a:avLst>
              <a:gd fmla="val 16364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8" name="Google Shape;1018;p41"/>
          <p:cNvCxnSpPr>
            <a:endCxn id="1014" idx="6"/>
          </p:cNvCxnSpPr>
          <p:nvPr/>
        </p:nvCxnSpPr>
        <p:spPr>
          <a:xfrm flipH="1">
            <a:off x="1775995" y="1995513"/>
            <a:ext cx="1251900" cy="442500"/>
          </a:xfrm>
          <a:prstGeom prst="straightConnector1">
            <a:avLst/>
          </a:prstGeom>
          <a:noFill/>
          <a:ln cap="flat" cmpd="sng" w="15875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41"/>
          <p:cNvSpPr/>
          <p:nvPr/>
        </p:nvSpPr>
        <p:spPr>
          <a:xfrm>
            <a:off x="3019238" y="2235790"/>
            <a:ext cx="630900" cy="377100"/>
          </a:xfrm>
          <a:prstGeom prst="roundRect">
            <a:avLst>
              <a:gd fmla="val 16364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1"/>
          <p:cNvSpPr/>
          <p:nvPr/>
        </p:nvSpPr>
        <p:spPr>
          <a:xfrm>
            <a:off x="3019232" y="2664315"/>
            <a:ext cx="630900" cy="377100"/>
          </a:xfrm>
          <a:prstGeom prst="roundRect">
            <a:avLst>
              <a:gd fmla="val 16364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1"/>
          <p:cNvSpPr/>
          <p:nvPr/>
        </p:nvSpPr>
        <p:spPr>
          <a:xfrm>
            <a:off x="3019250" y="2246040"/>
            <a:ext cx="63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1"/>
          <p:cNvSpPr/>
          <p:nvPr/>
        </p:nvSpPr>
        <p:spPr>
          <a:xfrm>
            <a:off x="3027793" y="1811044"/>
            <a:ext cx="63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1"/>
          <p:cNvSpPr/>
          <p:nvPr/>
        </p:nvSpPr>
        <p:spPr>
          <a:xfrm>
            <a:off x="3019257" y="2670365"/>
            <a:ext cx="63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41"/>
          <p:cNvSpPr/>
          <p:nvPr/>
        </p:nvSpPr>
        <p:spPr>
          <a:xfrm>
            <a:off x="3027777" y="3512940"/>
            <a:ext cx="630900" cy="377100"/>
          </a:xfrm>
          <a:prstGeom prst="roundRect">
            <a:avLst>
              <a:gd fmla="val 16364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41"/>
          <p:cNvSpPr/>
          <p:nvPr/>
        </p:nvSpPr>
        <p:spPr>
          <a:xfrm>
            <a:off x="2992620" y="3519015"/>
            <a:ext cx="63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1"/>
          <p:cNvSpPr/>
          <p:nvPr/>
        </p:nvSpPr>
        <p:spPr>
          <a:xfrm>
            <a:off x="3019234" y="3082628"/>
            <a:ext cx="630900" cy="377100"/>
          </a:xfrm>
          <a:prstGeom prst="roundRect">
            <a:avLst>
              <a:gd fmla="val 16364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41"/>
          <p:cNvSpPr/>
          <p:nvPr/>
        </p:nvSpPr>
        <p:spPr>
          <a:xfrm>
            <a:off x="3068759" y="3094690"/>
            <a:ext cx="63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1"/>
          <p:cNvSpPr/>
          <p:nvPr/>
        </p:nvSpPr>
        <p:spPr>
          <a:xfrm>
            <a:off x="623100" y="4224325"/>
            <a:ext cx="32577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Each agent runs, then loops back to the coordinator to pick the next valid step.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1"/>
          <p:cNvSpPr/>
          <p:nvPr/>
        </p:nvSpPr>
        <p:spPr>
          <a:xfrm>
            <a:off x="4354825" y="1543050"/>
            <a:ext cx="4668300" cy="10005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3725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96057" rotWithShape="0" algn="bl" dir="5400000" dist="27445">
              <a:srgbClr val="AEBED0">
                <a:alpha val="27843"/>
              </a:srgbClr>
            </a:outerShdw>
          </a:effectLst>
        </p:spPr>
        <p:txBody>
          <a:bodyPr anchorCtr="0" anchor="ctr" bIns="74100" lIns="74100" spcFirstLastPara="1" rIns="74100" wrap="square" tIns="7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Font typeface="Arial"/>
              <a:buNone/>
            </a:pPr>
            <a:r>
              <a:t/>
            </a:r>
            <a:endParaRPr b="0" i="0" sz="15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41"/>
          <p:cNvSpPr/>
          <p:nvPr/>
        </p:nvSpPr>
        <p:spPr>
          <a:xfrm>
            <a:off x="4622292" y="1724787"/>
            <a:ext cx="562356" cy="562356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31" name="Google Shape;103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881" y="1865376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41"/>
          <p:cNvSpPr/>
          <p:nvPr/>
        </p:nvSpPr>
        <p:spPr>
          <a:xfrm>
            <a:off x="5314950" y="1652778"/>
            <a:ext cx="32232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LLM planner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1"/>
          <p:cNvSpPr/>
          <p:nvPr/>
        </p:nvSpPr>
        <p:spPr>
          <a:xfrm>
            <a:off x="5314950" y="1920240"/>
            <a:ext cx="325755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When more than one step is valid, a Groq model picks which agent runs next through constrained tool-calling.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1"/>
          <p:cNvSpPr/>
          <p:nvPr/>
        </p:nvSpPr>
        <p:spPr>
          <a:xfrm>
            <a:off x="4354825" y="2676794"/>
            <a:ext cx="4668300" cy="10005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3725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96057" rotWithShape="0" algn="bl" dir="5400000" dist="27445">
              <a:srgbClr val="AEBED0">
                <a:alpha val="27843"/>
              </a:srgbClr>
            </a:outerShdw>
          </a:effectLst>
        </p:spPr>
        <p:txBody>
          <a:bodyPr anchorCtr="0" anchor="ctr" bIns="74100" lIns="74100" spcFirstLastPara="1" rIns="74100" wrap="square" tIns="7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Font typeface="Arial"/>
              <a:buNone/>
            </a:pPr>
            <a:r>
              <a:t/>
            </a:r>
            <a:endParaRPr b="0" i="0" sz="15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41"/>
          <p:cNvSpPr/>
          <p:nvPr/>
        </p:nvSpPr>
        <p:spPr>
          <a:xfrm>
            <a:off x="4622292" y="2774061"/>
            <a:ext cx="562356" cy="562356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36" name="Google Shape;103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881" y="2914650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41"/>
          <p:cNvSpPr/>
          <p:nvPr/>
        </p:nvSpPr>
        <p:spPr>
          <a:xfrm>
            <a:off x="5314950" y="2702052"/>
            <a:ext cx="32232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Deterministic fallback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1"/>
          <p:cNvSpPr/>
          <p:nvPr/>
        </p:nvSpPr>
        <p:spPr>
          <a:xfrm>
            <a:off x="5314950" y="2969514"/>
            <a:ext cx="325755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If Groq is unavailable, a fixed, dependency-aware order takes over so a claim never stalls.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1"/>
          <p:cNvSpPr/>
          <p:nvPr/>
        </p:nvSpPr>
        <p:spPr>
          <a:xfrm>
            <a:off x="4354825" y="3810538"/>
            <a:ext cx="4668300" cy="10005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13725">
            <a:solidFill>
              <a:srgbClr val="D7E0EC"/>
            </a:solidFill>
            <a:prstDash val="solid"/>
            <a:round/>
            <a:headEnd len="sm" w="sm" type="none"/>
            <a:tailEnd len="sm" w="sm" type="none"/>
          </a:ln>
          <a:effectLst>
            <a:outerShdw blurRad="96057" rotWithShape="0" algn="bl" dir="5400000" dist="27445">
              <a:srgbClr val="AEBED0">
                <a:alpha val="27843"/>
              </a:srgbClr>
            </a:outerShdw>
          </a:effectLst>
        </p:spPr>
        <p:txBody>
          <a:bodyPr anchorCtr="0" anchor="ctr" bIns="74100" lIns="74100" spcFirstLastPara="1" rIns="74100" wrap="square" tIns="7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3"/>
              <a:buFont typeface="Arial"/>
              <a:buNone/>
            </a:pPr>
            <a:r>
              <a:t/>
            </a:r>
            <a:endParaRPr b="0" i="0" sz="15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41"/>
          <p:cNvSpPr/>
          <p:nvPr/>
        </p:nvSpPr>
        <p:spPr>
          <a:xfrm>
            <a:off x="4622292" y="3823335"/>
            <a:ext cx="562356" cy="562356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1" name="Google Shape;104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881" y="3963924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41"/>
          <p:cNvSpPr/>
          <p:nvPr/>
        </p:nvSpPr>
        <p:spPr>
          <a:xfrm>
            <a:off x="5314950" y="3751326"/>
            <a:ext cx="32232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Full observability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1"/>
          <p:cNvSpPr/>
          <p:nvPr/>
        </p:nvSpPr>
        <p:spPr>
          <a:xfrm>
            <a:off x="5314950" y="4018788"/>
            <a:ext cx="325755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C6B80"/>
                </a:solidFill>
                <a:latin typeface="Calibri"/>
                <a:ea typeface="Calibri"/>
                <a:cs typeface="Calibri"/>
                <a:sym typeface="Calibri"/>
              </a:rPr>
              <a:t>Langfuse traces every claim as one nested trace: all five agents plus the planning decisions.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41"/>
          <p:cNvCxnSpPr>
            <a:stCxn id="1023" idx="1"/>
            <a:endCxn id="1014" idx="6"/>
          </p:cNvCxnSpPr>
          <p:nvPr/>
        </p:nvCxnSpPr>
        <p:spPr>
          <a:xfrm rot="10800000">
            <a:off x="1776057" y="2438015"/>
            <a:ext cx="1243200" cy="420900"/>
          </a:xfrm>
          <a:prstGeom prst="straightConnector1">
            <a:avLst/>
          </a:prstGeom>
          <a:noFill/>
          <a:ln cap="flat" cmpd="sng" w="15875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41"/>
          <p:cNvCxnSpPr>
            <a:stCxn id="1026" idx="1"/>
            <a:endCxn id="1014" idx="6"/>
          </p:cNvCxnSpPr>
          <p:nvPr/>
        </p:nvCxnSpPr>
        <p:spPr>
          <a:xfrm rot="10800000">
            <a:off x="1776034" y="2438078"/>
            <a:ext cx="1243200" cy="833100"/>
          </a:xfrm>
          <a:prstGeom prst="straightConnector1">
            <a:avLst/>
          </a:prstGeom>
          <a:noFill/>
          <a:ln cap="flat" cmpd="sng" w="15875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41"/>
          <p:cNvCxnSpPr>
            <a:endCxn id="1014" idx="6"/>
          </p:cNvCxnSpPr>
          <p:nvPr/>
        </p:nvCxnSpPr>
        <p:spPr>
          <a:xfrm flipH="1">
            <a:off x="1775995" y="2429013"/>
            <a:ext cx="1243200" cy="9000"/>
          </a:xfrm>
          <a:prstGeom prst="straightConnector1">
            <a:avLst/>
          </a:prstGeom>
          <a:noFill/>
          <a:ln cap="flat" cmpd="sng" w="15875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41"/>
          <p:cNvCxnSpPr/>
          <p:nvPr/>
        </p:nvCxnSpPr>
        <p:spPr>
          <a:xfrm rot="10800000">
            <a:off x="1822520" y="2450912"/>
            <a:ext cx="1199700" cy="1249800"/>
          </a:xfrm>
          <a:prstGeom prst="straightConnector1">
            <a:avLst/>
          </a:prstGeom>
          <a:noFill/>
          <a:ln cap="flat" cmpd="sng" w="15875">
            <a:solidFill>
              <a:srgbClr val="3D56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8" name="Google Shape;1048;p41"/>
          <p:cNvSpPr/>
          <p:nvPr/>
        </p:nvSpPr>
        <p:spPr>
          <a:xfrm>
            <a:off x="740549" y="3187238"/>
            <a:ext cx="1306500" cy="240000"/>
          </a:xfrm>
          <a:prstGeom prst="rect">
            <a:avLst/>
          </a:prstGeom>
          <a:noFill/>
          <a:ln cap="flat" cmpd="sng" w="952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Need Human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1"/>
          <p:cNvSpPr/>
          <p:nvPr/>
        </p:nvSpPr>
        <p:spPr>
          <a:xfrm>
            <a:off x="551800" y="3713575"/>
            <a:ext cx="984300" cy="420900"/>
          </a:xfrm>
          <a:prstGeom prst="rect">
            <a:avLst/>
          </a:prstGeom>
          <a:noFill/>
          <a:ln cap="flat" cmpd="sng" w="9525">
            <a:solidFill>
              <a:srgbClr val="C882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Flag_review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fraud OR conf. &lt; 0.6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41"/>
          <p:cNvSpPr/>
          <p:nvPr/>
        </p:nvSpPr>
        <p:spPr>
          <a:xfrm>
            <a:off x="1730312" y="3713575"/>
            <a:ext cx="925800" cy="420900"/>
          </a:xfrm>
          <a:prstGeom prst="rect">
            <a:avLst/>
          </a:prstGeom>
          <a:noFill/>
          <a:ln cap="flat" cmpd="sng" w="9525">
            <a:solidFill>
              <a:srgbClr val="C882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Finalized the claim</a:t>
            </a:r>
            <a:endParaRPr b="1" sz="800">
              <a:solidFill>
                <a:srgbClr val="1323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otherwise</a:t>
            </a:r>
            <a:endParaRPr b="1" sz="800">
              <a:solidFill>
                <a:srgbClr val="1323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1" name="Google Shape;1051;p41"/>
          <p:cNvCxnSpPr>
            <a:stCxn id="1014" idx="4"/>
            <a:endCxn id="1048" idx="0"/>
          </p:cNvCxnSpPr>
          <p:nvPr/>
        </p:nvCxnSpPr>
        <p:spPr>
          <a:xfrm>
            <a:off x="1313095" y="2900913"/>
            <a:ext cx="807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41"/>
          <p:cNvCxnSpPr>
            <a:stCxn id="1048" idx="2"/>
            <a:endCxn id="1049" idx="0"/>
          </p:cNvCxnSpPr>
          <p:nvPr/>
        </p:nvCxnSpPr>
        <p:spPr>
          <a:xfrm flipH="1">
            <a:off x="1043999" y="3427238"/>
            <a:ext cx="3498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41"/>
          <p:cNvCxnSpPr>
            <a:stCxn id="1048" idx="2"/>
          </p:cNvCxnSpPr>
          <p:nvPr/>
        </p:nvCxnSpPr>
        <p:spPr>
          <a:xfrm>
            <a:off x="1393799" y="3427238"/>
            <a:ext cx="555000" cy="28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2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1" lang="en" sz="900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 DEPLOYMENT &amp;</a:t>
            </a:r>
            <a:r>
              <a:rPr b="1" i="0" lang="en" sz="8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900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2"/>
          <p:cNvSpPr/>
          <p:nvPr/>
        </p:nvSpPr>
        <p:spPr>
          <a:xfrm>
            <a:off x="411480" y="534924"/>
            <a:ext cx="80924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900"/>
              <a:buFont typeface="Cambria"/>
              <a:buNone/>
            </a:pPr>
            <a:r>
              <a:rPr b="1" lang="en" sz="2400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 Paths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2"/>
          <p:cNvSpPr/>
          <p:nvPr/>
        </p:nvSpPr>
        <p:spPr>
          <a:xfrm>
            <a:off x="411480" y="905256"/>
            <a:ext cx="80924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2"/>
          <p:cNvSpPr/>
          <p:nvPr/>
        </p:nvSpPr>
        <p:spPr>
          <a:xfrm>
            <a:off x="411480" y="1268730"/>
            <a:ext cx="2640330" cy="133731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2"/>
          <p:cNvSpPr/>
          <p:nvPr/>
        </p:nvSpPr>
        <p:spPr>
          <a:xfrm>
            <a:off x="576072" y="1419606"/>
            <a:ext cx="342900" cy="342900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ocker_2F6FED.png" id="1064" name="Google Shape;106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224" y="1496759"/>
            <a:ext cx="188595" cy="188595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42"/>
          <p:cNvSpPr/>
          <p:nvPr/>
        </p:nvSpPr>
        <p:spPr>
          <a:xfrm>
            <a:off x="1028700" y="1378458"/>
            <a:ext cx="18859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2"/>
          <p:cNvSpPr/>
          <p:nvPr/>
        </p:nvSpPr>
        <p:spPr>
          <a:xfrm>
            <a:off x="576072" y="1851660"/>
            <a:ext cx="23111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Local development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2"/>
          <p:cNvSpPr/>
          <p:nvPr/>
        </p:nvSpPr>
        <p:spPr>
          <a:xfrm>
            <a:off x="576072" y="2249424"/>
            <a:ext cx="2311146" cy="260604"/>
          </a:xfrm>
          <a:prstGeom prst="roundRect">
            <a:avLst>
              <a:gd fmla="val 13158" name="adj"/>
            </a:avLst>
          </a:prstGeom>
          <a:solidFill>
            <a:srgbClr val="1A1F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42"/>
          <p:cNvSpPr/>
          <p:nvPr/>
        </p:nvSpPr>
        <p:spPr>
          <a:xfrm>
            <a:off x="644652" y="2249424"/>
            <a:ext cx="217398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E39B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9BE39B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--build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2"/>
          <p:cNvSpPr/>
          <p:nvPr/>
        </p:nvSpPr>
        <p:spPr>
          <a:xfrm>
            <a:off x="3243834" y="1268730"/>
            <a:ext cx="2640330" cy="133731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2"/>
          <p:cNvSpPr/>
          <p:nvPr/>
        </p:nvSpPr>
        <p:spPr>
          <a:xfrm>
            <a:off x="3408426" y="1419606"/>
            <a:ext cx="342900" cy="342900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ocker_6C4FD1.png" id="1071" name="Google Shape;107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5578" y="1496759"/>
            <a:ext cx="188595" cy="1885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42"/>
          <p:cNvSpPr/>
          <p:nvPr/>
        </p:nvSpPr>
        <p:spPr>
          <a:xfrm>
            <a:off x="3861054" y="1378458"/>
            <a:ext cx="18859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Single production container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2"/>
          <p:cNvSpPr/>
          <p:nvPr/>
        </p:nvSpPr>
        <p:spPr>
          <a:xfrm>
            <a:off x="3408426" y="1851660"/>
            <a:ext cx="23111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Multi-stage build — Vue static assets served by FastAPI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2"/>
          <p:cNvSpPr/>
          <p:nvPr/>
        </p:nvSpPr>
        <p:spPr>
          <a:xfrm>
            <a:off x="3408426" y="2249424"/>
            <a:ext cx="2311146" cy="260604"/>
          </a:xfrm>
          <a:prstGeom prst="roundRect">
            <a:avLst>
              <a:gd fmla="val 13158" name="adj"/>
            </a:avLst>
          </a:prstGeom>
          <a:solidFill>
            <a:srgbClr val="1A1F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2"/>
          <p:cNvSpPr/>
          <p:nvPr/>
        </p:nvSpPr>
        <p:spPr>
          <a:xfrm>
            <a:off x="3477006" y="2249424"/>
            <a:ext cx="217398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E39B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9BE39B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-p 8000:8000 claims-portal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2"/>
          <p:cNvSpPr/>
          <p:nvPr/>
        </p:nvSpPr>
        <p:spPr>
          <a:xfrm>
            <a:off x="6076188" y="1268730"/>
            <a:ext cx="2640330" cy="133731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2"/>
          <p:cNvSpPr/>
          <p:nvPr/>
        </p:nvSpPr>
        <p:spPr>
          <a:xfrm>
            <a:off x="6240780" y="1419606"/>
            <a:ext cx="342900" cy="342900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harmachakra_F2994A.png" id="1078" name="Google Shape;107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7933" y="1496759"/>
            <a:ext cx="188595" cy="1885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42"/>
          <p:cNvSpPr/>
          <p:nvPr/>
        </p:nvSpPr>
        <p:spPr>
          <a:xfrm>
            <a:off x="6693408" y="1378458"/>
            <a:ext cx="18859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Kubernetes (GKE)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2"/>
          <p:cNvSpPr/>
          <p:nvPr/>
        </p:nvSpPr>
        <p:spPr>
          <a:xfrm>
            <a:off x="6240780" y="1851660"/>
            <a:ext cx="23111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Manifests in k8s/ — namespace, PVC, deployment, service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42"/>
          <p:cNvSpPr/>
          <p:nvPr/>
        </p:nvSpPr>
        <p:spPr>
          <a:xfrm>
            <a:off x="6240780" y="2249424"/>
            <a:ext cx="2311146" cy="260604"/>
          </a:xfrm>
          <a:prstGeom prst="roundRect">
            <a:avLst>
              <a:gd fmla="val 13158" name="adj"/>
            </a:avLst>
          </a:prstGeom>
          <a:solidFill>
            <a:srgbClr val="1A1F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2"/>
          <p:cNvSpPr/>
          <p:nvPr/>
        </p:nvSpPr>
        <p:spPr>
          <a:xfrm>
            <a:off x="6309360" y="2249424"/>
            <a:ext cx="2173986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E39B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9BE39B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-k k8s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2"/>
          <p:cNvSpPr/>
          <p:nvPr/>
        </p:nvSpPr>
        <p:spPr>
          <a:xfrm>
            <a:off x="411480" y="2798064"/>
            <a:ext cx="78867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CI/CD PIPELINE (BUILT &amp; FUNCTIONAL — NEEDS A REAL GCP PROJECT TO RUN)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2"/>
          <p:cNvSpPr/>
          <p:nvPr/>
        </p:nvSpPr>
        <p:spPr>
          <a:xfrm>
            <a:off x="411480" y="3031236"/>
            <a:ext cx="1280160" cy="397764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42"/>
          <p:cNvSpPr/>
          <p:nvPr/>
        </p:nvSpPr>
        <p:spPr>
          <a:xfrm>
            <a:off x="452628" y="3031236"/>
            <a:ext cx="119786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Build image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2"/>
          <p:cNvSpPr/>
          <p:nvPr/>
        </p:nvSpPr>
        <p:spPr>
          <a:xfrm>
            <a:off x="1698498" y="3182112"/>
            <a:ext cx="96012" cy="960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42"/>
          <p:cNvSpPr/>
          <p:nvPr/>
        </p:nvSpPr>
        <p:spPr>
          <a:xfrm>
            <a:off x="1815084" y="3031236"/>
            <a:ext cx="1280160" cy="397764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42"/>
          <p:cNvSpPr/>
          <p:nvPr/>
        </p:nvSpPr>
        <p:spPr>
          <a:xfrm>
            <a:off x="1856232" y="3031236"/>
            <a:ext cx="119786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Trivy scan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2"/>
          <p:cNvSpPr/>
          <p:nvPr/>
        </p:nvSpPr>
        <p:spPr>
          <a:xfrm>
            <a:off x="3102102" y="3182112"/>
            <a:ext cx="96012" cy="960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42"/>
          <p:cNvSpPr/>
          <p:nvPr/>
        </p:nvSpPr>
        <p:spPr>
          <a:xfrm>
            <a:off x="3218688" y="3031236"/>
            <a:ext cx="1280160" cy="397764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42"/>
          <p:cNvSpPr/>
          <p:nvPr/>
        </p:nvSpPr>
        <p:spPr>
          <a:xfrm>
            <a:off x="3259836" y="3031236"/>
            <a:ext cx="119786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Push to Artifact Registry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2"/>
          <p:cNvSpPr/>
          <p:nvPr/>
        </p:nvSpPr>
        <p:spPr>
          <a:xfrm>
            <a:off x="4505706" y="3182112"/>
            <a:ext cx="96012" cy="960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42"/>
          <p:cNvSpPr/>
          <p:nvPr/>
        </p:nvSpPr>
        <p:spPr>
          <a:xfrm>
            <a:off x="4622292" y="3031236"/>
            <a:ext cx="1280160" cy="397764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2"/>
          <p:cNvSpPr/>
          <p:nvPr/>
        </p:nvSpPr>
        <p:spPr>
          <a:xfrm>
            <a:off x="4663440" y="3031236"/>
            <a:ext cx="119786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kubectl deploy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42"/>
          <p:cNvSpPr/>
          <p:nvPr/>
        </p:nvSpPr>
        <p:spPr>
          <a:xfrm>
            <a:off x="5909310" y="3182112"/>
            <a:ext cx="96012" cy="960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2"/>
          <p:cNvSpPr/>
          <p:nvPr/>
        </p:nvSpPr>
        <p:spPr>
          <a:xfrm>
            <a:off x="6025896" y="3031236"/>
            <a:ext cx="1280160" cy="397764"/>
          </a:xfrm>
          <a:prstGeom prst="roundRect">
            <a:avLst>
              <a:gd fmla="val 15517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2"/>
          <p:cNvSpPr/>
          <p:nvPr/>
        </p:nvSpPr>
        <p:spPr>
          <a:xfrm>
            <a:off x="6067044" y="3031236"/>
            <a:ext cx="119786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Smoke test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2"/>
          <p:cNvSpPr/>
          <p:nvPr/>
        </p:nvSpPr>
        <p:spPr>
          <a:xfrm>
            <a:off x="7312914" y="3182112"/>
            <a:ext cx="96012" cy="960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7FB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42"/>
          <p:cNvSpPr/>
          <p:nvPr/>
        </p:nvSpPr>
        <p:spPr>
          <a:xfrm>
            <a:off x="7429500" y="3031236"/>
            <a:ext cx="1280160" cy="397764"/>
          </a:xfrm>
          <a:prstGeom prst="roundRect">
            <a:avLst>
              <a:gd fmla="val 15517" name="adj"/>
            </a:avLst>
          </a:prstGeom>
          <a:solidFill>
            <a:srgbClr val="FDEEE0"/>
          </a:solidFill>
          <a:ln cap="flat" cmpd="sng" w="12700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42"/>
          <p:cNvSpPr/>
          <p:nvPr/>
        </p:nvSpPr>
        <p:spPr>
          <a:xfrm>
            <a:off x="7470648" y="3031236"/>
            <a:ext cx="119786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A4B12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8A4B12"/>
                </a:solidFill>
                <a:latin typeface="Calibri"/>
                <a:ea typeface="Calibri"/>
                <a:cs typeface="Calibri"/>
                <a:sym typeface="Calibri"/>
              </a:rPr>
              <a:t>Auto-rollback on failure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2"/>
          <p:cNvSpPr/>
          <p:nvPr/>
        </p:nvSpPr>
        <p:spPr>
          <a:xfrm>
            <a:off x="411480" y="3593592"/>
            <a:ext cx="4046220" cy="925830"/>
          </a:xfrm>
          <a:prstGeom prst="roundRect">
            <a:avLst>
              <a:gd fmla="val 6667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2"/>
          <p:cNvSpPr/>
          <p:nvPr/>
        </p:nvSpPr>
        <p:spPr>
          <a:xfrm>
            <a:off x="576072" y="3717036"/>
            <a:ext cx="301752" cy="301752"/>
          </a:xfrm>
          <a:prstGeom prst="ellipse">
            <a:avLst/>
          </a:prstGeom>
          <a:solidFill>
            <a:srgbClr val="1B2A5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eye_9BB0E8.png" id="1103" name="Google Shape;110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966" y="3784931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42"/>
          <p:cNvSpPr/>
          <p:nvPr/>
        </p:nvSpPr>
        <p:spPr>
          <a:xfrm>
            <a:off x="994410" y="368960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Langfuse observability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42"/>
          <p:cNvSpPr/>
          <p:nvPr/>
        </p:nvSpPr>
        <p:spPr>
          <a:xfrm>
            <a:off x="576072" y="3970782"/>
            <a:ext cx="37033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C7D2E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C7D2E8"/>
                </a:solidFill>
                <a:latin typeface="Calibri"/>
                <a:ea typeface="Calibri"/>
                <a:cs typeface="Calibri"/>
                <a:sym typeface="Calibri"/>
              </a:rPr>
              <a:t>Live per-claim tracing — one nested trace covering all 5 agents plus coordinator planning decisions. Silently disabled if keys are absent (graceful degradation, not failure).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2"/>
          <p:cNvSpPr/>
          <p:nvPr/>
        </p:nvSpPr>
        <p:spPr>
          <a:xfrm>
            <a:off x="4663440" y="3593592"/>
            <a:ext cx="4046220" cy="925830"/>
          </a:xfrm>
          <a:prstGeom prst="roundRect">
            <a:avLst>
              <a:gd fmla="val 6667" name="adj"/>
            </a:avLst>
          </a:prstGeom>
          <a:solidFill>
            <a:srgbClr val="FDEEE0"/>
          </a:solidFill>
          <a:ln cap="flat" cmpd="sng" w="12700">
            <a:solidFill>
              <a:srgbClr val="F299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2"/>
          <p:cNvSpPr/>
          <p:nvPr/>
        </p:nvSpPr>
        <p:spPr>
          <a:xfrm>
            <a:off x="4828032" y="3682746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4B12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A4B12"/>
                </a:solidFill>
                <a:latin typeface="Calibri"/>
                <a:ea typeface="Calibri"/>
                <a:cs typeface="Calibri"/>
                <a:sym typeface="Calibri"/>
              </a:rPr>
              <a:t>Single-replica constraint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2"/>
          <p:cNvSpPr/>
          <p:nvPr/>
        </p:nvSpPr>
        <p:spPr>
          <a:xfrm>
            <a:off x="4828032" y="3936492"/>
            <a:ext cx="3703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6B4A2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B4A2A"/>
                </a:solidFill>
                <a:latin typeface="Calibri"/>
                <a:ea typeface="Calibri"/>
                <a:cs typeface="Calibri"/>
                <a:sym typeface="Calibri"/>
              </a:rPr>
              <a:t>SQLite + local-disk ChromaDB cap the deployment at replicas: 1 — scaling out needs a Postgres migration and a shared/hosted vector store first.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2"/>
          <p:cNvSpPr/>
          <p:nvPr/>
        </p:nvSpPr>
        <p:spPr>
          <a:xfrm>
            <a:off x="41148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2"/>
          <p:cNvSpPr/>
          <p:nvPr/>
        </p:nvSpPr>
        <p:spPr>
          <a:xfrm>
            <a:off x="866371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3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1" lang="en" sz="900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LIMITATIONS, FUTURE WORK &amp; CONCLUSION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411480" y="534924"/>
            <a:ext cx="80924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900"/>
              <a:buFont typeface="Cambria"/>
              <a:buNone/>
            </a:pPr>
            <a:r>
              <a:rPr b="1" lang="en" sz="2400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Known limitations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3"/>
          <p:cNvSpPr/>
          <p:nvPr/>
        </p:nvSpPr>
        <p:spPr>
          <a:xfrm>
            <a:off x="411480" y="1268730"/>
            <a:ext cx="4080510" cy="1014984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43"/>
          <p:cNvSpPr/>
          <p:nvPr/>
        </p:nvSpPr>
        <p:spPr>
          <a:xfrm>
            <a:off x="548640" y="1392174"/>
            <a:ext cx="301752" cy="301752"/>
          </a:xfrm>
          <a:prstGeom prst="ellipse">
            <a:avLst/>
          </a:prstGeom>
          <a:solidFill>
            <a:srgbClr val="FBEA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exclamation-triangle_E85D5D.png" id="1120" name="Google Shape;112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534" y="1460069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43"/>
          <p:cNvSpPr/>
          <p:nvPr/>
        </p:nvSpPr>
        <p:spPr>
          <a:xfrm>
            <a:off x="946404" y="1364742"/>
            <a:ext cx="3394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Validation, not test-split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43"/>
          <p:cNvSpPr/>
          <p:nvPr/>
        </p:nvSpPr>
        <p:spPr>
          <a:xfrm>
            <a:off x="946404" y="1680210"/>
            <a:ext cx="33947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All §7 headline numbers are validation-split. A held-out test-split evaluation, confusion matrix, and image-quality robustness check were prepared but not executed.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3"/>
          <p:cNvSpPr/>
          <p:nvPr/>
        </p:nvSpPr>
        <p:spPr>
          <a:xfrm>
            <a:off x="4629150" y="1268730"/>
            <a:ext cx="4080510" cy="1014984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43"/>
          <p:cNvSpPr/>
          <p:nvPr/>
        </p:nvSpPr>
        <p:spPr>
          <a:xfrm>
            <a:off x="4766310" y="1392174"/>
            <a:ext cx="301752" cy="301752"/>
          </a:xfrm>
          <a:prstGeom prst="ellipse">
            <a:avLst/>
          </a:prstGeom>
          <a:solidFill>
            <a:srgbClr val="FBEA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crosshairs_E85D5D.png" id="1125" name="Google Shape;112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4205" y="1460069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43"/>
          <p:cNvSpPr/>
          <p:nvPr/>
        </p:nvSpPr>
        <p:spPr>
          <a:xfrm>
            <a:off x="5164074" y="1364742"/>
            <a:ext cx="3394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Weak on the most common damage types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5164074" y="1680210"/>
            <a:ext cx="33947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dent/scratch/crack score 0.28–0.32 mask mAP50 — the three most claim-relevant classes — despite a 0.449 aggregate.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3"/>
          <p:cNvSpPr/>
          <p:nvPr/>
        </p:nvSpPr>
        <p:spPr>
          <a:xfrm>
            <a:off x="411480" y="2379726"/>
            <a:ext cx="4080510" cy="1014984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3"/>
          <p:cNvSpPr/>
          <p:nvPr/>
        </p:nvSpPr>
        <p:spPr>
          <a:xfrm>
            <a:off x="548640" y="2503170"/>
            <a:ext cx="301752" cy="301752"/>
          </a:xfrm>
          <a:prstGeom prst="ellipse">
            <a:avLst/>
          </a:prstGeom>
          <a:solidFill>
            <a:srgbClr val="FBEA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atabase_E85D5D.png" id="1130" name="Google Shape;113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534" y="2571064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43"/>
          <p:cNvSpPr/>
          <p:nvPr/>
        </p:nvSpPr>
        <p:spPr>
          <a:xfrm>
            <a:off x="946404" y="2475738"/>
            <a:ext cx="3394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RAG evaluated on synthetic policies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43"/>
          <p:cNvSpPr/>
          <p:nvPr/>
        </p:nvSpPr>
        <p:spPr>
          <a:xfrm>
            <a:off x="946404" y="2791206"/>
            <a:ext cx="33947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Real IRDAI policies mention only 2–4 of 6 damage classes and 96–98% of chunks carry no damage-class tag — thinner retrieval signal than the headline figures imply.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3"/>
          <p:cNvSpPr/>
          <p:nvPr/>
        </p:nvSpPr>
        <p:spPr>
          <a:xfrm>
            <a:off x="4629150" y="2379726"/>
            <a:ext cx="4080510" cy="1014984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43"/>
          <p:cNvSpPr/>
          <p:nvPr/>
        </p:nvSpPr>
        <p:spPr>
          <a:xfrm>
            <a:off x="4766310" y="2503170"/>
            <a:ext cx="301752" cy="301752"/>
          </a:xfrm>
          <a:prstGeom prst="ellipse">
            <a:avLst/>
          </a:prstGeom>
          <a:solidFill>
            <a:srgbClr val="FBEA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shield-alt_E85D5D.png" id="1135" name="Google Shape;1135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4205" y="2571064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43"/>
          <p:cNvSpPr/>
          <p:nvPr/>
        </p:nvSpPr>
        <p:spPr>
          <a:xfrm>
            <a:off x="5164074" y="2475738"/>
            <a:ext cx="3394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Fraud model is unvalidated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3"/>
          <p:cNvSpPr/>
          <p:nvPr/>
        </p:nvSpPr>
        <p:spPr>
          <a:xfrm>
            <a:off x="5164074" y="2791206"/>
            <a:ext cx="33947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A hand-tuned rule engine, not a trained classifier, not validated against real fraud outcomes.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3"/>
          <p:cNvSpPr/>
          <p:nvPr/>
        </p:nvSpPr>
        <p:spPr>
          <a:xfrm>
            <a:off x="411480" y="3490722"/>
            <a:ext cx="4080510" cy="1014984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43"/>
          <p:cNvSpPr/>
          <p:nvPr/>
        </p:nvSpPr>
        <p:spPr>
          <a:xfrm>
            <a:off x="548640" y="3614166"/>
            <a:ext cx="301752" cy="301752"/>
          </a:xfrm>
          <a:prstGeom prst="ellipse">
            <a:avLst/>
          </a:prstGeom>
          <a:solidFill>
            <a:srgbClr val="FBEA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scroll_E85D5D.png" id="1140" name="Google Shape;1140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534" y="3682060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43"/>
          <p:cNvSpPr/>
          <p:nvPr/>
        </p:nvSpPr>
        <p:spPr>
          <a:xfrm>
            <a:off x="946404" y="3586734"/>
            <a:ext cx="3394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AGPL-3.0 licensing obligation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3"/>
          <p:cNvSpPr/>
          <p:nvPr/>
        </p:nvSpPr>
        <p:spPr>
          <a:xfrm>
            <a:off x="946404" y="3902202"/>
            <a:ext cx="33947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Ultralytics YOLO's AGPL-3.0 license carries real obligations for any commercial deployment of this system.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3"/>
          <p:cNvSpPr/>
          <p:nvPr/>
        </p:nvSpPr>
        <p:spPr>
          <a:xfrm>
            <a:off x="4629150" y="3490722"/>
            <a:ext cx="4080510" cy="1014984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43"/>
          <p:cNvSpPr/>
          <p:nvPr/>
        </p:nvSpPr>
        <p:spPr>
          <a:xfrm>
            <a:off x="4766310" y="3614166"/>
            <a:ext cx="301752" cy="301752"/>
          </a:xfrm>
          <a:prstGeom prst="ellipse">
            <a:avLst/>
          </a:prstGeom>
          <a:solidFill>
            <a:srgbClr val="FBEA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road_E85D5D.png" id="1145" name="Google Shape;1145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4205" y="3682060"/>
            <a:ext cx="165964" cy="165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43"/>
          <p:cNvSpPr/>
          <p:nvPr/>
        </p:nvSpPr>
        <p:spPr>
          <a:xfrm>
            <a:off x="5164074" y="3586734"/>
            <a:ext cx="33947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Never tested on real-world inputs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3"/>
          <p:cNvSpPr/>
          <p:nvPr/>
        </p:nvSpPr>
        <p:spPr>
          <a:xfrm>
            <a:off x="5164074" y="3902202"/>
            <a:ext cx="33947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This system has never been evaluated against real (non-synthetic) policy documents or real claimant-submitted photos.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3"/>
          <p:cNvSpPr/>
          <p:nvPr/>
        </p:nvSpPr>
        <p:spPr>
          <a:xfrm>
            <a:off x="41148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3"/>
          <p:cNvSpPr/>
          <p:nvPr/>
        </p:nvSpPr>
        <p:spPr>
          <a:xfrm>
            <a:off x="866371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4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1" lang="en" sz="900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 RAG FOR POLICY 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4"/>
          <p:cNvSpPr/>
          <p:nvPr/>
        </p:nvSpPr>
        <p:spPr>
          <a:xfrm>
            <a:off x="411480" y="534924"/>
            <a:ext cx="80924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1A1F2E"/>
                </a:solidFill>
                <a:latin typeface="Cambria"/>
                <a:ea typeface="Cambria"/>
                <a:cs typeface="Cambria"/>
                <a:sym typeface="Cambria"/>
              </a:rPr>
              <a:t>Retrieval is strong; generation faithfulness is weaker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44"/>
          <p:cNvSpPr/>
          <p:nvPr/>
        </p:nvSpPr>
        <p:spPr>
          <a:xfrm>
            <a:off x="411480" y="905256"/>
            <a:ext cx="80924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50 synthetic incidents · 185-chunk / 5-policy corpus — deterministic checks vs. an independent LLM judge.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4"/>
          <p:cNvSpPr/>
          <p:nvPr/>
        </p:nvSpPr>
        <p:spPr>
          <a:xfrm>
            <a:off x="411480" y="1268730"/>
            <a:ext cx="1988820" cy="1062990"/>
          </a:xfrm>
          <a:prstGeom prst="roundRect">
            <a:avLst>
              <a:gd fmla="val 5806" name="adj"/>
            </a:avLst>
          </a:prstGeom>
          <a:solidFill>
            <a:srgbClr val="E8F7EF"/>
          </a:solidFill>
          <a:ln cap="flat" cmpd="sng" w="12700">
            <a:solidFill>
              <a:srgbClr val="34A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4"/>
          <p:cNvSpPr/>
          <p:nvPr/>
        </p:nvSpPr>
        <p:spPr>
          <a:xfrm>
            <a:off x="534924" y="1351026"/>
            <a:ext cx="174193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70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34A870"/>
                </a:solidFill>
                <a:latin typeface="Cambria"/>
                <a:ea typeface="Cambria"/>
                <a:cs typeface="Cambria"/>
                <a:sym typeface="Cambria"/>
              </a:rPr>
              <a:t>0.9133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44"/>
          <p:cNvSpPr/>
          <p:nvPr/>
        </p:nvSpPr>
        <p:spPr>
          <a:xfrm>
            <a:off x="534924" y="1735074"/>
            <a:ext cx="17419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Mean Precision@3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4"/>
          <p:cNvSpPr/>
          <p:nvPr/>
        </p:nvSpPr>
        <p:spPr>
          <a:xfrm>
            <a:off x="534924" y="194081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5.59× lift over 0.1634 random baseline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44"/>
          <p:cNvSpPr/>
          <p:nvPr/>
        </p:nvSpPr>
        <p:spPr>
          <a:xfrm>
            <a:off x="2503170" y="1268730"/>
            <a:ext cx="1988820" cy="1062990"/>
          </a:xfrm>
          <a:prstGeom prst="roundRect">
            <a:avLst>
              <a:gd fmla="val 5806" name="adj"/>
            </a:avLst>
          </a:prstGeom>
          <a:solidFill>
            <a:srgbClr val="E8F7EF"/>
          </a:solidFill>
          <a:ln cap="flat" cmpd="sng" w="12700">
            <a:solidFill>
              <a:srgbClr val="34A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4"/>
          <p:cNvSpPr/>
          <p:nvPr/>
        </p:nvSpPr>
        <p:spPr>
          <a:xfrm>
            <a:off x="2626614" y="1351026"/>
            <a:ext cx="174193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70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34A870"/>
                </a:solidFill>
                <a:latin typeface="Cambria"/>
                <a:ea typeface="Cambria"/>
                <a:cs typeface="Cambria"/>
                <a:sym typeface="Cambria"/>
              </a:rPr>
              <a:t>0.9767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4"/>
          <p:cNvSpPr/>
          <p:nvPr/>
        </p:nvSpPr>
        <p:spPr>
          <a:xfrm>
            <a:off x="2626614" y="1735074"/>
            <a:ext cx="17419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MRR@5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44"/>
          <p:cNvSpPr/>
          <p:nvPr/>
        </p:nvSpPr>
        <p:spPr>
          <a:xfrm>
            <a:off x="2626614" y="194081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top relevant clause ranks near #1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44"/>
          <p:cNvSpPr/>
          <p:nvPr/>
        </p:nvSpPr>
        <p:spPr>
          <a:xfrm>
            <a:off x="4594860" y="1268730"/>
            <a:ext cx="1988820" cy="1062990"/>
          </a:xfrm>
          <a:prstGeom prst="roundRect">
            <a:avLst>
              <a:gd fmla="val 5806" name="adj"/>
            </a:avLst>
          </a:prstGeom>
          <a:solidFill>
            <a:srgbClr val="E8F7EF"/>
          </a:solidFill>
          <a:ln cap="flat" cmpd="sng" w="12700">
            <a:solidFill>
              <a:srgbClr val="34A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44"/>
          <p:cNvSpPr/>
          <p:nvPr/>
        </p:nvSpPr>
        <p:spPr>
          <a:xfrm>
            <a:off x="4718304" y="1351026"/>
            <a:ext cx="174193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70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34A870"/>
                </a:solidFill>
                <a:latin typeface="Cambria"/>
                <a:ea typeface="Cambria"/>
                <a:cs typeface="Cambria"/>
                <a:sym typeface="Cambria"/>
              </a:rPr>
              <a:t>0 / 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44"/>
          <p:cNvSpPr/>
          <p:nvPr/>
        </p:nvSpPr>
        <p:spPr>
          <a:xfrm>
            <a:off x="4718304" y="1735074"/>
            <a:ext cx="17419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Zero-hit incidents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4"/>
          <p:cNvSpPr/>
          <p:nvPr/>
        </p:nvSpPr>
        <p:spPr>
          <a:xfrm>
            <a:off x="4718304" y="194081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every incident retrieved something relevant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4"/>
          <p:cNvSpPr/>
          <p:nvPr/>
        </p:nvSpPr>
        <p:spPr>
          <a:xfrm>
            <a:off x="6686550" y="1268730"/>
            <a:ext cx="1988820" cy="1062990"/>
          </a:xfrm>
          <a:prstGeom prst="roundRect">
            <a:avLst>
              <a:gd fmla="val 5806" name="adj"/>
            </a:avLst>
          </a:prstGeom>
          <a:solidFill>
            <a:srgbClr val="E8F7EF"/>
          </a:solidFill>
          <a:ln cap="flat" cmpd="sng" w="12700">
            <a:solidFill>
              <a:srgbClr val="34A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44"/>
          <p:cNvSpPr/>
          <p:nvPr/>
        </p:nvSpPr>
        <p:spPr>
          <a:xfrm>
            <a:off x="6809994" y="1351026"/>
            <a:ext cx="1741932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70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34A870"/>
                </a:solidFill>
                <a:latin typeface="Cambria"/>
                <a:ea typeface="Cambria"/>
                <a:cs typeface="Cambria"/>
                <a:sym typeface="Cambria"/>
              </a:rPr>
              <a:t>1.00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4"/>
          <p:cNvSpPr/>
          <p:nvPr/>
        </p:nvSpPr>
        <p:spPr>
          <a:xfrm>
            <a:off x="6809994" y="1735074"/>
            <a:ext cx="17419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Faithfulness composite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4"/>
          <p:cNvSpPr/>
          <p:nvPr/>
        </p:nvSpPr>
        <p:spPr>
          <a:xfrm>
            <a:off x="6809994" y="194081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citation-ID bookkeeping, deterministic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4"/>
          <p:cNvSpPr/>
          <p:nvPr/>
        </p:nvSpPr>
        <p:spPr>
          <a:xfrm>
            <a:off x="411480" y="2468880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LLM-JUDGED (gemini-2.5-flash, independent of the generator)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4"/>
          <p:cNvSpPr/>
          <p:nvPr/>
        </p:nvSpPr>
        <p:spPr>
          <a:xfrm>
            <a:off x="411480" y="2708910"/>
            <a:ext cx="1988820" cy="78867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34A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4"/>
          <p:cNvSpPr/>
          <p:nvPr/>
        </p:nvSpPr>
        <p:spPr>
          <a:xfrm>
            <a:off x="534924" y="279806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70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34A870"/>
                </a:solidFill>
                <a:latin typeface="Cambria"/>
                <a:ea typeface="Cambria"/>
                <a:cs typeface="Cambria"/>
                <a:sym typeface="Cambria"/>
              </a:rPr>
              <a:t>0.832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44"/>
          <p:cNvSpPr/>
          <p:nvPr/>
        </p:nvSpPr>
        <p:spPr>
          <a:xfrm>
            <a:off x="534924" y="3140964"/>
            <a:ext cx="17419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RAGAs context_precision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4"/>
          <p:cNvSpPr/>
          <p:nvPr/>
        </p:nvSpPr>
        <p:spPr>
          <a:xfrm>
            <a:off x="2503170" y="2708910"/>
            <a:ext cx="1988820" cy="78867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E8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44"/>
          <p:cNvSpPr/>
          <p:nvPr/>
        </p:nvSpPr>
        <p:spPr>
          <a:xfrm>
            <a:off x="2626614" y="279806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E85D5D"/>
                </a:solidFill>
                <a:latin typeface="Cambria"/>
                <a:ea typeface="Cambria"/>
                <a:cs typeface="Cambria"/>
                <a:sym typeface="Cambria"/>
              </a:rPr>
              <a:t>0.630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44"/>
          <p:cNvSpPr/>
          <p:nvPr/>
        </p:nvSpPr>
        <p:spPr>
          <a:xfrm>
            <a:off x="2626614" y="3140964"/>
            <a:ext cx="17419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RAGAs faithfulness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4"/>
          <p:cNvSpPr/>
          <p:nvPr/>
        </p:nvSpPr>
        <p:spPr>
          <a:xfrm>
            <a:off x="4594860" y="2708910"/>
            <a:ext cx="1988820" cy="78867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E8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4"/>
          <p:cNvSpPr/>
          <p:nvPr/>
        </p:nvSpPr>
        <p:spPr>
          <a:xfrm>
            <a:off x="4718304" y="279806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E85D5D"/>
                </a:solidFill>
                <a:latin typeface="Cambria"/>
                <a:ea typeface="Cambria"/>
                <a:cs typeface="Cambria"/>
                <a:sym typeface="Cambria"/>
              </a:rPr>
              <a:t>0.524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4"/>
          <p:cNvSpPr/>
          <p:nvPr/>
        </p:nvSpPr>
        <p:spPr>
          <a:xfrm>
            <a:off x="4718304" y="3140964"/>
            <a:ext cx="17419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RAGAs answer_correctness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4"/>
          <p:cNvSpPr/>
          <p:nvPr/>
        </p:nvSpPr>
        <p:spPr>
          <a:xfrm>
            <a:off x="6686550" y="2708910"/>
            <a:ext cx="1988820" cy="788670"/>
          </a:xfrm>
          <a:prstGeom prst="roundRect">
            <a:avLst>
              <a:gd fmla="val 7826" name="adj"/>
            </a:avLst>
          </a:prstGeom>
          <a:solidFill>
            <a:srgbClr val="FFFFFF"/>
          </a:solidFill>
          <a:ln cap="flat" cmpd="sng" w="12700">
            <a:solidFill>
              <a:srgbClr val="E8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44"/>
          <p:cNvSpPr/>
          <p:nvPr/>
        </p:nvSpPr>
        <p:spPr>
          <a:xfrm>
            <a:off x="6809994" y="2798064"/>
            <a:ext cx="17419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E85D5D"/>
                </a:solidFill>
                <a:latin typeface="Cambria"/>
                <a:ea typeface="Cambria"/>
                <a:cs typeface="Cambria"/>
                <a:sym typeface="Cambria"/>
              </a:rPr>
              <a:t>0.435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4"/>
          <p:cNvSpPr/>
          <p:nvPr/>
        </p:nvSpPr>
        <p:spPr>
          <a:xfrm>
            <a:off x="6809994" y="3140964"/>
            <a:ext cx="17419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RAGAs answer_relevancy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4"/>
          <p:cNvSpPr/>
          <p:nvPr/>
        </p:nvSpPr>
        <p:spPr>
          <a:xfrm>
            <a:off x="411480" y="3669030"/>
            <a:ext cx="8298180" cy="720090"/>
          </a:xfrm>
          <a:prstGeom prst="roundRect">
            <a:avLst>
              <a:gd fmla="val 8571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44"/>
          <p:cNvSpPr/>
          <p:nvPr/>
        </p:nvSpPr>
        <p:spPr>
          <a:xfrm>
            <a:off x="617220" y="3751326"/>
            <a:ext cx="78867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994A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2994A"/>
                </a:solidFill>
                <a:latin typeface="Calibri"/>
                <a:ea typeface="Calibri"/>
                <a:cs typeface="Calibri"/>
                <a:sym typeface="Calibri"/>
              </a:rPr>
              <a:t>Not a contradiction, by design:  </a:t>
            </a:r>
            <a:r>
              <a:rPr b="0" i="0" lang="en" sz="800" u="none" cap="none" strike="noStrike">
                <a:solidFill>
                  <a:srgbClr val="DCE4F5"/>
                </a:solidFill>
                <a:latin typeface="Calibri"/>
                <a:ea typeface="Calibri"/>
                <a:cs typeface="Calibri"/>
                <a:sym typeface="Calibri"/>
              </a:rPr>
              <a:t>deterministic checks verify a cited clause exists and matches its type. The RAGAs layer actually judges whether the generated prose is entailed by the clause text against hand-written reference verdicts — 7 of 14 references disagreed with what the models produced, confirming this is a genuine, non-circular check.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4"/>
          <p:cNvSpPr/>
          <p:nvPr/>
        </p:nvSpPr>
        <p:spPr>
          <a:xfrm>
            <a:off x="41148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4"/>
          <p:cNvSpPr/>
          <p:nvPr/>
        </p:nvSpPr>
        <p:spPr>
          <a:xfrm>
            <a:off x="866371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5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1" lang="en" sz="900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LIMITATIONS, FUTURE WORK &amp; CONCLUSION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45"/>
          <p:cNvSpPr/>
          <p:nvPr/>
        </p:nvSpPr>
        <p:spPr>
          <a:xfrm>
            <a:off x="411480" y="534924"/>
            <a:ext cx="80924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1A1F2E"/>
                </a:solidFill>
                <a:latin typeface="Cambria"/>
                <a:ea typeface="Cambria"/>
                <a:cs typeface="Cambria"/>
                <a:sym typeface="Cambria"/>
              </a:rPr>
              <a:t>Planned f</a:t>
            </a:r>
            <a:r>
              <a:rPr b="1" i="0" lang="en" sz="1700" u="none" cap="none" strike="noStrike">
                <a:solidFill>
                  <a:srgbClr val="1A1F2E"/>
                </a:solidFill>
                <a:latin typeface="Cambria"/>
                <a:ea typeface="Cambria"/>
                <a:cs typeface="Cambria"/>
                <a:sym typeface="Cambria"/>
              </a:rPr>
              <a:t>uture 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45"/>
          <p:cNvSpPr/>
          <p:nvPr/>
        </p:nvSpPr>
        <p:spPr>
          <a:xfrm>
            <a:off x="411480" y="1165860"/>
            <a:ext cx="8298180" cy="65151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45"/>
          <p:cNvSpPr/>
          <p:nvPr/>
        </p:nvSpPr>
        <p:spPr>
          <a:xfrm>
            <a:off x="411480" y="1165860"/>
            <a:ext cx="425196" cy="651510"/>
          </a:xfrm>
          <a:prstGeom prst="roundRect">
            <a:avLst>
              <a:gd fmla="val 14516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5"/>
          <p:cNvSpPr/>
          <p:nvPr/>
        </p:nvSpPr>
        <p:spPr>
          <a:xfrm>
            <a:off x="411480" y="1165860"/>
            <a:ext cx="425196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5"/>
          <p:cNvSpPr/>
          <p:nvPr/>
        </p:nvSpPr>
        <p:spPr>
          <a:xfrm>
            <a:off x="994410" y="1327023"/>
            <a:ext cx="329184" cy="329184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layer-group_2F6FED.png" id="1202" name="Google Shape;120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476" y="1401089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45"/>
          <p:cNvSpPr/>
          <p:nvPr/>
        </p:nvSpPr>
        <p:spPr>
          <a:xfrm>
            <a:off x="1440180" y="123444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Apply CarDD-style domain pretraining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45"/>
          <p:cNvSpPr/>
          <p:nvPr/>
        </p:nvSpPr>
        <p:spPr>
          <a:xfrm>
            <a:off x="3943350" y="1234440"/>
            <a:ext cx="45948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The comparative benchmark's stronger result is attributable to domain pretraining, not architecture choice — the most evidence-backed next step, not a speculative one.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5"/>
          <p:cNvSpPr/>
          <p:nvPr/>
        </p:nvSpPr>
        <p:spPr>
          <a:xfrm>
            <a:off x="411480" y="1885950"/>
            <a:ext cx="8298180" cy="65151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45"/>
          <p:cNvSpPr/>
          <p:nvPr/>
        </p:nvSpPr>
        <p:spPr>
          <a:xfrm>
            <a:off x="411480" y="1885950"/>
            <a:ext cx="425196" cy="651510"/>
          </a:xfrm>
          <a:prstGeom prst="roundRect">
            <a:avLst>
              <a:gd fmla="val 14516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5"/>
          <p:cNvSpPr/>
          <p:nvPr/>
        </p:nvSpPr>
        <p:spPr>
          <a:xfrm>
            <a:off x="411480" y="1885950"/>
            <a:ext cx="425196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5"/>
          <p:cNvSpPr/>
          <p:nvPr/>
        </p:nvSpPr>
        <p:spPr>
          <a:xfrm>
            <a:off x="994410" y="2047113"/>
            <a:ext cx="329184" cy="329184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clipboard-list_2F6FED.png" id="1209" name="Google Shape;120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476" y="2121179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45"/>
          <p:cNvSpPr/>
          <p:nvPr/>
        </p:nvSpPr>
        <p:spPr>
          <a:xfrm>
            <a:off x="1440180" y="195453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Build a quantitative end-to-end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5"/>
          <p:cNvSpPr/>
          <p:nvPr/>
        </p:nvSpPr>
        <p:spPr>
          <a:xfrm>
            <a:off x="3943350" y="1954530"/>
            <a:ext cx="45948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A small, manually-verified test set through the full image → detection → severity → retrieval → report → recommendation chain, plus a systematic (not n=5) robustness benchmark.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5"/>
          <p:cNvSpPr/>
          <p:nvPr/>
        </p:nvSpPr>
        <p:spPr>
          <a:xfrm>
            <a:off x="411480" y="2606040"/>
            <a:ext cx="8298180" cy="65151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5"/>
          <p:cNvSpPr/>
          <p:nvPr/>
        </p:nvSpPr>
        <p:spPr>
          <a:xfrm>
            <a:off x="411480" y="2606040"/>
            <a:ext cx="425196" cy="651510"/>
          </a:xfrm>
          <a:prstGeom prst="roundRect">
            <a:avLst>
              <a:gd fmla="val 14516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5"/>
          <p:cNvSpPr/>
          <p:nvPr/>
        </p:nvSpPr>
        <p:spPr>
          <a:xfrm>
            <a:off x="411480" y="2606040"/>
            <a:ext cx="425196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5"/>
          <p:cNvSpPr/>
          <p:nvPr/>
        </p:nvSpPr>
        <p:spPr>
          <a:xfrm>
            <a:off x="994410" y="2767203"/>
            <a:ext cx="329184" cy="329184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user-shield_2F6FED.png" id="1216" name="Google Shape;121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8476" y="2841269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45"/>
          <p:cNvSpPr/>
          <p:nvPr/>
        </p:nvSpPr>
        <p:spPr>
          <a:xfrm>
            <a:off x="1440180" y="267462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Model per-user claim ownership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45"/>
          <p:cNvSpPr/>
          <p:nvPr/>
        </p:nvSpPr>
        <p:spPr>
          <a:xfrm>
            <a:off x="3943350" y="2674620"/>
            <a:ext cx="45948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RBAC gates which portals a role can reach, but there's no foreign key from Claim to users — any logged-in user can look up any claim by ID.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45"/>
          <p:cNvSpPr/>
          <p:nvPr/>
        </p:nvSpPr>
        <p:spPr>
          <a:xfrm>
            <a:off x="411480" y="3326130"/>
            <a:ext cx="8298180" cy="65151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5"/>
          <p:cNvSpPr/>
          <p:nvPr/>
        </p:nvSpPr>
        <p:spPr>
          <a:xfrm>
            <a:off x="411480" y="3326130"/>
            <a:ext cx="425196" cy="651510"/>
          </a:xfrm>
          <a:prstGeom prst="roundRect">
            <a:avLst>
              <a:gd fmla="val 14516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45"/>
          <p:cNvSpPr/>
          <p:nvPr/>
        </p:nvSpPr>
        <p:spPr>
          <a:xfrm>
            <a:off x="411480" y="3326130"/>
            <a:ext cx="425196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5"/>
          <p:cNvSpPr/>
          <p:nvPr/>
        </p:nvSpPr>
        <p:spPr>
          <a:xfrm>
            <a:off x="994410" y="3487293"/>
            <a:ext cx="329184" cy="329184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history_2F6FED.png" id="1223" name="Google Shape;122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8476" y="3561359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45"/>
          <p:cNvSpPr/>
          <p:nvPr/>
        </p:nvSpPr>
        <p:spPr>
          <a:xfrm>
            <a:off x="1440180" y="339471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Add a LangGraph checkpointer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3943350" y="3394710"/>
            <a:ext cx="45948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So a mid-analysis process restart can resume a claim rather than force resubmission.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5"/>
          <p:cNvSpPr/>
          <p:nvPr/>
        </p:nvSpPr>
        <p:spPr>
          <a:xfrm>
            <a:off x="411480" y="4046220"/>
            <a:ext cx="8298180" cy="651510"/>
          </a:xfrm>
          <a:prstGeom prst="roundRect">
            <a:avLst>
              <a:gd fmla="val 9474" name="adj"/>
            </a:avLst>
          </a:prstGeom>
          <a:solidFill>
            <a:srgbClr val="FFFFFF"/>
          </a:solidFill>
          <a:ln cap="flat" cmpd="sng" w="12700">
            <a:solidFill>
              <a:srgbClr val="E3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45"/>
          <p:cNvSpPr/>
          <p:nvPr/>
        </p:nvSpPr>
        <p:spPr>
          <a:xfrm>
            <a:off x="411480" y="4046220"/>
            <a:ext cx="425196" cy="651510"/>
          </a:xfrm>
          <a:prstGeom prst="roundRect">
            <a:avLst>
              <a:gd fmla="val 14516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45"/>
          <p:cNvSpPr/>
          <p:nvPr/>
        </p:nvSpPr>
        <p:spPr>
          <a:xfrm>
            <a:off x="411480" y="4046220"/>
            <a:ext cx="425196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5"/>
          <p:cNvSpPr/>
          <p:nvPr/>
        </p:nvSpPr>
        <p:spPr>
          <a:xfrm>
            <a:off x="994410" y="4207383"/>
            <a:ext cx="329184" cy="329184"/>
          </a:xfrm>
          <a:prstGeom prst="ellipse">
            <a:avLst/>
          </a:prstGeom>
          <a:solidFill>
            <a:srgbClr val="EAF0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icons/database_2F6FED.png" id="1230" name="Google Shape;1230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8476" y="4281449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45"/>
          <p:cNvSpPr/>
          <p:nvPr/>
        </p:nvSpPr>
        <p:spPr>
          <a:xfrm>
            <a:off x="1440180" y="411480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A1F2E"/>
                </a:solidFill>
                <a:latin typeface="Calibri"/>
                <a:ea typeface="Calibri"/>
                <a:cs typeface="Calibri"/>
                <a:sym typeface="Calibri"/>
              </a:rPr>
              <a:t>Move off SQLite / local-disk ChromaDB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45"/>
          <p:cNvSpPr/>
          <p:nvPr/>
        </p:nvSpPr>
        <p:spPr>
          <a:xfrm>
            <a:off x="3943350" y="4114800"/>
            <a:ext cx="45948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C7A9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C7A96"/>
                </a:solidFill>
                <a:latin typeface="Calibri"/>
                <a:ea typeface="Calibri"/>
                <a:cs typeface="Calibri"/>
                <a:sym typeface="Calibri"/>
              </a:rPr>
              <a:t>Postgres + a shared/hosted vector store, before attempting to scale beyond a single replica.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5"/>
          <p:cNvSpPr/>
          <p:nvPr/>
        </p:nvSpPr>
        <p:spPr>
          <a:xfrm>
            <a:off x="41148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Multimodal Damage Assessment for Insurance Claims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5"/>
          <p:cNvSpPr/>
          <p:nvPr/>
        </p:nvSpPr>
        <p:spPr>
          <a:xfrm>
            <a:off x="866371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6B0C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6B0C3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46"/>
          <p:cNvSpPr/>
          <p:nvPr/>
        </p:nvSpPr>
        <p:spPr>
          <a:xfrm>
            <a:off x="480060" y="288036"/>
            <a:ext cx="81610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6"/>
          <p:cNvSpPr/>
          <p:nvPr/>
        </p:nvSpPr>
        <p:spPr>
          <a:xfrm>
            <a:off x="466344" y="452628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2400"/>
              <a:buFont typeface="Bookman Old Style"/>
              <a:buNone/>
            </a:pPr>
            <a:r>
              <a:rPr b="1" i="0" lang="en" sz="2400" u="none" cap="none" strike="noStrike">
                <a:solidFill>
                  <a:srgbClr val="1323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Group 1 Contributions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46"/>
          <p:cNvSpPr/>
          <p:nvPr/>
        </p:nvSpPr>
        <p:spPr>
          <a:xfrm>
            <a:off x="343929" y="1165860"/>
            <a:ext cx="2708910" cy="1563624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6"/>
          <p:cNvSpPr/>
          <p:nvPr/>
        </p:nvSpPr>
        <p:spPr>
          <a:xfrm>
            <a:off x="1417206" y="1351026"/>
            <a:ext cx="562356" cy="562356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44" name="Google Shape;124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7795" y="1491615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46"/>
          <p:cNvSpPr/>
          <p:nvPr/>
        </p:nvSpPr>
        <p:spPr>
          <a:xfrm>
            <a:off x="446799" y="1933956"/>
            <a:ext cx="25031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Satyajeet Kumar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46"/>
          <p:cNvSpPr/>
          <p:nvPr/>
        </p:nvSpPr>
        <p:spPr>
          <a:xfrm>
            <a:off x="446799" y="2263140"/>
            <a:ext cx="25031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Data &amp; Vision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46"/>
          <p:cNvSpPr/>
          <p:nvPr/>
        </p:nvSpPr>
        <p:spPr>
          <a:xfrm>
            <a:off x="494805" y="2468880"/>
            <a:ext cx="2407158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2448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definition, VehiDE preprocessing, and YOLO training with 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 </a:t>
            </a: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6"/>
          <p:cNvSpPr/>
          <p:nvPr/>
        </p:nvSpPr>
        <p:spPr>
          <a:xfrm>
            <a:off x="3217431" y="1165860"/>
            <a:ext cx="2708910" cy="1563624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46"/>
          <p:cNvSpPr/>
          <p:nvPr/>
        </p:nvSpPr>
        <p:spPr>
          <a:xfrm>
            <a:off x="4290708" y="1351026"/>
            <a:ext cx="562356" cy="562356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50" name="Google Shape;125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1297" y="1491615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46"/>
          <p:cNvSpPr/>
          <p:nvPr/>
        </p:nvSpPr>
        <p:spPr>
          <a:xfrm>
            <a:off x="3320301" y="1933956"/>
            <a:ext cx="25031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Pranab Kumar Manna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46"/>
          <p:cNvSpPr/>
          <p:nvPr/>
        </p:nvSpPr>
        <p:spPr>
          <a:xfrm>
            <a:off x="3320301" y="2263140"/>
            <a:ext cx="25031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Architecture &amp; Full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46"/>
          <p:cNvSpPr/>
          <p:nvPr/>
        </p:nvSpPr>
        <p:spPr>
          <a:xfrm>
            <a:off x="3368307" y="2468880"/>
            <a:ext cx="2407158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2448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design, LangGraph orchestration, Agent Observability Vue app, Py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ests, deployment, and CI/CD.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46"/>
          <p:cNvSpPr/>
          <p:nvPr/>
        </p:nvSpPr>
        <p:spPr>
          <a:xfrm>
            <a:off x="6090933" y="1165860"/>
            <a:ext cx="2708910" cy="1563624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46"/>
          <p:cNvSpPr/>
          <p:nvPr/>
        </p:nvSpPr>
        <p:spPr>
          <a:xfrm>
            <a:off x="7164210" y="1351026"/>
            <a:ext cx="562356" cy="562356"/>
          </a:xfrm>
          <a:prstGeom prst="ellipse">
            <a:avLst/>
          </a:prstGeom>
          <a:solidFill>
            <a:srgbClr val="C8820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56" name="Google Shape;125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4799" y="1491615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46"/>
          <p:cNvSpPr/>
          <p:nvPr/>
        </p:nvSpPr>
        <p:spPr>
          <a:xfrm>
            <a:off x="6193803" y="1933956"/>
            <a:ext cx="25031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Venkata Siva Kamal Guddanti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46"/>
          <p:cNvSpPr/>
          <p:nvPr/>
        </p:nvSpPr>
        <p:spPr>
          <a:xfrm>
            <a:off x="6193803" y="2263140"/>
            <a:ext cx="25031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RAG Retrieval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46"/>
          <p:cNvSpPr/>
          <p:nvPr/>
        </p:nvSpPr>
        <p:spPr>
          <a:xfrm>
            <a:off x="6241809" y="2468880"/>
            <a:ext cx="2407158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2448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dense and sparse retrieval pipeline and its evaluation.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6"/>
          <p:cNvSpPr/>
          <p:nvPr/>
        </p:nvSpPr>
        <p:spPr>
          <a:xfrm>
            <a:off x="1780680" y="2921508"/>
            <a:ext cx="2708910" cy="1563624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46"/>
          <p:cNvSpPr/>
          <p:nvPr/>
        </p:nvSpPr>
        <p:spPr>
          <a:xfrm>
            <a:off x="2853957" y="3106674"/>
            <a:ext cx="562356" cy="562356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62" name="Google Shape;126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4546" y="3247263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46"/>
          <p:cNvSpPr/>
          <p:nvPr/>
        </p:nvSpPr>
        <p:spPr>
          <a:xfrm>
            <a:off x="1883550" y="3689604"/>
            <a:ext cx="25031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Anuj Gautam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46"/>
          <p:cNvSpPr/>
          <p:nvPr/>
        </p:nvSpPr>
        <p:spPr>
          <a:xfrm>
            <a:off x="1883550" y="4018788"/>
            <a:ext cx="25031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YOLO Fine-Tuning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46"/>
          <p:cNvSpPr/>
          <p:nvPr/>
        </p:nvSpPr>
        <p:spPr>
          <a:xfrm>
            <a:off x="1931556" y="4224528"/>
            <a:ext cx="2407158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2448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YOLO training with Hyperparameter tuning.Fine-tuning the damage-detection model.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46"/>
          <p:cNvSpPr/>
          <p:nvPr/>
        </p:nvSpPr>
        <p:spPr>
          <a:xfrm>
            <a:off x="4654182" y="2921508"/>
            <a:ext cx="2708910" cy="1563624"/>
          </a:xfrm>
          <a:prstGeom prst="roundRect">
            <a:avLst>
              <a:gd fmla="val 5263" name="adj"/>
            </a:avLst>
          </a:prstGeom>
          <a:solidFill>
            <a:srgbClr val="EDF2F8"/>
          </a:solidFill>
          <a:ln>
            <a:noFill/>
          </a:ln>
          <a:effectLst>
            <a:outerShdw blurRad="88900" rotWithShape="0" algn="bl" dir="5400000" dist="25400">
              <a:srgbClr val="AEBED0">
                <a:alpha val="2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6"/>
          <p:cNvSpPr/>
          <p:nvPr/>
        </p:nvSpPr>
        <p:spPr>
          <a:xfrm>
            <a:off x="5727459" y="3106674"/>
            <a:ext cx="562356" cy="562356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68" name="Google Shape;1268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8048" y="3247263"/>
            <a:ext cx="281178" cy="2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46"/>
          <p:cNvSpPr/>
          <p:nvPr/>
        </p:nvSpPr>
        <p:spPr>
          <a:xfrm>
            <a:off x="4757052" y="3689604"/>
            <a:ext cx="25031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3233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3233F"/>
                </a:solidFill>
                <a:latin typeface="Calibri"/>
                <a:ea typeface="Calibri"/>
                <a:cs typeface="Calibri"/>
                <a:sym typeface="Calibri"/>
              </a:rPr>
              <a:t>Harsh 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6"/>
          <p:cNvSpPr/>
          <p:nvPr/>
        </p:nvSpPr>
        <p:spPr>
          <a:xfrm>
            <a:off x="4757052" y="4018788"/>
            <a:ext cx="25031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820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C8820F"/>
                </a:solidFill>
                <a:latin typeface="Calibri"/>
                <a:ea typeface="Calibri"/>
                <a:cs typeface="Calibri"/>
                <a:sym typeface="Calibri"/>
              </a:rPr>
              <a:t>Frontend, Docs &amp; 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6"/>
          <p:cNvSpPr/>
          <p:nvPr/>
        </p:nvSpPr>
        <p:spPr>
          <a:xfrm>
            <a:off x="4805058" y="4235402"/>
            <a:ext cx="2407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2448"/>
              </a:lnSpc>
              <a:spcBef>
                <a:spcPts val="0"/>
              </a:spcBef>
              <a:spcAft>
                <a:spcPts val="0"/>
              </a:spcAft>
              <a:buClr>
                <a:srgbClr val="5C6B8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Vue prototyping, technical report authoring, documentation, and </a:t>
            </a:r>
            <a:r>
              <a:rPr lang="en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r>
              <a:rPr b="0" i="0" lang="en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33F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47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1323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47"/>
          <p:cNvSpPr/>
          <p:nvPr/>
        </p:nvSpPr>
        <p:spPr>
          <a:xfrm>
            <a:off x="7423785" y="840105"/>
            <a:ext cx="720090" cy="720090"/>
          </a:xfrm>
          <a:prstGeom prst="ellipse">
            <a:avLst/>
          </a:prstGeom>
          <a:solidFill>
            <a:srgbClr val="1FA0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9" name="Google Shape;127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6607" y="1012927"/>
            <a:ext cx="374446" cy="374447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47"/>
          <p:cNvSpPr/>
          <p:nvPr/>
        </p:nvSpPr>
        <p:spPr>
          <a:xfrm>
            <a:off x="8195310" y="188595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81" name="Google Shape;128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2470" y="202311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47"/>
          <p:cNvSpPr/>
          <p:nvPr/>
        </p:nvSpPr>
        <p:spPr>
          <a:xfrm>
            <a:off x="7320915" y="2691765"/>
            <a:ext cx="582930" cy="582930"/>
          </a:xfrm>
          <a:prstGeom prst="ellipse">
            <a:avLst/>
          </a:prstGeom>
          <a:solidFill>
            <a:srgbClr val="3D56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83" name="Google Shape;1283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6648" y="2837498"/>
            <a:ext cx="291465" cy="29146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47"/>
          <p:cNvSpPr/>
          <p:nvPr/>
        </p:nvSpPr>
        <p:spPr>
          <a:xfrm>
            <a:off x="617220" y="1577340"/>
            <a:ext cx="617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47"/>
          <p:cNvSpPr/>
          <p:nvPr/>
        </p:nvSpPr>
        <p:spPr>
          <a:xfrm>
            <a:off x="589788" y="1885950"/>
            <a:ext cx="68580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Bookman Old Style"/>
              <a:buNone/>
            </a:pPr>
            <a:r>
              <a:rPr b="1" i="0" lang="en" sz="3300" u="none" cap="none" strike="noStrik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Questions &amp; Discussion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7"/>
          <p:cNvSpPr/>
          <p:nvPr/>
        </p:nvSpPr>
        <p:spPr>
          <a:xfrm>
            <a:off x="630936" y="2743200"/>
            <a:ext cx="754380" cy="30861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7"/>
          <p:cNvSpPr/>
          <p:nvPr/>
        </p:nvSpPr>
        <p:spPr>
          <a:xfrm>
            <a:off x="617220" y="3086100"/>
            <a:ext cx="4594860" cy="514350"/>
          </a:xfrm>
          <a:prstGeom prst="roundRect">
            <a:avLst>
              <a:gd fmla="val 49333" name="adj"/>
            </a:avLst>
          </a:prstGeom>
          <a:solidFill>
            <a:srgbClr val="1C315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47"/>
          <p:cNvSpPr/>
          <p:nvPr/>
        </p:nvSpPr>
        <p:spPr>
          <a:xfrm>
            <a:off x="768096" y="3171825"/>
            <a:ext cx="342900" cy="3429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89" name="Google Shape;1289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2" y="3254121"/>
            <a:ext cx="178308" cy="1783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47"/>
          <p:cNvSpPr/>
          <p:nvPr/>
        </p:nvSpPr>
        <p:spPr>
          <a:xfrm>
            <a:off x="1220724" y="3086100"/>
            <a:ext cx="39090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HiveCase / Group-1-DS-and-AI-Lab-Project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47"/>
          <p:cNvSpPr/>
          <p:nvPr/>
        </p:nvSpPr>
        <p:spPr>
          <a:xfrm>
            <a:off x="617220" y="380619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B0CC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DB0CC"/>
                </a:solidFill>
                <a:latin typeface="Calibri"/>
                <a:ea typeface="Calibri"/>
                <a:cs typeface="Calibri"/>
                <a:sym typeface="Calibri"/>
              </a:rPr>
              <a:t>DS &amp; AI Lab   ·   IIT Madras   ·   2026   ·   Group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