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37A591F-D795-4BDC-B4C4-CA4410868A6A}">
  <a:tblStyle styleId="{B37A591F-D795-4BDC-B4C4-CA4410868A6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22" Type="http://schemas.openxmlformats.org/officeDocument/2006/relationships/slide" Target="slides/slide15.xml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98eb9b334_2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f98eb9b334_2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f98eb9b334_2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98eb9b334_2_1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3f98eb9b334_2_1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f98eb9b334_2_1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98eb9b334_2_5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f98eb9b334_2_5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f98eb9b334_2_5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98eb9b334_2_6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f98eb9b334_2_6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f98eb9b334_2_6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98eb9b334_2_8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f98eb9b334_2_8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f98eb9b334_2_8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98eb9b334_2_9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f98eb9b334_2_9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f98eb9b334_2_9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98eb9b334_2_11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f98eb9b334_2_11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f98eb9b334_2_11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98eb9b334_2_13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f98eb9b334_2_13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f98eb9b334_2_13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98eb9b334_2_15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f98eb9b334_2_15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f98eb9b334_2_15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98eb9b334_2_16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3f98eb9b334_2_16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f98eb9b334_2_16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f98eb9b334_2_17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3f98eb9b334_2_17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f98eb9b334_2_17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98eb9b334_2_19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f98eb9b334_2_19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f98eb9b334_2_19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98eb9b334_2_21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g3f98eb9b334_2_21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f98eb9b334_2_21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f98eb9b334_2_24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g3f98eb9b334_2_24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f98eb9b334_2_24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f98eb9b334_2_27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g3f98eb9b334_2_27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3f98eb9b334_2_27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7269480" y="-960120"/>
            <a:ext cx="3154680" cy="3154680"/>
          </a:xfrm>
          <a:prstGeom prst="ellipse">
            <a:avLst/>
          </a:prstGeom>
          <a:noFill/>
          <a:ln cap="flat" cmpd="sng" w="15875">
            <a:solidFill>
              <a:srgbClr val="4FD1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-822960" y="3154680"/>
            <a:ext cx="2194560" cy="2194560"/>
          </a:xfrm>
          <a:prstGeom prst="ellipse">
            <a:avLst/>
          </a:prstGeom>
          <a:noFill/>
          <a:ln cap="flat" cmpd="sng" w="15875">
            <a:solidFill>
              <a:srgbClr val="4FD1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480060" y="44577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D1C5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4FD1C5"/>
                </a:solidFill>
                <a:latin typeface="Calibri"/>
                <a:ea typeface="Calibri"/>
                <a:cs typeface="Calibri"/>
                <a:sym typeface="Calibri"/>
              </a:rPr>
              <a:t>DATA SCIENCE &amp; AI LAB  ·  GROUP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480060" y="1748790"/>
            <a:ext cx="6995160" cy="1303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Multimodal Damage Assessment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for Insurance Claims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480060" y="2983230"/>
            <a:ext cx="65151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Milestone 5. Model Evaluation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480060" y="3669030"/>
            <a:ext cx="4114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Satyajeet Kumar</a:t>
            </a:r>
            <a:br>
              <a:rPr b="0" i="0" lang="en" sz="9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9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Anuj Gautam</a:t>
            </a:r>
            <a:br>
              <a:rPr b="0" i="0" lang="en" sz="9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9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Pranab Kumar Manna</a:t>
            </a:r>
            <a:br>
              <a:rPr b="0" i="0" lang="en" sz="9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9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Venkata Siva Kamal Guddanti</a:t>
            </a:r>
            <a:br>
              <a:rPr b="0" i="0" lang="en" sz="9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9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Harsh Pal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/>
          <p:nvPr/>
        </p:nvSpPr>
        <p:spPr>
          <a:xfrm>
            <a:off x="342900" y="260604"/>
            <a:ext cx="84353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D1C5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4FD1C5"/>
                </a:solidFill>
                <a:latin typeface="Calibri"/>
                <a:ea typeface="Calibri"/>
                <a:cs typeface="Calibri"/>
                <a:sym typeface="Calibri"/>
              </a:rPr>
              <a:t>01 · INTRODUCTION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342900" y="452628"/>
            <a:ext cx="843534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From Trained Checkpoints to an Evaluated Model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342900" y="1028700"/>
            <a:ext cx="5006340" cy="10629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Milestone 4 produced several fine-tuned checkpoints across two parallel tracks. This milestone evaluates one of them in depth: a COCO-pretrained YOLO11m-seg model, fine-tuned on Google Colab, tuned with a corrected Optuna hyperparameter search, and assessed against appropriate segmentation metrics with error analysis and documented limitations.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342900" y="2160270"/>
            <a:ext cx="50063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D1C5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4FD1C5"/>
                </a:solidFill>
                <a:latin typeface="Calibri"/>
                <a:ea typeface="Calibri"/>
                <a:cs typeface="Calibri"/>
                <a:sym typeface="Calibri"/>
              </a:rPr>
              <a:t>MILESTONE 5 OBJECTIVES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342900" y="2434590"/>
            <a:ext cx="233172" cy="233172"/>
          </a:xfrm>
          <a:prstGeom prst="ellipse">
            <a:avLst/>
          </a:prstGeom>
          <a:solidFill>
            <a:srgbClr val="4FD1C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/>
          <p:nvPr/>
        </p:nvSpPr>
        <p:spPr>
          <a:xfrm>
            <a:off x="342900" y="2431161"/>
            <a:ext cx="233172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672084" y="2393442"/>
            <a:ext cx="467715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Evaluate with appropriate metrics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672084" y="2612898"/>
            <a:ext cx="4677156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Box and mask precision, recall, mAP50, and mAP50-95 — the COCO-style conventions this task calls for.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342900" y="3051810"/>
            <a:ext cx="233172" cy="233172"/>
          </a:xfrm>
          <a:prstGeom prst="ellipse">
            <a:avLst/>
          </a:prstGeom>
          <a:solidFill>
            <a:srgbClr val="E0665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342900" y="3048381"/>
            <a:ext cx="233172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672084" y="3010662"/>
            <a:ext cx="467715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Provide error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672084" y="3230118"/>
            <a:ext cx="4677156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Where the model fails, which classes drive it, and why — grounded in per-class evidence, not assumption.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342900" y="3669030"/>
            <a:ext cx="233172" cy="23317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342900" y="3665601"/>
            <a:ext cx="233172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672084" y="3627882"/>
            <a:ext cx="467715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Discuss limitations and improvements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672084" y="3847338"/>
            <a:ext cx="4677156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What this evaluation does not yet cover, and the concrete next steps that would close those gaps.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5589270" y="1028700"/>
            <a:ext cx="1508760" cy="1062990"/>
          </a:xfrm>
          <a:prstGeom prst="roundRect">
            <a:avLst>
              <a:gd fmla="val 5161" name="adj"/>
            </a:avLst>
          </a:prstGeom>
          <a:solidFill>
            <a:srgbClr val="17293F"/>
          </a:solidFill>
          <a:ln cap="flat" cmpd="sng" w="9525">
            <a:solidFill>
              <a:srgbClr val="273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5712714" y="1110996"/>
            <a:ext cx="1261872" cy="63779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5712714" y="1789938"/>
            <a:ext cx="126187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Model checkpoints compared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7235190" y="1028700"/>
            <a:ext cx="1508760" cy="1062990"/>
          </a:xfrm>
          <a:prstGeom prst="roundRect">
            <a:avLst>
              <a:gd fmla="val 5161" name="adj"/>
            </a:avLst>
          </a:prstGeom>
          <a:solidFill>
            <a:srgbClr val="17293F"/>
          </a:solidFill>
          <a:ln cap="flat" cmpd="sng" w="9525">
            <a:solidFill>
              <a:srgbClr val="273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7358634" y="1110996"/>
            <a:ext cx="1261872" cy="63779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7358634" y="1789938"/>
            <a:ext cx="126187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Damage classes evaluated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5589270" y="2228850"/>
            <a:ext cx="1508760" cy="1062990"/>
          </a:xfrm>
          <a:prstGeom prst="roundRect">
            <a:avLst>
              <a:gd fmla="val 5161" name="adj"/>
            </a:avLst>
          </a:prstGeom>
          <a:solidFill>
            <a:srgbClr val="17293F"/>
          </a:solidFill>
          <a:ln cap="flat" cmpd="sng" w="9525">
            <a:solidFill>
              <a:srgbClr val="273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5712714" y="2311146"/>
            <a:ext cx="1261872" cy="63779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D1C5"/>
              </a:buClr>
              <a:buSzPts val="2600"/>
              <a:buFont typeface="Georgia"/>
              <a:buNone/>
            </a:pPr>
            <a:r>
              <a:rPr b="1" i="0" lang="en" sz="2600" u="none" cap="none" strike="noStrike">
                <a:solidFill>
                  <a:srgbClr val="4FD1C5"/>
                </a:solidFill>
                <a:latin typeface="Georgia"/>
                <a:ea typeface="Georgia"/>
                <a:cs typeface="Georgia"/>
                <a:sym typeface="Georgia"/>
              </a:rPr>
              <a:t>12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5712714" y="2990088"/>
            <a:ext cx="126187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Optuna hyperparameter trials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7235190" y="2228850"/>
            <a:ext cx="1508760" cy="1062990"/>
          </a:xfrm>
          <a:prstGeom prst="roundRect">
            <a:avLst>
              <a:gd fmla="val 5161" name="adj"/>
            </a:avLst>
          </a:prstGeom>
          <a:solidFill>
            <a:srgbClr val="0A2E29"/>
          </a:solidFill>
          <a:ln cap="flat" cmpd="sng" w="9525">
            <a:solidFill>
              <a:srgbClr val="273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7358634" y="2311146"/>
            <a:ext cx="1261872" cy="63779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D1C5"/>
              </a:buClr>
              <a:buSzPts val="2300"/>
              <a:buFont typeface="Georgia"/>
              <a:buNone/>
            </a:pPr>
            <a:r>
              <a:rPr b="1" i="0" lang="en" sz="2300" u="none" cap="none" strike="noStrike">
                <a:solidFill>
                  <a:srgbClr val="4FD1C5"/>
                </a:solidFill>
                <a:latin typeface="Georgia"/>
                <a:ea typeface="Georgia"/>
                <a:cs typeface="Georgia"/>
                <a:sym typeface="Georgia"/>
              </a:rPr>
              <a:t>+11.8%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7358634" y="2990088"/>
            <a:ext cx="126187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Mask mAP50 gain, tuned vs. baseline — test split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5589270" y="3429000"/>
            <a:ext cx="3154680" cy="1028700"/>
          </a:xfrm>
          <a:prstGeom prst="roundRect">
            <a:avLst>
              <a:gd fmla="val 5333" name="adj"/>
            </a:avLst>
          </a:prstGeom>
          <a:solidFill>
            <a:srgbClr val="17293F"/>
          </a:solidFill>
          <a:ln cap="flat" cmpd="sng" w="9525">
            <a:solidFill>
              <a:srgbClr val="273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5712714" y="3511296"/>
            <a:ext cx="2907792" cy="60350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665A"/>
              </a:buClr>
              <a:buSzPts val="2300"/>
              <a:buFont typeface="Georgia"/>
              <a:buNone/>
            </a:pPr>
            <a:r>
              <a:rPr b="1" i="0" lang="en" sz="2300" u="none" cap="none" strike="noStrike">
                <a:solidFill>
                  <a:srgbClr val="E0665A"/>
                </a:solidFill>
                <a:latin typeface="Georgia"/>
                <a:ea typeface="Georgia"/>
                <a:cs typeface="Georgia"/>
                <a:sym typeface="Georgia"/>
              </a:rPr>
              <a:t>6.6 : 1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5712714" y="4155948"/>
            <a:ext cx="290779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scratch : shattered_glass training-instance imbalance — carried forward from Milestone 2/4, and shown in Section 6 to not be the dominant driver of error.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342900" y="4910328"/>
            <a:ext cx="65151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Multimodal Damage Assessment for Insurance Claims  ·  Milestone 5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8641080" y="4910328"/>
            <a:ext cx="2743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/>
          <p:nvPr/>
        </p:nvSpPr>
        <p:spPr>
          <a:xfrm>
            <a:off x="342900" y="260604"/>
            <a:ext cx="84353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D1C5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4FD1C5"/>
                </a:solidFill>
                <a:latin typeface="Calibri"/>
                <a:ea typeface="Calibri"/>
                <a:cs typeface="Calibri"/>
                <a:sym typeface="Calibri"/>
              </a:rPr>
              <a:t>02 · SCOPE DISCLOSURE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342900" y="452628"/>
            <a:ext cx="843534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One Track of Two — Read Before the Results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342900" y="973836"/>
            <a:ext cx="8435340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Milestone 4's own "Prepared for Milestone 5" section names the Kaggle-trained, CarDD-pretrained YOLOv8s-seg checkpoint (test mask mAP50 = 0.3549) for this evaluation. This report instead evaluates a separate, individually-run track, documented here for the first time. The two are not directly comparable — different pretrained weights, environment, and split.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342900" y="1748790"/>
            <a:ext cx="4080510" cy="2537460"/>
          </a:xfrm>
          <a:prstGeom prst="roundRect">
            <a:avLst>
              <a:gd fmla="val 2162" name="adj"/>
            </a:avLst>
          </a:prstGeom>
          <a:solidFill>
            <a:srgbClr val="17293F"/>
          </a:solidFill>
          <a:ln cap="flat" cmpd="sng" w="9525">
            <a:solidFill>
              <a:srgbClr val="273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582930" y="1920240"/>
            <a:ext cx="36004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MILESTONE 4's INTENDED TRACK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582930" y="2215134"/>
            <a:ext cx="360045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Platform:  </a:t>
            </a: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Kaggle, T4 GPU</a:t>
            </a:r>
            <a:b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Pretrained source:  </a:t>
            </a: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CarDD (domain-specific)</a:t>
            </a:r>
            <a:b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Selected checkpoint:  </a:t>
            </a: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YOLOv8s-seg, DFL boundary-precision, 80 total epochs</a:t>
            </a:r>
            <a:b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mask mAP50:  </a:t>
            </a: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0.3549 — provisional</a:t>
            </a:r>
            <a:b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800" u="none" cap="none" strike="noStrike">
                <a:solidFill>
                  <a:srgbClr val="E0665A"/>
                </a:solidFill>
                <a:latin typeface="Calibri"/>
                <a:ea typeface="Calibri"/>
                <a:cs typeface="Calibri"/>
                <a:sym typeface="Calibri"/>
              </a:rPr>
              <a:t>Status:  </a:t>
            </a: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Not evaluated in this report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4718304" y="1748790"/>
            <a:ext cx="4080510" cy="2537460"/>
          </a:xfrm>
          <a:prstGeom prst="roundRect">
            <a:avLst>
              <a:gd fmla="val 2162" name="adj"/>
            </a:avLst>
          </a:prstGeom>
          <a:solidFill>
            <a:srgbClr val="0A2E29"/>
          </a:solidFill>
          <a:ln cap="flat" cmpd="sng" w="12700">
            <a:solidFill>
              <a:srgbClr val="4FD1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7"/>
          <p:cNvSpPr/>
          <p:nvPr/>
        </p:nvSpPr>
        <p:spPr>
          <a:xfrm>
            <a:off x="4958334" y="1920240"/>
            <a:ext cx="36004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D1C5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4FD1C5"/>
                </a:solidFill>
                <a:latin typeface="Calibri"/>
                <a:ea typeface="Calibri"/>
                <a:cs typeface="Calibri"/>
                <a:sym typeface="Calibri"/>
              </a:rPr>
              <a:t>TRACK EVALUATED IN THIS REPORT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4958334" y="2215134"/>
            <a:ext cx="360045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Platform:  </a:t>
            </a: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Google Colab, T4 GPU</a:t>
            </a:r>
            <a:b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Pretrained source:  </a:t>
            </a: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COCO (general-purpose)</a:t>
            </a:r>
            <a:b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Selected checkpoint:  </a:t>
            </a: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YOLO11m-seg, Optuna-tuned, 40 epochs</a:t>
            </a:r>
            <a:b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mask mAP50:  </a:t>
            </a: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0.447 — held-out split, see Sections 5–6</a:t>
            </a:r>
            <a:b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800" u="none" cap="none" strike="noStrike">
                <a:solidFill>
                  <a:srgbClr val="4FD1C5"/>
                </a:solidFill>
                <a:latin typeface="Calibri"/>
                <a:ea typeface="Calibri"/>
                <a:cs typeface="Calibri"/>
                <a:sym typeface="Calibri"/>
              </a:rPr>
              <a:t>Status:  </a:t>
            </a: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Evaluated in full below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342900" y="4402836"/>
            <a:ext cx="84353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If the group's final submission needs both tracks covered, the CarDD-track evaluation should be prepared separately from the Kaggle-side logs, which are not available in this working environment.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342900" y="4910328"/>
            <a:ext cx="65151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Multimodal Damage Assessment for Insurance Claims  ·  Milestone 5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8641080" y="4910328"/>
            <a:ext cx="2743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342900" y="260604"/>
            <a:ext cx="84353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D1C5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4FD1C5"/>
                </a:solidFill>
                <a:latin typeface="Calibri"/>
                <a:ea typeface="Calibri"/>
                <a:cs typeface="Calibri"/>
                <a:sym typeface="Calibri"/>
              </a:rPr>
              <a:t>03 · EVALUATION SETUP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342900" y="452628"/>
            <a:ext cx="843534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Three Checkpoints, One Shared Split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342900" y="973836"/>
            <a:ext cx="418338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D1C5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4FD1C5"/>
                </a:solidFill>
                <a:latin typeface="Calibri"/>
                <a:ea typeface="Calibri"/>
                <a:cs typeface="Calibri"/>
                <a:sym typeface="Calibri"/>
              </a:rPr>
              <a:t>MODELS EVALUATED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6" name="Google Shape;126;p18"/>
          <p:cNvGraphicFramePr/>
          <p:nvPr/>
        </p:nvGraphicFramePr>
        <p:xfrm>
          <a:off x="342900" y="120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{B37A591F-D795-4BDC-B4C4-CA4410868A6A}</a:tableStyleId>
              </a:tblPr>
              <a:tblGrid>
                <a:gridCol w="891525"/>
                <a:gridCol w="617200"/>
                <a:gridCol w="2674600"/>
              </a:tblGrid>
              <a:tr h="29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D1C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4FD1C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Run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9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D1C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4FD1C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Epochs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9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D1C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4FD1C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93F"/>
                    </a:solidFill>
                  </a:tcPr>
                </a:tc>
              </a:tr>
              <a:tr h="29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optimizer="auto" → AdamW, lr fixed at 0.001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</a:tr>
              <a:tr h="29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Extended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 continued, no config change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</a:tr>
              <a:tr h="29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D1C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4FD1C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Tuned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AdamW, lr0≈0.000105, wd≈0.00029, degrees≈5.5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</a:tr>
            </a:tbl>
          </a:graphicData>
        </a:graphic>
      </p:graphicFrame>
      <p:sp>
        <p:nvSpPr>
          <p:cNvPr id="127" name="Google Shape;127;p18"/>
          <p:cNvSpPr/>
          <p:nvPr/>
        </p:nvSpPr>
        <p:spPr>
          <a:xfrm>
            <a:off x="342900" y="2503170"/>
            <a:ext cx="418338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D1C5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4FD1C5"/>
                </a:solidFill>
                <a:latin typeface="Calibri"/>
                <a:ea typeface="Calibri"/>
                <a:cs typeface="Calibri"/>
                <a:sym typeface="Calibri"/>
              </a:rPr>
              <a:t>DATASET SPLIT (SHARED ACROSS RUNS)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8" name="Google Shape;128;p18"/>
          <p:cNvGraphicFramePr/>
          <p:nvPr/>
        </p:nvGraphicFramePr>
        <p:xfrm>
          <a:off x="342900" y="27294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{B37A591F-D795-4BDC-B4C4-CA4410868A6A}</a:tableStyleId>
              </a:tblPr>
              <a:tblGrid>
                <a:gridCol w="891525"/>
                <a:gridCol w="617200"/>
                <a:gridCol w="2674600"/>
              </a:tblGrid>
              <a:tr h="28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D1C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4FD1C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Split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9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D1C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4FD1C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Images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9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D1C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4FD1C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Role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93F"/>
                    </a:solidFill>
                  </a:tcPr>
                </a:tc>
              </a:tr>
              <a:tr h="28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Train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9,545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Fine-tuning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</a:tr>
              <a:tr h="28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2,047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Checkpoint selection, Optuna feedback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</a:tr>
              <a:tr h="28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2,047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Held out — evaluation pending (Section 10)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</a:tr>
            </a:tbl>
          </a:graphicData>
        </a:graphic>
      </p:graphicFrame>
      <p:sp>
        <p:nvSpPr>
          <p:cNvPr id="129" name="Google Shape;129;p18"/>
          <p:cNvSpPr/>
          <p:nvPr/>
        </p:nvSpPr>
        <p:spPr>
          <a:xfrm>
            <a:off x="4766310" y="973836"/>
            <a:ext cx="4032504" cy="2880360"/>
          </a:xfrm>
          <a:prstGeom prst="roundRect">
            <a:avLst>
              <a:gd fmla="val 1905" name="adj"/>
            </a:avLst>
          </a:prstGeom>
          <a:solidFill>
            <a:srgbClr val="17293F"/>
          </a:solidFill>
          <a:ln cap="flat" cmpd="sng" w="9525">
            <a:solidFill>
              <a:srgbClr val="273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8"/>
          <p:cNvSpPr/>
          <p:nvPr/>
        </p:nvSpPr>
        <p:spPr>
          <a:xfrm>
            <a:off x="5006340" y="1152144"/>
            <a:ext cx="35661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D1C5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4FD1C5"/>
                </a:solidFill>
                <a:latin typeface="Calibri"/>
                <a:ea typeface="Calibri"/>
                <a:cs typeface="Calibri"/>
                <a:sym typeface="Calibri"/>
              </a:rPr>
              <a:t>EVALUATION PROTOCOL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5006340" y="1426464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Metrics reported in this deck are computed on the held-out test split (2,047 images), never touched for training, checkpoint selection, or the Optuna search. A separate val-vs-test gap check (Section 9) confirms this checkpoint generalised cleanly, with no meaningful overfitting to the validation split used during development.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5006340" y="2194560"/>
            <a:ext cx="356616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6 damage classes: dent · scratch · crack · broken_lamp · shattered_glass · flat_tyre, plus unlabelled background images (~7% of the dataset, no damage annotated).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5006340" y="2846070"/>
            <a:ext cx="356616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Cross-validation: not applicable — a single fixed stratified split was used throughout, consistent with the project's established leakage-safety practice.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5006340" y="3429000"/>
            <a:ext cx="35661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Ground truth: pre-existing YOLO-format polygon annotations shipped with VehiDE — no manual re-annotation performed.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342900" y="4910328"/>
            <a:ext cx="65151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Multimodal Damage Assessment for Insurance Claims  ·  Milestone 5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8641080" y="4910328"/>
            <a:ext cx="2743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/>
          <p:nvPr/>
        </p:nvSpPr>
        <p:spPr>
          <a:xfrm>
            <a:off x="342900" y="260604"/>
            <a:ext cx="84353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D1C5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4FD1C5"/>
                </a:solidFill>
                <a:latin typeface="Calibri"/>
                <a:ea typeface="Calibri"/>
                <a:cs typeface="Calibri"/>
                <a:sym typeface="Calibri"/>
              </a:rPr>
              <a:t>04 · PERFORMANCE METRICS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342900" y="452628"/>
            <a:ext cx="843534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Box and Mask, Reported Together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342900" y="973836"/>
            <a:ext cx="843534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Instance segmentation predicts a class, a box, and a pixel mask per detection — so both Box and Mask variants of each metric are reported. Mask metrics are structurally harder to score well on than Box (a pixel-precise boundary is a stricter target than a rectangle), so a gap between them is expected, not a defect.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5" name="Google Shape;145;p19"/>
          <p:cNvGraphicFramePr/>
          <p:nvPr/>
        </p:nvGraphicFramePr>
        <p:xfrm>
          <a:off x="342900" y="16596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{B37A591F-D795-4BDC-B4C4-CA4410868A6A}</a:tableStyleId>
              </a:tblPr>
              <a:tblGrid>
                <a:gridCol w="1097275"/>
                <a:gridCol w="3771900"/>
                <a:gridCol w="3566150"/>
              </a:tblGrid>
              <a:tr h="40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D1C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4FD1C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9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D1C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4FD1C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Definition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9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D1C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4FD1C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Why it is used here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93F"/>
                    </a:solidFill>
                  </a:tcPr>
                </a:tc>
              </a:tr>
              <a:tr h="40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IoU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Overlap area ÷ union area of predicted vs. ground-truth region.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 unit underlying every metric below.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</a:tr>
              <a:tr h="40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Fraction of predicted damage that was correct.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False-positive rate — spurious flags cause claim disputes.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</a:tr>
              <a:tr h="40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Fraction of actual damage the model found.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Missed-damage rate — a missed dent under-assesses a claim.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</a:tr>
              <a:tr h="40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D1C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4FD1C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mAP50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 AP at 50% IoU, averaged across all 6 classes.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Standard, relatively forgiving detection benchmark.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</a:tr>
              <a:tr h="40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D1C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4FD1C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mAP50-95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mAP averaged across IoU thresholds 50%–95%.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Stricter — rewards precise localisation, not rough overlap.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</a:tr>
            </a:tbl>
          </a:graphicData>
        </a:graphic>
      </p:graphicFrame>
      <p:sp>
        <p:nvSpPr>
          <p:cNvPr id="146" name="Google Shape;146;p19"/>
          <p:cNvSpPr/>
          <p:nvPr/>
        </p:nvSpPr>
        <p:spPr>
          <a:xfrm>
            <a:off x="342900" y="4910328"/>
            <a:ext cx="65151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Multimodal Damage Assessment for Insurance Claims  ·  Milestone 5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8641080" y="4910328"/>
            <a:ext cx="2743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/>
          <p:nvPr/>
        </p:nvSpPr>
        <p:spPr>
          <a:xfrm>
            <a:off x="342900" y="260604"/>
            <a:ext cx="84353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D1C5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4FD1C5"/>
                </a:solidFill>
                <a:latin typeface="Calibri"/>
                <a:ea typeface="Calibri"/>
                <a:cs typeface="Calibri"/>
                <a:sym typeface="Calibri"/>
              </a:rPr>
              <a:t>05 · EXPERIMENTAL RESULTS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342900" y="452628"/>
            <a:ext cx="843534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Every Metric Moved in the Same Direction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994410"/>
            <a:ext cx="5212080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0"/>
          <p:cNvSpPr/>
          <p:nvPr/>
        </p:nvSpPr>
        <p:spPr>
          <a:xfrm>
            <a:off x="5726430" y="1028700"/>
            <a:ext cx="30175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READ ACROSS EVERY METRIC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5726430" y="1303020"/>
            <a:ext cx="301752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The Tuned run improves on all four reported metrics with no regression on any — measured on data neither model ever trained or was selected on. This supports attributing the gain to the hyperparameter correction itself, not to chance or split luck.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5726430" y="2297430"/>
            <a:ext cx="1405890" cy="788670"/>
          </a:xfrm>
          <a:prstGeom prst="roundRect">
            <a:avLst>
              <a:gd fmla="val 6957" name="adj"/>
            </a:avLst>
          </a:prstGeom>
          <a:solidFill>
            <a:srgbClr val="17293F"/>
          </a:solidFill>
          <a:ln cap="flat" cmpd="sng" w="9525">
            <a:solidFill>
              <a:srgbClr val="273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0"/>
          <p:cNvSpPr/>
          <p:nvPr/>
        </p:nvSpPr>
        <p:spPr>
          <a:xfrm>
            <a:off x="5849874" y="2379726"/>
            <a:ext cx="1159002" cy="3634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D1C5"/>
              </a:buClr>
              <a:buSzPts val="1700"/>
              <a:buFont typeface="Georgia"/>
              <a:buNone/>
            </a:pPr>
            <a:r>
              <a:rPr b="1" i="0" lang="en" sz="1700" u="none" cap="none" strike="noStrike">
                <a:solidFill>
                  <a:srgbClr val="4FD1C5"/>
                </a:solidFill>
                <a:latin typeface="Georgia"/>
                <a:ea typeface="Georgia"/>
                <a:cs typeface="Georgia"/>
                <a:sym typeface="Georgia"/>
              </a:rPr>
              <a:t>+10.3%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5849874" y="2784348"/>
            <a:ext cx="115900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Box mAP50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7338060" y="2297430"/>
            <a:ext cx="1405890" cy="788670"/>
          </a:xfrm>
          <a:prstGeom prst="roundRect">
            <a:avLst>
              <a:gd fmla="val 6957" name="adj"/>
            </a:avLst>
          </a:prstGeom>
          <a:solidFill>
            <a:srgbClr val="17293F"/>
          </a:solidFill>
          <a:ln cap="flat" cmpd="sng" w="9525">
            <a:solidFill>
              <a:srgbClr val="273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0"/>
          <p:cNvSpPr/>
          <p:nvPr/>
        </p:nvSpPr>
        <p:spPr>
          <a:xfrm>
            <a:off x="7461504" y="2379726"/>
            <a:ext cx="1159002" cy="3634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D1C5"/>
              </a:buClr>
              <a:buSzPts val="1700"/>
              <a:buFont typeface="Georgia"/>
              <a:buNone/>
            </a:pPr>
            <a:r>
              <a:rPr b="1" i="0" lang="en" sz="1700" u="none" cap="none" strike="noStrike">
                <a:solidFill>
                  <a:srgbClr val="4FD1C5"/>
                </a:solidFill>
                <a:latin typeface="Georgia"/>
                <a:ea typeface="Georgia"/>
                <a:cs typeface="Georgia"/>
                <a:sym typeface="Georgia"/>
              </a:rPr>
              <a:t>+14.2%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7461504" y="2784348"/>
            <a:ext cx="115900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Mask mAP50-95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5726430" y="3188970"/>
            <a:ext cx="3017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Val-vs-test gap check (Section 9): every metric within 0.012 of its validation-split value — clean generalisation, no overfitting to the split used during development. Inference: 45ms/image, 22 img/sec.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342900" y="4910328"/>
            <a:ext cx="65151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Multimodal Damage Assessment for Insurance Claims  ·  Milestone 5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8641080" y="4910328"/>
            <a:ext cx="2743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/>
          <p:cNvSpPr/>
          <p:nvPr/>
        </p:nvSpPr>
        <p:spPr>
          <a:xfrm>
            <a:off x="342900" y="260604"/>
            <a:ext cx="84353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D1C5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4FD1C5"/>
                </a:solidFill>
                <a:latin typeface="Calibri"/>
                <a:ea typeface="Calibri"/>
                <a:cs typeface="Calibri"/>
                <a:sym typeface="Calibri"/>
              </a:rPr>
              <a:t>06 · HEADLINE FINDING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1"/>
          <p:cNvSpPr/>
          <p:nvPr/>
        </p:nvSpPr>
        <p:spPr>
          <a:xfrm>
            <a:off x="342900" y="452628"/>
            <a:ext cx="843534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More Instances Did Not Mean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Better Performance.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342900" y="1748790"/>
            <a:ext cx="4080510" cy="2674620"/>
          </a:xfrm>
          <a:prstGeom prst="roundRect">
            <a:avLst>
              <a:gd fmla="val 2051" name="adj"/>
            </a:avLst>
          </a:prstGeom>
          <a:solidFill>
            <a:srgbClr val="17293F"/>
          </a:solidFill>
          <a:ln cap="flat" cmpd="sng" w="9525">
            <a:solidFill>
              <a:srgbClr val="273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1"/>
          <p:cNvSpPr/>
          <p:nvPr/>
        </p:nvSpPr>
        <p:spPr>
          <a:xfrm>
            <a:off x="582930" y="195453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scratch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582930" y="2297430"/>
            <a:ext cx="35661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MOST training instances of any class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1"/>
          <p:cNvSpPr/>
          <p:nvPr/>
        </p:nvSpPr>
        <p:spPr>
          <a:xfrm>
            <a:off x="582930" y="2606040"/>
            <a:ext cx="3566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10,070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1"/>
          <p:cNvSpPr/>
          <p:nvPr/>
        </p:nvSpPr>
        <p:spPr>
          <a:xfrm>
            <a:off x="582930" y="3120390"/>
            <a:ext cx="35661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training instances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582930" y="3429000"/>
            <a:ext cx="3566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665A"/>
              </a:buClr>
              <a:buSzPts val="2600"/>
              <a:buFont typeface="Georgia"/>
              <a:buNone/>
            </a:pPr>
            <a:r>
              <a:rPr b="1" i="0" lang="en" sz="2600" u="none" cap="none" strike="noStrike">
                <a:solidFill>
                  <a:srgbClr val="E0665A"/>
                </a:solidFill>
                <a:latin typeface="Georgia"/>
                <a:ea typeface="Georgia"/>
                <a:cs typeface="Georgia"/>
                <a:sym typeface="Georgia"/>
              </a:rPr>
              <a:t>0.288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582930" y="3943350"/>
            <a:ext cx="35661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mask mAP50 — one of the two weakest classes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4718304" y="1748790"/>
            <a:ext cx="4080510" cy="2674620"/>
          </a:xfrm>
          <a:prstGeom prst="roundRect">
            <a:avLst>
              <a:gd fmla="val 2051" name="adj"/>
            </a:avLst>
          </a:prstGeom>
          <a:solidFill>
            <a:srgbClr val="0A2E29"/>
          </a:solidFill>
          <a:ln cap="flat" cmpd="sng" w="12700">
            <a:solidFill>
              <a:srgbClr val="4FD1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1"/>
          <p:cNvSpPr/>
          <p:nvPr/>
        </p:nvSpPr>
        <p:spPr>
          <a:xfrm>
            <a:off x="4958334" y="195453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shattered_glass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4958334" y="2297430"/>
            <a:ext cx="35661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FEWEST training instances of any class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4958334" y="2606040"/>
            <a:ext cx="3566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1,513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4958334" y="3120390"/>
            <a:ext cx="35661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training instances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4958334" y="3429000"/>
            <a:ext cx="3566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D1C5"/>
              </a:buClr>
              <a:buSzPts val="2600"/>
              <a:buFont typeface="Georgia"/>
              <a:buNone/>
            </a:pPr>
            <a:r>
              <a:rPr b="1" i="0" lang="en" sz="2600" u="none" cap="none" strike="noStrike">
                <a:solidFill>
                  <a:srgbClr val="4FD1C5"/>
                </a:solidFill>
                <a:latin typeface="Georgia"/>
                <a:ea typeface="Georgia"/>
                <a:cs typeface="Georgia"/>
                <a:sym typeface="Georgia"/>
              </a:rPr>
              <a:t>0.775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4958334" y="3943350"/>
            <a:ext cx="35661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mask mAP50 — the best-performing class, ~2.7x scratch's score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342900" y="4491990"/>
            <a:ext cx="84353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This ranking is identical to Milestone 4's independent finding on the separate CarDD-pretrained track. Two differently-pretrained models, on two platforms, reproduce the same class-difficulty pattern — evidence this reflects visual distinguishability of the damage types, not a quirk of either track's setup.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342900" y="4910328"/>
            <a:ext cx="65151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Multimodal Damage Assessment for Insurance Claims  ·  Milestone 5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8641080" y="4910328"/>
            <a:ext cx="2743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/>
          <p:nvPr/>
        </p:nvSpPr>
        <p:spPr>
          <a:xfrm>
            <a:off x="342900" y="260604"/>
            <a:ext cx="84353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D1C5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4FD1C5"/>
                </a:solidFill>
                <a:latin typeface="Calibri"/>
                <a:ea typeface="Calibri"/>
                <a:cs typeface="Calibri"/>
                <a:sym typeface="Calibri"/>
              </a:rPr>
              <a:t>07 · HYPERPARAMETER TUNING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342900" y="452628"/>
            <a:ext cx="843534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 Bug Fix, Then a Clean Signal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1028700"/>
            <a:ext cx="4526280" cy="284607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2"/>
          <p:cNvSpPr/>
          <p:nvPr/>
        </p:nvSpPr>
        <p:spPr>
          <a:xfrm>
            <a:off x="342900" y="3943350"/>
            <a:ext cx="452628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600"/>
              <a:buFont typeface="Calibri"/>
              <a:buNone/>
            </a:pPr>
            <a:r>
              <a:rPr b="0" i="1" lang="en" sz="6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Categories are each trial's lr0 value, sorted ascending — the near-monotonic decline visualises the relationship found in the search.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5040630" y="1028700"/>
            <a:ext cx="37719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665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E0665A"/>
                </a:solidFill>
                <a:latin typeface="Calibri"/>
                <a:ea typeface="Calibri"/>
                <a:cs typeface="Calibri"/>
                <a:sym typeface="Calibri"/>
              </a:rPr>
              <a:t>THE BUG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5040630" y="1268730"/>
            <a:ext cx="3771900" cy="788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An earlier search used optimizer="auto". Ultralytics silently overrides any passed lr0 under this setting — confirmed in the log: "'optimizer=auto' found, ignoring 'lr0=...'". Every trial in that search actually trained at the same fixed lr=0.001; the search varied lr0 in name only.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5040630" y="2160270"/>
            <a:ext cx="37719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D1C5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4FD1C5"/>
                </a:solidFill>
                <a:latin typeface="Calibri"/>
                <a:ea typeface="Calibri"/>
                <a:cs typeface="Calibri"/>
                <a:sym typeface="Calibri"/>
              </a:rPr>
              <a:t>THE FIX AND THE SIGNAL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5040630" y="2400300"/>
            <a:ext cx="3771900" cy="925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Setting optimizer="AdamW" explicitly restored real control over lr0. The corrected search shows a clear, near-monotonic relationship: best in the lr0 ≈ 5×10⁻⁵–1.3×10⁻⁴ band, collapsing to roughly a quarter of peak performance above lr0 ≈ 4×10⁻³. weight_decay and degrees showed no comparable trend.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5040630" y="3429000"/>
            <a:ext cx="3771900" cy="582930"/>
          </a:xfrm>
          <a:prstGeom prst="roundRect">
            <a:avLst>
              <a:gd fmla="val 9412" name="adj"/>
            </a:avLst>
          </a:prstGeom>
          <a:solidFill>
            <a:srgbClr val="17293F"/>
          </a:solidFill>
          <a:ln cap="flat" cmpd="sng" w="9525">
            <a:solidFill>
              <a:srgbClr val="273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2"/>
          <p:cNvSpPr/>
          <p:nvPr/>
        </p:nvSpPr>
        <p:spPr>
          <a:xfrm>
            <a:off x="5212080" y="3531870"/>
            <a:ext cx="3429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FD1C5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4FD1C5"/>
                </a:solidFill>
                <a:latin typeface="Calibri"/>
                <a:ea typeface="Calibri"/>
                <a:cs typeface="Calibri"/>
                <a:sym typeface="Calibri"/>
              </a:rPr>
              <a:t>Selected:  </a:t>
            </a: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lr0=0.0001047, weight_decay=0.000292, degrees=5.5 — 5-epoch proxy generalised sensibly to full 40-epoch training (0.351 → 0.449).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342900" y="4910328"/>
            <a:ext cx="65151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Multimodal Damage Assessment for Insurance Claims  ·  Milestone 5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8641080" y="4910328"/>
            <a:ext cx="2743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"/>
          <p:cNvSpPr/>
          <p:nvPr/>
        </p:nvSpPr>
        <p:spPr>
          <a:xfrm>
            <a:off x="342900" y="260604"/>
            <a:ext cx="84353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D1C5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4FD1C5"/>
                </a:solidFill>
                <a:latin typeface="Calibri"/>
                <a:ea typeface="Calibri"/>
                <a:cs typeface="Calibri"/>
                <a:sym typeface="Calibri"/>
              </a:rPr>
              <a:t>08 · BASELINE VS. TUNED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342900" y="452628"/>
            <a:ext cx="843534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Improvement, Quantified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5" name="Google Shape;215;p23"/>
          <p:cNvGraphicFramePr/>
          <p:nvPr/>
        </p:nvGraphicFramePr>
        <p:xfrm>
          <a:off x="342900" y="10629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{B37A591F-D795-4BDC-B4C4-CA4410868A6A}</a:tableStyleId>
              </a:tblPr>
              <a:tblGrid>
                <a:gridCol w="1508750"/>
                <a:gridCol w="960100"/>
                <a:gridCol w="960100"/>
                <a:gridCol w="891525"/>
                <a:gridCol w="891525"/>
              </a:tblGrid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D1C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4FD1C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9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D1C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4FD1C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9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D1C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4FD1C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Tuned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9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D1C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4FD1C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Absolute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9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D1C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4FD1C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Relative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93F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Box mAP50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0.445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D1C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4FD1C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0.491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+0.046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+10.3%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Box mAP50-95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0.277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D1C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4FD1C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0.312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+0.035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+12.6%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Mask mAP50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D1C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4FD1C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0.447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+0.047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+11.8%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Mask mAP50-95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0.212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D1C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4FD1C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0.242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+0.030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+14.2%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</a:tr>
            </a:tbl>
          </a:graphicData>
        </a:graphic>
      </p:graphicFrame>
      <p:sp>
        <p:nvSpPr>
          <p:cNvPr id="216" name="Google Shape;216;p23"/>
          <p:cNvSpPr/>
          <p:nvPr/>
        </p:nvSpPr>
        <p:spPr>
          <a:xfrm>
            <a:off x="342900" y="2983230"/>
            <a:ext cx="5212080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All figures on the held-out test split. The only meaningful configuration difference between these runs is the learning rate actually applied (0.001 vs. ~0.000105) and a small amount of rotation augmentation (0° vs. 5.5°) — epochs, batch size, dataset, and seed held constant.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5726430" y="1062990"/>
            <a:ext cx="3017520" cy="3120390"/>
          </a:xfrm>
          <a:prstGeom prst="roundRect">
            <a:avLst>
              <a:gd fmla="val 1818" name="adj"/>
            </a:avLst>
          </a:prstGeom>
          <a:solidFill>
            <a:srgbClr val="0A2E29"/>
          </a:solidFill>
          <a:ln cap="flat" cmpd="sng" w="12700">
            <a:solidFill>
              <a:srgbClr val="4FD1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/>
          <p:nvPr/>
        </p:nvSpPr>
        <p:spPr>
          <a:xfrm>
            <a:off x="5966460" y="1268730"/>
            <a:ext cx="257175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D1C5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4FD1C5"/>
                </a:solidFill>
                <a:latin typeface="Calibri"/>
                <a:ea typeface="Calibri"/>
                <a:cs typeface="Calibri"/>
                <a:sym typeface="Calibri"/>
              </a:rPr>
              <a:t>WHY THIS ISN'T JUST MORE TRAINING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5966460" y="1680210"/>
            <a:ext cx="2571750" cy="788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The Extended run (60 epochs, same untuned config) landed within 0.004 of the 40-epoch Baseline on every metric — 20 extra epochs of unmodified training bought almost nothing.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5966460" y="2571750"/>
            <a:ext cx="2571750" cy="891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The Tuned run, at the same 40 epochs as Baseline, outperforms even the 60-epoch Extended run on every metric. The gain traces to the corrected learning rate, not additional compute.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342900" y="4910328"/>
            <a:ext cx="65151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Multimodal Damage Assessment for Insurance Claims  ·  Milestone 5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8641080" y="4910328"/>
            <a:ext cx="2743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4"/>
          <p:cNvSpPr/>
          <p:nvPr/>
        </p:nvSpPr>
        <p:spPr>
          <a:xfrm>
            <a:off x="342900" y="260604"/>
            <a:ext cx="84353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D1C5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4FD1C5"/>
                </a:solidFill>
                <a:latin typeface="Calibri"/>
                <a:ea typeface="Calibri"/>
                <a:cs typeface="Calibri"/>
                <a:sym typeface="Calibri"/>
              </a:rPr>
              <a:t>09 · ERROR 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4"/>
          <p:cNvSpPr/>
          <p:nvPr/>
        </p:nvSpPr>
        <p:spPr>
          <a:xfrm>
            <a:off x="342900" y="452628"/>
            <a:ext cx="843534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Confusion Matrix, Read Closely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onfmat.png" id="230" name="Google Shape;23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1028700"/>
            <a:ext cx="4594860" cy="346329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4"/>
          <p:cNvSpPr/>
          <p:nvPr/>
        </p:nvSpPr>
        <p:spPr>
          <a:xfrm>
            <a:off x="5143500" y="1062990"/>
            <a:ext cx="36347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665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E0665A"/>
                </a:solidFill>
                <a:latin typeface="Calibri"/>
                <a:ea typeface="Calibri"/>
                <a:cs typeface="Calibri"/>
                <a:sym typeface="Calibri"/>
              </a:rPr>
              <a:t>THE STANDOUT NUMBER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4"/>
          <p:cNvSpPr/>
          <p:nvPr/>
        </p:nvSpPr>
        <p:spPr>
          <a:xfrm>
            <a:off x="5143500" y="1303020"/>
            <a:ext cx="3634740" cy="925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scratch has a 0.53 predicted-as-background rate — by far the largest miss rate of any class (dent 0.20, crack 0.15, broken_lamp 0.07, shattered_glass 0.02, flat_tyre 0.04). Over half of true scratches are missed outright, not misclassified as another damage type.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4"/>
          <p:cNvSpPr/>
          <p:nvPr/>
        </p:nvSpPr>
        <p:spPr>
          <a:xfrm>
            <a:off x="5143500" y="2331720"/>
            <a:ext cx="36347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D1C5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4FD1C5"/>
                </a:solidFill>
                <a:latin typeface="Calibri"/>
                <a:ea typeface="Calibri"/>
                <a:cs typeface="Calibri"/>
                <a:sym typeface="Calibri"/>
              </a:rPr>
              <a:t>DIAGONAL ACCURACY BY CLASS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4" name="Google Shape;234;p24"/>
          <p:cNvGraphicFramePr/>
          <p:nvPr/>
        </p:nvGraphicFramePr>
        <p:xfrm>
          <a:off x="5143500" y="25511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{B37A591F-D795-4BDC-B4C4-CA4410868A6A}</a:tableStyleId>
              </a:tblPr>
              <a:tblGrid>
                <a:gridCol w="1577325"/>
                <a:gridCol w="1028700"/>
                <a:gridCol w="1028700"/>
              </a:tblGrid>
              <a:tr h="249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D1C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4FD1C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9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D1C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4FD1C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Correct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9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D1C5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4FD1C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→ Background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293F"/>
                    </a:solidFill>
                  </a:tcPr>
                </a:tc>
              </a:tr>
              <a:tr h="249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D1C5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4FD1C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shattered_glass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</a:tr>
              <a:tr h="249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dent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0.63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</a:tr>
              <a:tr h="249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0665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E0665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scratch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0.62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0665A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E0665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0.53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</a:tr>
              <a:tr h="249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broken_lamp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0.59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0.07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</a:tr>
              <a:tr h="249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crack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0.49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0.15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</a:tr>
              <a:tr h="249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flat_tyre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0.45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8C4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9CA8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0.04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3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</a:tr>
            </a:tbl>
          </a:graphicData>
        </a:graphic>
      </p:graphicFrame>
      <p:sp>
        <p:nvSpPr>
          <p:cNvPr id="235" name="Google Shape;235;p24"/>
          <p:cNvSpPr/>
          <p:nvPr/>
        </p:nvSpPr>
        <p:spPr>
          <a:xfrm>
            <a:off x="342900" y="4910328"/>
            <a:ext cx="65151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Multimodal Damage Assessment for Insurance Claims  ·  Milestone 5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4"/>
          <p:cNvSpPr/>
          <p:nvPr/>
        </p:nvSpPr>
        <p:spPr>
          <a:xfrm>
            <a:off x="8641080" y="4910328"/>
            <a:ext cx="2743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/>
          <p:nvPr/>
        </p:nvSpPr>
        <p:spPr>
          <a:xfrm>
            <a:off x="342900" y="260604"/>
            <a:ext cx="84353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D1C5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4FD1C5"/>
                </a:solidFill>
                <a:latin typeface="Calibri"/>
                <a:ea typeface="Calibri"/>
                <a:cs typeface="Calibri"/>
                <a:sym typeface="Calibri"/>
              </a:rPr>
              <a:t>10 · ERROR 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5"/>
          <p:cNvSpPr/>
          <p:nvPr/>
        </p:nvSpPr>
        <p:spPr>
          <a:xfrm>
            <a:off x="342900" y="452628"/>
            <a:ext cx="843534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 Concrete Failure Case, and Why It Happens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ailure_example.png" id="244" name="Google Shape;24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1028700"/>
            <a:ext cx="3223260" cy="336042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5"/>
          <p:cNvSpPr/>
          <p:nvPr/>
        </p:nvSpPr>
        <p:spPr>
          <a:xfrm>
            <a:off x="342900" y="4423410"/>
            <a:ext cx="32232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700"/>
              <a:buFont typeface="Calibri"/>
              <a:buNone/>
            </a:pPr>
            <a:r>
              <a:rPr b="0" i="1" lang="en" sz="7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A single continuous scratch, one ground-truth instance, split into two separate predictions (0.78 and 0.31 confidence) — over-segmentation on a low-contrast, elongated damage region.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3806190" y="1028700"/>
            <a:ext cx="4992624" cy="3394710"/>
          </a:xfrm>
          <a:prstGeom prst="roundRect">
            <a:avLst>
              <a:gd fmla="val 1616" name="adj"/>
            </a:avLst>
          </a:prstGeom>
          <a:solidFill>
            <a:srgbClr val="17293F"/>
          </a:solidFill>
          <a:ln cap="flat" cmpd="sng" w="9525">
            <a:solidFill>
              <a:srgbClr val="273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5"/>
          <p:cNvSpPr/>
          <p:nvPr/>
        </p:nvSpPr>
        <p:spPr>
          <a:xfrm>
            <a:off x="4046220" y="1213866"/>
            <a:ext cx="4526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D1C5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4FD1C5"/>
                </a:solidFill>
                <a:latin typeface="Calibri"/>
                <a:ea typeface="Calibri"/>
                <a:cs typeface="Calibri"/>
                <a:sym typeface="Calibri"/>
              </a:rPr>
              <a:t>ROOT-CAUSE READING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4046220" y="1508760"/>
            <a:ext cx="4526280" cy="788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shattered_glass and broken_lamp are visually distinct — sharp contrast, unusual reflectivity — and substantially outperform dent, scratch, and crack, which are subtle, low-contrast, and can resemble ordinary body-panel shadows or reflections.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4046220" y="2366010"/>
            <a:ext cx="4526280" cy="925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This gap persisted unchanged across the Baseline, Extended, and Tuned checkpoints — three different training configurations, one consistent pattern, now confirmed on the held-out test split too. That consistency points to a property of the damage types themselves, not a fixable training artifact.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4046220" y="3360420"/>
            <a:ext cx="4526280" cy="925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Addressing it would more likely require higher input resolution or targeted additional data for the weak classes than further hyperparameter tuning (Section 12).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342900" y="4910328"/>
            <a:ext cx="65151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Multimodal Damage Assessment for Insurance Claims  ·  Milestone 5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8641080" y="4910328"/>
            <a:ext cx="2743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/>
          <p:nvPr/>
        </p:nvSpPr>
        <p:spPr>
          <a:xfrm>
            <a:off x="342900" y="260604"/>
            <a:ext cx="84353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D1C5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4FD1C5"/>
                </a:solidFill>
                <a:latin typeface="Calibri"/>
                <a:ea typeface="Calibri"/>
                <a:cs typeface="Calibri"/>
                <a:sym typeface="Calibri"/>
              </a:rPr>
              <a:t>11 · LIMITATIONS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6"/>
          <p:cNvSpPr/>
          <p:nvPr/>
        </p:nvSpPr>
        <p:spPr>
          <a:xfrm>
            <a:off x="342900" y="452628"/>
            <a:ext cx="843534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What This Evaluation Does Not Yet Cover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6"/>
          <p:cNvSpPr/>
          <p:nvPr/>
        </p:nvSpPr>
        <p:spPr>
          <a:xfrm>
            <a:off x="342900" y="1062990"/>
            <a:ext cx="2708910" cy="2297430"/>
          </a:xfrm>
          <a:prstGeom prst="roundRect">
            <a:avLst>
              <a:gd fmla="val 2388" name="adj"/>
            </a:avLst>
          </a:prstGeom>
          <a:solidFill>
            <a:srgbClr val="17293F"/>
          </a:solidFill>
          <a:ln cap="flat" cmpd="sng" w="9525">
            <a:solidFill>
              <a:srgbClr val="273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6"/>
          <p:cNvSpPr/>
          <p:nvPr/>
        </p:nvSpPr>
        <p:spPr>
          <a:xfrm>
            <a:off x="534924" y="1268730"/>
            <a:ext cx="96012" cy="96012"/>
          </a:xfrm>
          <a:prstGeom prst="ellipse">
            <a:avLst/>
          </a:prstGeom>
          <a:solidFill>
            <a:srgbClr val="E0665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/>
          <p:nvPr/>
        </p:nvSpPr>
        <p:spPr>
          <a:xfrm>
            <a:off x="534924" y="1426464"/>
            <a:ext cx="233172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Ablation study pending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6"/>
          <p:cNvSpPr/>
          <p:nvPr/>
        </p:nvSpPr>
        <p:spPr>
          <a:xfrm>
            <a:off x="534924" y="1796796"/>
            <a:ext cx="233172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Test-split evaluation, confusion matrix, and robustness checks are now complete — but the augmentation on/off ablation isolating degrees=5.5's individual contribution has not yet been run.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6"/>
          <p:cNvSpPr/>
          <p:nvPr/>
        </p:nvSpPr>
        <p:spPr>
          <a:xfrm>
            <a:off x="5495569" y="1003090"/>
            <a:ext cx="2709000" cy="2297400"/>
          </a:xfrm>
          <a:prstGeom prst="roundRect">
            <a:avLst>
              <a:gd fmla="val 2388" name="adj"/>
            </a:avLst>
          </a:prstGeom>
          <a:solidFill>
            <a:srgbClr val="17293F"/>
          </a:solidFill>
          <a:ln cap="flat" cmpd="sng" w="9525">
            <a:solidFill>
              <a:srgbClr val="273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6"/>
          <p:cNvSpPr/>
          <p:nvPr/>
        </p:nvSpPr>
        <p:spPr>
          <a:xfrm>
            <a:off x="5777825" y="1426500"/>
            <a:ext cx="2331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Robustness gap found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5777818" y="1796796"/>
            <a:ext cx="2331600" cy="14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Under synthetic brightness increase, </a:t>
            </a:r>
            <a:r>
              <a:rPr lang="en" sz="800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 of 5 sampled images produced zero detections outright — the model's most fragile tested condition. Blur and darkening were comparatively better tolerated.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6"/>
          <p:cNvSpPr/>
          <p:nvPr/>
        </p:nvSpPr>
        <p:spPr>
          <a:xfrm>
            <a:off x="7531537" y="1268730"/>
            <a:ext cx="96000" cy="96000"/>
          </a:xfrm>
          <a:prstGeom prst="ellipse">
            <a:avLst/>
          </a:prstGeom>
          <a:solidFill>
            <a:srgbClr val="E0665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6"/>
          <p:cNvSpPr/>
          <p:nvPr/>
        </p:nvSpPr>
        <p:spPr>
          <a:xfrm>
            <a:off x="342900" y="3566160"/>
            <a:ext cx="8435340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Bias and ethics: not formally assessed — no metadata (make, colour, severity) exists to check uneven performance across sub-populations. The known weakest classes (dent/scratch/crack) becoming false negatives in production would under-assess the most common real damage types — a risk for whatever human-review process the deployed system uses.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6"/>
          <p:cNvSpPr/>
          <p:nvPr/>
        </p:nvSpPr>
        <p:spPr>
          <a:xfrm>
            <a:off x="342900" y="4910328"/>
            <a:ext cx="65151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Multimodal Damage Assessment for Insurance Claims  ·  Milestone 5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6"/>
          <p:cNvSpPr/>
          <p:nvPr/>
        </p:nvSpPr>
        <p:spPr>
          <a:xfrm>
            <a:off x="8641080" y="4910328"/>
            <a:ext cx="2743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7"/>
          <p:cNvSpPr/>
          <p:nvPr/>
        </p:nvSpPr>
        <p:spPr>
          <a:xfrm>
            <a:off x="342900" y="260604"/>
            <a:ext cx="84353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D1C5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4FD1C5"/>
                </a:solidFill>
                <a:latin typeface="Calibri"/>
                <a:ea typeface="Calibri"/>
                <a:cs typeface="Calibri"/>
                <a:sym typeface="Calibri"/>
              </a:rPr>
              <a:t>12 · POSSIBLE IMPROVEMENTS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7"/>
          <p:cNvSpPr/>
          <p:nvPr/>
        </p:nvSpPr>
        <p:spPr>
          <a:xfrm>
            <a:off x="342900" y="452628"/>
            <a:ext cx="843534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Concrete Next Steps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7"/>
          <p:cNvSpPr/>
          <p:nvPr/>
        </p:nvSpPr>
        <p:spPr>
          <a:xfrm>
            <a:off x="342900" y="1062990"/>
            <a:ext cx="233172" cy="233172"/>
          </a:xfrm>
          <a:prstGeom prst="ellipse">
            <a:avLst/>
          </a:prstGeom>
          <a:solidFill>
            <a:srgbClr val="4FD1C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7"/>
          <p:cNvSpPr/>
          <p:nvPr/>
        </p:nvSpPr>
        <p:spPr>
          <a:xfrm>
            <a:off x="342900" y="1059561"/>
            <a:ext cx="233172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7"/>
          <p:cNvSpPr/>
          <p:nvPr/>
        </p:nvSpPr>
        <p:spPr>
          <a:xfrm>
            <a:off x="672084" y="1021842"/>
            <a:ext cx="381990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 the augmentation ablation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7"/>
          <p:cNvSpPr/>
          <p:nvPr/>
        </p:nvSpPr>
        <p:spPr>
          <a:xfrm>
            <a:off x="672084" y="1241298"/>
            <a:ext cx="3819906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Isolate degrees=5.5's individual contribution from the lr0 fix — the one piece of the tuned config not yet independently verified.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7"/>
          <p:cNvSpPr/>
          <p:nvPr/>
        </p:nvSpPr>
        <p:spPr>
          <a:xfrm>
            <a:off x="4732020" y="1062990"/>
            <a:ext cx="233172" cy="23317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7"/>
          <p:cNvSpPr/>
          <p:nvPr/>
        </p:nvSpPr>
        <p:spPr>
          <a:xfrm>
            <a:off x="4732020" y="1059561"/>
            <a:ext cx="233172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7"/>
          <p:cNvSpPr/>
          <p:nvPr/>
        </p:nvSpPr>
        <p:spPr>
          <a:xfrm>
            <a:off x="5061204" y="1021842"/>
            <a:ext cx="381990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Reconcile the two tracks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7"/>
          <p:cNvSpPr/>
          <p:nvPr/>
        </p:nvSpPr>
        <p:spPr>
          <a:xfrm>
            <a:off x="5061204" y="1241298"/>
            <a:ext cx="3819906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A direct, same-split comparison would clarify whether domain pretraining (CarDD) or the lr0 fix is the larger lever — or whether combining both wins outright.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7"/>
          <p:cNvSpPr/>
          <p:nvPr/>
        </p:nvSpPr>
        <p:spPr>
          <a:xfrm>
            <a:off x="342900" y="2173986"/>
            <a:ext cx="233172" cy="233172"/>
          </a:xfrm>
          <a:prstGeom prst="ellipse">
            <a:avLst/>
          </a:prstGeom>
          <a:solidFill>
            <a:srgbClr val="E0665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7"/>
          <p:cNvSpPr/>
          <p:nvPr/>
        </p:nvSpPr>
        <p:spPr>
          <a:xfrm>
            <a:off x="342900" y="2170557"/>
            <a:ext cx="233172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7"/>
          <p:cNvSpPr/>
          <p:nvPr/>
        </p:nvSpPr>
        <p:spPr>
          <a:xfrm>
            <a:off x="672084" y="2132838"/>
            <a:ext cx="381990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Targeted data for weak classes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7"/>
          <p:cNvSpPr/>
          <p:nvPr/>
        </p:nvSpPr>
        <p:spPr>
          <a:xfrm>
            <a:off x="672084" y="2352294"/>
            <a:ext cx="3819906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Diverse dent/scratch/crack examples, not more volume — matches Milestone 4's identical finding that augmentation and reweighting alone didn't close this gap.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7"/>
          <p:cNvSpPr/>
          <p:nvPr/>
        </p:nvSpPr>
        <p:spPr>
          <a:xfrm>
            <a:off x="4732020" y="2173986"/>
            <a:ext cx="233172" cy="233172"/>
          </a:xfrm>
          <a:prstGeom prst="ellipse">
            <a:avLst/>
          </a:prstGeom>
          <a:solidFill>
            <a:srgbClr val="4FD1C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7"/>
          <p:cNvSpPr/>
          <p:nvPr/>
        </p:nvSpPr>
        <p:spPr>
          <a:xfrm>
            <a:off x="4732020" y="2170557"/>
            <a:ext cx="233172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7"/>
          <p:cNvSpPr/>
          <p:nvPr/>
        </p:nvSpPr>
        <p:spPr>
          <a:xfrm>
            <a:off x="5061204" y="2132838"/>
            <a:ext cx="381990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Higher input resolution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7"/>
          <p:cNvSpPr/>
          <p:nvPr/>
        </p:nvSpPr>
        <p:spPr>
          <a:xfrm>
            <a:off x="5061204" y="2352294"/>
            <a:ext cx="3819906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imgsz=1280 to preserve fine detail relevant to thin scratches and cracks, trading inference speed for detail.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7"/>
          <p:cNvSpPr/>
          <p:nvPr/>
        </p:nvSpPr>
        <p:spPr>
          <a:xfrm>
            <a:off x="342900" y="3284982"/>
            <a:ext cx="233172" cy="23317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7"/>
          <p:cNvSpPr/>
          <p:nvPr/>
        </p:nvSpPr>
        <p:spPr>
          <a:xfrm>
            <a:off x="342900" y="3281553"/>
            <a:ext cx="233172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7"/>
          <p:cNvSpPr/>
          <p:nvPr/>
        </p:nvSpPr>
        <p:spPr>
          <a:xfrm>
            <a:off x="672084" y="3243834"/>
            <a:ext cx="381990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Harden against bright conditions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7"/>
          <p:cNvSpPr/>
          <p:nvPr/>
        </p:nvSpPr>
        <p:spPr>
          <a:xfrm>
            <a:off x="672084" y="3463290"/>
            <a:ext cx="3819906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4 of 5 sampled images failed outright under brightness increase — worth targeted brightness augmentation or an exposure pre-check in production.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7"/>
          <p:cNvSpPr/>
          <p:nvPr/>
        </p:nvSpPr>
        <p:spPr>
          <a:xfrm>
            <a:off x="4732020" y="3284982"/>
            <a:ext cx="233172" cy="233172"/>
          </a:xfrm>
          <a:prstGeom prst="ellipse">
            <a:avLst/>
          </a:prstGeom>
          <a:solidFill>
            <a:srgbClr val="E0665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7"/>
          <p:cNvSpPr/>
          <p:nvPr/>
        </p:nvSpPr>
        <p:spPr>
          <a:xfrm>
            <a:off x="4732020" y="3281553"/>
            <a:ext cx="233172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7"/>
          <p:cNvSpPr/>
          <p:nvPr/>
        </p:nvSpPr>
        <p:spPr>
          <a:xfrm>
            <a:off x="5061204" y="3243834"/>
            <a:ext cx="381990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External benchmark comparison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7"/>
          <p:cNvSpPr/>
          <p:nvPr/>
        </p:nvSpPr>
        <p:spPr>
          <a:xfrm>
            <a:off x="5061204" y="3463290"/>
            <a:ext cx="3819906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Compare against the published CarDD paper's per-class AP figures, as Milestone 4 did, now that test-split numbers exist.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7"/>
          <p:cNvSpPr/>
          <p:nvPr/>
        </p:nvSpPr>
        <p:spPr>
          <a:xfrm>
            <a:off x="342900" y="4910328"/>
            <a:ext cx="65151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Multimodal Damage Assessment for Insurance Claims  ·  Milestone 5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7"/>
          <p:cNvSpPr/>
          <p:nvPr/>
        </p:nvSpPr>
        <p:spPr>
          <a:xfrm>
            <a:off x="8641080" y="4910328"/>
            <a:ext cx="2743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8"/>
          <p:cNvSpPr/>
          <p:nvPr/>
        </p:nvSpPr>
        <p:spPr>
          <a:xfrm>
            <a:off x="342900" y="260604"/>
            <a:ext cx="84353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D1C5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4FD1C5"/>
                </a:solidFill>
                <a:latin typeface="Calibri"/>
                <a:ea typeface="Calibri"/>
                <a:cs typeface="Calibri"/>
                <a:sym typeface="Calibri"/>
              </a:rPr>
              <a:t>13 · SUMMARY AND NEXT STEPS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8"/>
          <p:cNvSpPr/>
          <p:nvPr/>
        </p:nvSpPr>
        <p:spPr>
          <a:xfrm>
            <a:off x="342900" y="452628"/>
            <a:ext cx="843534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What's Ready, What Isn't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8"/>
          <p:cNvSpPr/>
          <p:nvPr/>
        </p:nvSpPr>
        <p:spPr>
          <a:xfrm>
            <a:off x="342900" y="1097280"/>
            <a:ext cx="4080510" cy="3086100"/>
          </a:xfrm>
          <a:prstGeom prst="roundRect">
            <a:avLst>
              <a:gd fmla="val 1778" name="adj"/>
            </a:avLst>
          </a:prstGeom>
          <a:solidFill>
            <a:srgbClr val="0A2E29"/>
          </a:solidFill>
          <a:ln cap="flat" cmpd="sng" w="12700">
            <a:solidFill>
              <a:srgbClr val="4FD1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8"/>
          <p:cNvSpPr/>
          <p:nvPr/>
        </p:nvSpPr>
        <p:spPr>
          <a:xfrm>
            <a:off x="582930" y="1268730"/>
            <a:ext cx="36004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D1C5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4FD1C5"/>
                </a:solidFill>
                <a:latin typeface="Calibri"/>
                <a:ea typeface="Calibri"/>
                <a:cs typeface="Calibri"/>
                <a:sym typeface="Calibri"/>
              </a:rPr>
              <a:t>READY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8"/>
          <p:cNvSpPr/>
          <p:nvPr/>
        </p:nvSpPr>
        <p:spPr>
          <a:xfrm>
            <a:off x="582930" y="1632204"/>
            <a:ext cx="82296" cy="82296"/>
          </a:xfrm>
          <a:prstGeom prst="ellipse">
            <a:avLst/>
          </a:prstGeom>
          <a:solidFill>
            <a:srgbClr val="4FD1C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8"/>
          <p:cNvSpPr/>
          <p:nvPr/>
        </p:nvSpPr>
        <p:spPr>
          <a:xfrm>
            <a:off x="754380" y="1563624"/>
            <a:ext cx="3394710" cy="720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A Tuned checkpoint that outperforms Baseline on every held-out test-split metric, with the improvement traced to a specific, disclosed configuration fix.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8"/>
          <p:cNvSpPr/>
          <p:nvPr/>
        </p:nvSpPr>
        <p:spPr>
          <a:xfrm>
            <a:off x="582930" y="2420874"/>
            <a:ext cx="82296" cy="82296"/>
          </a:xfrm>
          <a:prstGeom prst="ellipse">
            <a:avLst/>
          </a:prstGeom>
          <a:solidFill>
            <a:srgbClr val="4FD1C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8"/>
          <p:cNvSpPr/>
          <p:nvPr/>
        </p:nvSpPr>
        <p:spPr>
          <a:xfrm>
            <a:off x="754380" y="2352294"/>
            <a:ext cx="3394710" cy="720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A corroborated headline finding: the dent/scratch/crack weakness reproduces independently across two differently-pretrained tracks (this one and Milestone 4's).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8"/>
          <p:cNvSpPr/>
          <p:nvPr/>
        </p:nvSpPr>
        <p:spPr>
          <a:xfrm>
            <a:off x="582930" y="3209544"/>
            <a:ext cx="82296" cy="82296"/>
          </a:xfrm>
          <a:prstGeom prst="ellipse">
            <a:avLst/>
          </a:prstGeom>
          <a:solidFill>
            <a:srgbClr val="4FD1C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8"/>
          <p:cNvSpPr/>
          <p:nvPr/>
        </p:nvSpPr>
        <p:spPr>
          <a:xfrm>
            <a:off x="754380" y="3140964"/>
            <a:ext cx="3394710" cy="720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Test-split evaluation, confusion matrix, and robustness checks are complete — including a specific, quantified failure mode (brightness sensitivity) worth acting on.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8"/>
          <p:cNvSpPr/>
          <p:nvPr/>
        </p:nvSpPr>
        <p:spPr>
          <a:xfrm>
            <a:off x="4718304" y="1097280"/>
            <a:ext cx="4080600" cy="3086100"/>
          </a:xfrm>
          <a:prstGeom prst="roundRect">
            <a:avLst>
              <a:gd fmla="val 1778" name="adj"/>
            </a:avLst>
          </a:prstGeom>
          <a:solidFill>
            <a:srgbClr val="17293F"/>
          </a:solidFill>
          <a:ln cap="flat" cmpd="sng" w="9525">
            <a:solidFill>
              <a:srgbClr val="273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8"/>
          <p:cNvSpPr/>
          <p:nvPr/>
        </p:nvSpPr>
        <p:spPr>
          <a:xfrm>
            <a:off x="4958334" y="1268730"/>
            <a:ext cx="36004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665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E0665A"/>
                </a:solidFill>
                <a:latin typeface="Calibri"/>
                <a:ea typeface="Calibri"/>
                <a:cs typeface="Calibri"/>
                <a:sym typeface="Calibri"/>
              </a:rPr>
              <a:t>NOT YET READY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8"/>
          <p:cNvSpPr/>
          <p:nvPr/>
        </p:nvSpPr>
        <p:spPr>
          <a:xfrm>
            <a:off x="4958334" y="1632204"/>
            <a:ext cx="82296" cy="82296"/>
          </a:xfrm>
          <a:prstGeom prst="ellipse">
            <a:avLst/>
          </a:prstGeom>
          <a:solidFill>
            <a:srgbClr val="E0665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8"/>
          <p:cNvSpPr/>
          <p:nvPr/>
        </p:nvSpPr>
        <p:spPr>
          <a:xfrm>
            <a:off x="5129784" y="1563624"/>
            <a:ext cx="3394710" cy="720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The augmentation ablation (isolating degrees=5.5 from the lr0 fix) has not been run — the tuned config's two changes are not yet separately attributed.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8"/>
          <p:cNvSpPr/>
          <p:nvPr/>
        </p:nvSpPr>
        <p:spPr>
          <a:xfrm>
            <a:off x="5129784" y="2352294"/>
            <a:ext cx="3394710" cy="720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8"/>
          <p:cNvSpPr/>
          <p:nvPr/>
        </p:nvSpPr>
        <p:spPr>
          <a:xfrm>
            <a:off x="4958334" y="3209544"/>
            <a:ext cx="82200" cy="82200"/>
          </a:xfrm>
          <a:prstGeom prst="ellipse">
            <a:avLst/>
          </a:prstGeom>
          <a:solidFill>
            <a:srgbClr val="E0665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8"/>
          <p:cNvSpPr/>
          <p:nvPr/>
        </p:nvSpPr>
        <p:spPr>
          <a:xfrm>
            <a:off x="5129747" y="2969514"/>
            <a:ext cx="3394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The brightness-sensitivity failure mode found in robustness testing has not been mitigated or further investigated — flagged, not yet addressed.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8"/>
          <p:cNvSpPr/>
          <p:nvPr/>
        </p:nvSpPr>
        <p:spPr>
          <a:xfrm>
            <a:off x="342900" y="4910328"/>
            <a:ext cx="65151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Multimodal Damage Assessment for Insurance Claims  ·  Milestone 5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8"/>
          <p:cNvSpPr/>
          <p:nvPr/>
        </p:nvSpPr>
        <p:spPr>
          <a:xfrm>
            <a:off x="8641080" y="4910328"/>
            <a:ext cx="2743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9"/>
          <p:cNvSpPr/>
          <p:nvPr/>
        </p:nvSpPr>
        <p:spPr>
          <a:xfrm>
            <a:off x="7269480" y="-960120"/>
            <a:ext cx="3154680" cy="3154680"/>
          </a:xfrm>
          <a:prstGeom prst="ellipse">
            <a:avLst/>
          </a:prstGeom>
          <a:noFill/>
          <a:ln cap="flat" cmpd="sng" w="15875">
            <a:solidFill>
              <a:srgbClr val="4FD1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9"/>
          <p:cNvSpPr/>
          <p:nvPr/>
        </p:nvSpPr>
        <p:spPr>
          <a:xfrm>
            <a:off x="-822960" y="3154680"/>
            <a:ext cx="2194560" cy="2194560"/>
          </a:xfrm>
          <a:prstGeom prst="ellipse">
            <a:avLst/>
          </a:prstGeom>
          <a:noFill/>
          <a:ln cap="flat" cmpd="sng" w="15875">
            <a:solidFill>
              <a:srgbClr val="4FD1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9"/>
          <p:cNvSpPr/>
          <p:nvPr/>
        </p:nvSpPr>
        <p:spPr>
          <a:xfrm>
            <a:off x="480060" y="3669030"/>
            <a:ext cx="4251960" cy="994410"/>
          </a:xfrm>
          <a:prstGeom prst="roundRect">
            <a:avLst>
              <a:gd fmla="val 5517" name="adj"/>
            </a:avLst>
          </a:prstGeom>
          <a:solidFill>
            <a:srgbClr val="17293F"/>
          </a:solidFill>
          <a:ln cap="flat" cmpd="sng" w="9525">
            <a:solidFill>
              <a:srgbClr val="273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9"/>
          <p:cNvSpPr/>
          <p:nvPr/>
        </p:nvSpPr>
        <p:spPr>
          <a:xfrm>
            <a:off x="480060" y="1851660"/>
            <a:ext cx="61722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9"/>
          <p:cNvSpPr/>
          <p:nvPr/>
        </p:nvSpPr>
        <p:spPr>
          <a:xfrm>
            <a:off x="480060" y="2434590"/>
            <a:ext cx="617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8C4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Questions and Discussion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9"/>
          <p:cNvSpPr/>
          <p:nvPr/>
        </p:nvSpPr>
        <p:spPr>
          <a:xfrm>
            <a:off x="651510" y="3806190"/>
            <a:ext cx="390906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GitHub:  </a:t>
            </a: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HiveCase/Group-1-DS-and-AI-Lab-Project</a:t>
            </a:r>
            <a:b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Notebook:  </a:t>
            </a: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Milestone 5 evaluation notebook (test-split evaluation complete)</a:t>
            </a:r>
            <a:b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Course:  </a:t>
            </a:r>
            <a:r>
              <a:rPr b="0" i="0" lang="en" sz="800" u="none" cap="none" strike="noStrike">
                <a:solidFill>
                  <a:srgbClr val="9CA8C4"/>
                </a:solidFill>
                <a:latin typeface="Calibri"/>
                <a:ea typeface="Calibri"/>
                <a:cs typeface="Calibri"/>
                <a:sym typeface="Calibri"/>
              </a:rPr>
              <a:t>DS and AI Lab · May 2026 · Group 1 · IIT Madras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