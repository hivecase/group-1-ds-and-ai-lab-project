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Calibri"/>
              </a:rPr>
              <a:t>Validation performance — Baseline vs. Tuned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6B7A9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Box mAP50</c:v>
                  </c:pt>
                  <c:pt idx="1">
                    <c:v>Box mAP50-95</c:v>
                  </c:pt>
                  <c:pt idx="2">
                    <c:v>Mask mAP50</c:v>
                  </c:pt>
                  <c:pt idx="3">
                    <c:v>Mask mAP50-95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0.443</c:v>
                </c:pt>
                <c:pt idx="1">
                  <c:v>0.269</c:v>
                </c:pt>
                <c:pt idx="2">
                  <c:v>0.4</c:v>
                </c:pt>
                <c:pt idx="3">
                  <c:v>0.209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Tuned</c:v>
                </c:pt>
              </c:strCache>
            </c:strRef>
          </c:tx>
          <c:spPr>
            <a:solidFill>
              <a:srgbClr val="4FD1C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Box mAP50</c:v>
                  </c:pt>
                  <c:pt idx="1">
                    <c:v>Box mAP50-95</c:v>
                  </c:pt>
                  <c:pt idx="2">
                    <c:v>Mask mAP50</c:v>
                  </c:pt>
                  <c:pt idx="3">
                    <c:v>Mask mAP50-95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0.485</c:v>
                </c:pt>
                <c:pt idx="1">
                  <c:v>0.3</c:v>
                </c:pt>
                <c:pt idx="2">
                  <c:v>0.449</c:v>
                </c:pt>
                <c:pt idx="3">
                  <c:v>0.241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5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CA8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738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CA8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CA8C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150" b="0" i="0" u="none" strike="noStrike">
                <a:solidFill>
                  <a:srgbClr val="FFFFFF"/>
                </a:solidFill>
                <a:latin typeface="Calibri"/>
              </a:rPr>
              <a:t>lr0 (ascending) vs. validation mask mAP50 — 12 trials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Mask mAP50</c:v>
                </c:pt>
              </c:strCache>
            </c:strRef>
          </c:tx>
          <c:spPr>
            <a:solidFill>
              <a:srgbClr val="4FD1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5e-5</c:v>
                  </c:pt>
                  <c:pt idx="1">
                    <c:v>5.2e-5</c:v>
                  </c:pt>
                  <c:pt idx="2">
                    <c:v>6.8e-5</c:v>
                  </c:pt>
                  <c:pt idx="3">
                    <c:v>1.0e-4</c:v>
                  </c:pt>
                  <c:pt idx="4">
                    <c:v>1.3e-4</c:v>
                  </c:pt>
                  <c:pt idx="5">
                    <c:v>3.4e-4</c:v>
                  </c:pt>
                  <c:pt idx="6">
                    <c:v>3.6e-4</c:v>
                  </c:pt>
                  <c:pt idx="7">
                    <c:v>4.9e-4</c:v>
                  </c:pt>
                  <c:pt idx="8">
                    <c:v>1.2e-3</c:v>
                  </c:pt>
                  <c:pt idx="9">
                    <c:v>2.1e-3</c:v>
                  </c:pt>
                  <c:pt idx="10">
                    <c:v>4.1e-3</c:v>
                  </c:pt>
                  <c:pt idx="11">
                    <c:v>7.7e-3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0.35</c:v>
                </c:pt>
                <c:pt idx="1">
                  <c:v>0.3472</c:v>
                </c:pt>
                <c:pt idx="2">
                  <c:v>0.3504</c:v>
                </c:pt>
                <c:pt idx="3">
                  <c:v>0.3511</c:v>
                </c:pt>
                <c:pt idx="4">
                  <c:v>0.3477</c:v>
                </c:pt>
                <c:pt idx="5">
                  <c:v>0.3053</c:v>
                </c:pt>
                <c:pt idx="6">
                  <c:v>0.3063</c:v>
                </c:pt>
                <c:pt idx="7">
                  <c:v>0.272</c:v>
                </c:pt>
                <c:pt idx="8">
                  <c:v>0.2125</c:v>
                </c:pt>
                <c:pt idx="9">
                  <c:v>0.1576</c:v>
                </c:pt>
                <c:pt idx="10">
                  <c:v>0.1165</c:v>
                </c:pt>
                <c:pt idx="11">
                  <c:v>0.093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9CA8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7384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9CA8C4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9CA8C4"/>
                    </a:solidFill>
                    <a:latin typeface="Arial"/>
                  </a:rPr>
                  <a:t>mask mAP50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9CA8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220"/>
        </a:solidFill>
        <a:ln>
          <a:noFill/>
        </a:ln>
        <a:effectLst/>
      </c:spPr>
    </c:plotArea>
    <c:plotVisOnly val="1"/>
    <c:dispBlanksAs val="span"/>
  </c:chart>
  <c:spPr>
    <a:solidFill>
      <a:srgbClr val="0B12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ln w="15875">
            <a:solidFill>
              <a:srgbClr val="4FD1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06240"/>
            <a:ext cx="2926080" cy="2926080"/>
          </a:xfrm>
          <a:prstGeom prst="ellipse">
            <a:avLst/>
          </a:prstGeom>
          <a:ln w="15875">
            <a:solidFill>
              <a:srgbClr val="4FD1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AI LAB  ·  GROUP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Damage Assessment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Insurance Claims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5. Model Evaluation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Satyajeet Kumar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 Gautam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Pranab Kumar Manna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Siva Kamal Guddanti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Pal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Trained Checkpoints to an Evaluated Model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675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produced several fine-tuned checkpoints across two parallel tracks. This milestone evaluates one of them in depth: a COCO-pretrained YOLO11m-seg model, fine-tuned on Google Colab, tuned with a corrected Optuna hyperparameter search, and assessed against appropriate segmentation metrics with error analysis and documented limitations.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OBJECTIVES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310896" cy="31089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415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3191256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appropriate metrics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96112" y="3483864"/>
            <a:ext cx="6236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and mask precision, recall, mAP50, and mAP50-95 — the COCO-style conventions this task calls for.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310896" cy="310896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0645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" y="4014216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error analysis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96112" y="4306824"/>
            <a:ext cx="6236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fails, which classes drive it, and why — grounded in per-class evidence, not assumption.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874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96112" y="4837176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limitations and improvements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96112" y="5129784"/>
            <a:ext cx="6236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evaluation does not yet cover, and the concrete next steps that would close those gaps.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52360" y="13716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16952" y="1481328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616952" y="238658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checkpoints compared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46920" y="13716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11512" y="1481328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811512" y="238658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classes evaluated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52360" y="29718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16952" y="3081528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616952" y="398678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hyperparameter trials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46920" y="297180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0A2E29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11512" y="3081528"/>
            <a:ext cx="16824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+12.3%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811512" y="3986784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mAP50 gain, tuned vs. baseline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52360" y="4572000"/>
            <a:ext cx="4206240" cy="1371600"/>
          </a:xfrm>
          <a:prstGeom prst="roundRect">
            <a:avLst>
              <a:gd name="adj" fmla="val 5333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16952" y="468172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E06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6.6 : 1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616952" y="5541264"/>
            <a:ext cx="3877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 : shattered_glass training-instance imbalance — carried forward from Milestone 2/4, and shown in Section 6 to not be the dominant driver of error.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SCOPE DISCLOSURE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Track of Two — Read Before the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4's own "Prepared for Milestone 5" section names the Kaggle-trained, CarDD-pretrained YOLOv8s-seg checkpoint (test mask mAP50 = 0.3549) for this evaluation. This report instead evaluates a separate, individually-run track, documented here for the first time. The two are not directly comparable — different pretrained weights, environment, and split.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60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4's INTENDED TRACK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953512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Kaggle, T4 GPU
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source: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CarDD (domain-specific)
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checkpoint: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YOLOv8s-seg, DFL boundary-precision, 80 total epochs
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mask mAP50: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0.3549 — provisional
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E0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evaluated in this report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91072" y="2331720"/>
            <a:ext cx="5440680" cy="3383280"/>
          </a:xfrm>
          <a:prstGeom prst="roundRect">
            <a:avLst>
              <a:gd name="adj" fmla="val 2162"/>
            </a:avLst>
          </a:prstGeom>
          <a:solidFill>
            <a:srgbClr val="0A2E29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25603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EVALUATED IN THIS REPORT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11112" y="2953512"/>
            <a:ext cx="4800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Colab, T4 GPU
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source: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(general-purpose)
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checkpoint: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YOLO11m-seg, Optuna-tuned, 40 epochs
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mask mAP50: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0.449 — see Sections 5–6
</a:t>
            </a:r>
            <a:pPr indent="0" marL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in full below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5870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group's final submission needs both tracks covered, the CarDD-track evaluation should be prepared separately from the Kaggle-side logs, which are not available in this working environment.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5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EVALUATION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Checkpoints, One Shared Split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577840" cy="155448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356616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optimizer="auto" → AdamW, lr fixed at 0.001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continued, no config 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lr0≈0.000105, wd≈0.00029, degrees≈5.5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33756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(SHARED ACROSS RUNS)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39312"/>
          <a:ext cx="5577840" cy="150876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3566160"/>
              </a:tblGrid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 selection, Optuna 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 out — evaluation pending (Section 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355080" y="1298448"/>
            <a:ext cx="5376672" cy="3840480"/>
          </a:xfrm>
          <a:prstGeom prst="roundRect">
            <a:avLst>
              <a:gd name="adj" fmla="val 1905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675120" y="1536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75120" y="1901952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reported in this deck are computed on the validation split, matching the .val() calls logged during and after training. A held-out test-split evaluation is prepared (never touched for training, checkpoint selection, or the Optuna search) but not yet executed — see Section 10.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675120" y="29260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damage classes: dent · scratch · crack · broken_lamp · shattered_glass · flat_tyre, plus unlabelled background images (~7% of the dataset, no damage annotated).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675120" y="3794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Cross-validation: not applicable — a single fixed stratified split was used throughout, consistent with the project's established leakage-safety practice.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675120" y="45720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truth: pre-existing YOLO-format polygon annotations shipped with VehiDE — no manual re-annotation performed.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5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PERFORMANCE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Box and Mask, Reported Together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 predicts a class, a box, and a pixel mask per detection — so both Box and Mask variants of each metric are reported. Mask metrics are structurally harder to score well on than Box (a pixel-precise boundary is a stricter target than a rectangle), so a gap between them is expected, not a defect.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12848"/>
          <a:ext cx="11247120" cy="3246120"/>
        </p:xfrm>
        <a:graphic>
          <a:graphicData uri="http://schemas.openxmlformats.org/drawingml/2006/table">
            <a:tbl>
              <a:tblPr/>
              <a:tblGrid>
                <a:gridCol w="1463040"/>
                <a:gridCol w="5029200"/>
                <a:gridCol w="4754880"/>
              </a:tblGrid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used here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Overlap area ÷ union area of predicted vs. ground-truth region.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unit underlying every metric below.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of predicted damage that was correct.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False-positive rate — spurious flags cause claim disputes.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Fraction of actual damage the model found.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Missed-damage rate — a missed dent under-assesses a claim.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AP at 50% IoU, averaged across all 6 classes.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Standard, relatively forgiving detection benchmark.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mAP50-95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averaged across IoU thresholds 50%–95%.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Stricter — rewards precise localisation, not rough overlap.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5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EXPERIMENTAL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Metric Moved in the Same Direction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352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ACROSS EVERY METRIC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635240" y="173736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run improves on all four reported metrics with no regression on any — and by a wider margin than the Extended run's 20 additional epochs of unmodified training achieved (Section 7). This supports attributing the gain to the hyperparameter correction itself.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635240" y="32004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99832" y="3310128"/>
            <a:ext cx="15453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+9.5%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799832" y="384962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mAP50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784080" y="320040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48672" y="3310128"/>
            <a:ext cx="15453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+15.3%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948672" y="3849624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mAP50-95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635240" y="44348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 (box/seg/cls) declined monotonically in every run, with no train/val divergence at any point — no evidence of overfitting in the ranges trained.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5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HEADLINE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Instances Did Not Mean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Performance.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33172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scratch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training instances of any class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10,070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instances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4572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6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0.247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77240" y="5257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mAP50 — one of the two weakest classes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91072" y="2331720"/>
            <a:ext cx="5440680" cy="3566160"/>
          </a:xfrm>
          <a:prstGeom prst="roundRect">
            <a:avLst>
              <a:gd name="adj" fmla="val 2051"/>
            </a:avLst>
          </a:prstGeom>
          <a:solidFill>
            <a:srgbClr val="0A2E29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606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shattered_glass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611112" y="3063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FEWEST training instances of any class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11112" y="3474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1,513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611112" y="4160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instances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611112" y="4572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FD1C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0.767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611112" y="5257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mAP50 — the best-performing class, ~3x scratch's score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ranking is identical to Milestone 4's independent finding on the separate CarDD-pretrained track. Two differently-pretrained models, on two platforms, reproduce the same class-difficulty pattern — evidence this reflects visual distinguishability of the damage types, not a quirk of either track's setup.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HYPERPARAMETER TUNING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Bug Fix, Then a Clean Signal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60350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257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are each trial's lr0 value, sorted ascending — the near-monotonic decline visualises the relationship found in the search.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720840" y="137160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0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720840" y="169164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search used optimizer="auto". Ultralytics silently overrides any passed lr0 under this setting — confirmed in the log: "'optimizer=auto' found, ignoring 'lr0=...'". Every trial in that search actually trained at the same fixed lr=0.001; the search varied lr0 in name only.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720840" y="28803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AND THE SIGNAL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20840" y="320040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optimizer="AdamW" explicitly restored real control over lr0. The corrected search shows a clear, near-monotonic relationship: best in the lr0 ≈ 5×10⁻⁵–1.3×10⁻⁴ band, collapsing to roughly a quarter of peak performance above lr0 ≈ 4×10⁻³. weight_decay and degrees showed no comparable trend.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20840" y="457200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4709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lr0=0.0001047, weight_decay=0.000292, degrees=5.5 — 5-epoch proxy generalised sensibly to full 40-epoch training (0.351 → 0.449).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5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BASELINE VS. TUNED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Improvement, Quantified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949440" cy="237744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188720"/>
                <a:gridCol w="1188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9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mAP50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 mAP50-95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mAP50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Mask mAP50-95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FD1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9CA8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2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9776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meaningful configuration difference between these runs is the learning rate actually applied (0.001 vs. ~0.000105) and a small amount of rotation augmentation (0° vs. 5.5°) — epochs, batch size, dataset, and seed held constant.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635240" y="1417320"/>
            <a:ext cx="4023360" cy="4160520"/>
          </a:xfrm>
          <a:prstGeom prst="roundRect">
            <a:avLst>
              <a:gd name="adj" fmla="val 1818"/>
            </a:avLst>
          </a:prstGeom>
          <a:solidFill>
            <a:srgbClr val="0A2E29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5280" y="169164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ISN'T JUST MORE TRAINING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955280" y="22402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Extended run (60 epochs, same untuned config) landed within 0.001 of the 40-epoch Baseline on every metric — 20 extra epochs of unmodified training bought essentially nothing.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955280" y="342900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run, at the same 40 epochs as Baseline, outperforms even the 60-epoch Extended run on every metric. The gain traces to the corrected learning rate, not additional compute.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5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ERROR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Model Gets Wrong, and Why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" cy="310896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27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362456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96112" y="1655064"/>
            <a:ext cx="5001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in the weak classes by Box precision — dent, scratch, crack. Plausibly includes shadows or reflections mistaken for subtle damage.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10896" cy="310896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271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2276856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96112" y="2569464"/>
            <a:ext cx="5001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 concentrate on small or thin instances — fine cracks, small scratches — matching the model's demonstrated weakness on exactly these classes.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415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3191256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check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6112" y="3483864"/>
            <a:ext cx="5001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val-vs-test gap check is prepared to rule out overfitting to the validation split used throughout development — pending execution (Section 10).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1559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4105656"/>
            <a:ext cx="5001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review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96112" y="4398264"/>
            <a:ext cx="5001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confusion matrix and flagged failure-case images (predicted-count vs. ground-truth-count mismatches) are prepared but not yet run.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91072" y="141732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11112" y="166420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READING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11112" y="205740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shattered_glass and broken_lamp are visually distinct — sharp contrast, unusual reflectivity — and substantially outperform dent, scratch, and crack, which are subtle, low-contrast, and can resemble ordinary body-panel shadows or reflections.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11112" y="342900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persisted unchanged across the Baseline, Extended, and Tuned checkpoints — three different training configurations, one consistent pattern. That consistency points to a property of the damage types themselves, not a fixable training artifact.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11112" y="480060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Addressing it would more likely require higher input resolution or targeted additional data for the weak classes than further hyperparameter tuning (Section 11).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Evaluation Does Not Yet Cover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91640"/>
            <a:ext cx="128016" cy="128016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01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completeness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395728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headline numbers are validation-split, not test-split. Test evaluation, an ablation study, confusion matrix, and robustness checks are prepared in the accompanying notebook but not yet executed.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4279392" y="141732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35424" y="1691640"/>
            <a:ext cx="128016" cy="128016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10" name="Text 8"/>
          <p:cNvSpPr/>
          <p:nvPr/>
        </p:nvSpPr>
        <p:spPr>
          <a:xfrm>
            <a:off x="4535424" y="1901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fragmentation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35424" y="2395728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evaluates a track separate from the one Milestone 4 flagged for Milestone 5. The group's CarDD-pretrained checkpoints remain unevaluated here.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8101584" y="1417320"/>
            <a:ext cx="3611880" cy="3063240"/>
          </a:xfrm>
          <a:prstGeom prst="roundRect">
            <a:avLst>
              <a:gd name="adj" fmla="val 2388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7616" y="1691640"/>
            <a:ext cx="128016" cy="128016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9019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data limits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57616" y="2395728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2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on the three most common real-world damage types. 640×640 resolution may lose fine detail relevant to thin scratches/cracks — untested at higher resolution due to GPU memory limits.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and ethics: not formally assessed — no metadata (make, colour, severity) exists to check uneven performance across sub-populations. The known weakest classes (dent/scratch/crack) becoming false negatives in production would under-assess the most common real damage types — a risk for whatever human-review process the deployed system uses.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5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POSSIBLE IMPROVEMENTS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Concrete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10896" cy="31089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27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96112" y="1362456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pending evaluation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96112" y="1655064"/>
            <a:ext cx="5093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Test-split numbers, confusion matrix, and ablation study first — before prioritising anything below with confidence.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4127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48272" y="1362456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the two tracks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48272" y="1655064"/>
            <a:ext cx="5093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direct, same-split comparison would clarify whether domain pretraining (CarDD) or the lr0 fix is the larger lever — or whether combining both wins outright.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898648"/>
            <a:ext cx="310896" cy="310896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940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2843784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data for weak classes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6112" y="3136392"/>
            <a:ext cx="5093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dent/scratch/crack examples, not more volume — matches Milestone 4's identical finding that augmentation and reweighting alone didn't close this gap.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2898648"/>
            <a:ext cx="310896" cy="31089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8940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48272" y="2843784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input resolution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48272" y="3136392"/>
            <a:ext cx="5093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imgsz=1280 to preserve fine detail relevant to thin scratches and cracks, trading inference speed for detail.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379976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3754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" y="4325112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Optuna trials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96112" y="4617720"/>
            <a:ext cx="5093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epochs per trial rather than 5, now that the optimizer bug is understood and fixed.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4379976"/>
            <a:ext cx="310896" cy="310896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3754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48272" y="4325112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benchmark comparison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48272" y="4617720"/>
            <a:ext cx="5093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the published CarDD paper's per-class AP figures, as Milestone 4 did, once test-split numbers exist.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SUMMARY AND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Ready, What Isn't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0A2E29"/>
          </a:solidFill>
          <a:ln w="12700">
            <a:solidFill>
              <a:srgbClr val="4FD1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FD1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8483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Tuned checkpoint that outperforms Baseline on every validation metric, with the improvement traced to a specific, disclosed configuration fix.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3227832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13639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corroborated headline finding: the dent/scratch/crack weakness reproduces independently across two differently-pretrained tracks (this one and Milestone 4's).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4279392"/>
            <a:ext cx="109728" cy="109728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18795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specified, ready-to-run evaluation notebook covering test-split metrics, ablation, confusion matrix, and robustness checks.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91072" y="1463040"/>
            <a:ext cx="5440680" cy="4114800"/>
          </a:xfrm>
          <a:prstGeom prst="roundRect">
            <a:avLst>
              <a:gd name="adj" fmla="val 1778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6916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06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READY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1112" y="2176272"/>
            <a:ext cx="109728" cy="109728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15" name="Text 13"/>
          <p:cNvSpPr/>
          <p:nvPr/>
        </p:nvSpPr>
        <p:spPr>
          <a:xfrm>
            <a:off x="6839712" y="208483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Test-split evaluation has not been executed — all reported numbers remain validation-split, provisional.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11112" y="3227832"/>
            <a:ext cx="109728" cy="109728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17" name="Text 15"/>
          <p:cNvSpPr/>
          <p:nvPr/>
        </p:nvSpPr>
        <p:spPr>
          <a:xfrm>
            <a:off x="6839712" y="313639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has not yet decided whether Milestone 5's submission should also cover Milestone 4's CarDD-pretrained checkpoints as originally planned.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11112" y="4279392"/>
            <a:ext cx="109728" cy="109728"/>
          </a:xfrm>
          <a:prstGeom prst="ellipse">
            <a:avLst/>
          </a:prstGeom>
          <a:solidFill>
            <a:srgbClr val="E0665A"/>
          </a:solidFill>
          <a:ln/>
        </p:spPr>
      </p:sp>
      <p:sp>
        <p:nvSpPr>
          <p:cNvPr id="19" name="Text 17"/>
          <p:cNvSpPr/>
          <p:nvPr/>
        </p:nvSpPr>
        <p:spPr>
          <a:xfrm>
            <a:off x="6839712" y="4187952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study, confusion matrix, and robustness checks are written but unexecuted — Sections 9–10 need updating with real outputs once run.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Damage Assessment for Insurance Claims  ·  Milestone 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521440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ln w="15875">
            <a:solidFill>
              <a:srgbClr val="4FD1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206240"/>
            <a:ext cx="2926080" cy="2926080"/>
          </a:xfrm>
          <a:prstGeom prst="ellipse">
            <a:avLst/>
          </a:prstGeom>
          <a:ln w="15875">
            <a:solidFill>
              <a:srgbClr val="4FD1C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89204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17293F"/>
          </a:solidFill>
          <a:ln w="9525">
            <a:solidFill>
              <a:srgbClr val="2738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507492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HiveCase/Group-1-DS-and-AI-Lab-Project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5 evaluation notebook (test-split run pending)
</a:t>
            </a:r>
            <a:pPr indent="0" marL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C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and AI Lab · May 2026 · Group 1 · IIT Madras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2026-08-06T18:35:56Z</dcterms:created>
  <dcterms:modified xsi:type="dcterms:W3CDTF">2026-08-06T18:35:56Z</dcterms:modified>
</cp:coreProperties>
</file>