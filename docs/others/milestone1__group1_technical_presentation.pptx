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9" d="100"/>
          <a:sy n="149" d="100"/>
        </p:scale>
        <p:origin x="50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5470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Introduce the team and the project title. Mention that this is Milestone 1 covering problem definition and literature review.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briefly. 10 topics, should take 15-20 minutes total.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manual, multi-step claims assessment is slow and inconsistent. The system is decision-support only; humans retain final authority.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India motor insurance market alone is $10B+ and still heavily manual. Highlight the four pain points and mention that automating the INITIAL stage only (with human review) keeps the risk bounded.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field started with binary classification in 2017, shifted to localisation via YOLO. HL-YOLO (2025) is the current state of the art. Mask R-CNN is high quality but expensive.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was introduced by Lewis et al. (2020). For insurance policy retrieval the key insight is small chunks + bi-encoders + explicit source attribution. Industry has deployed this but in black boxes.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Acknowledge that VLMs are impressive. The argument is not capability — it is interpretability, evaluability, and deployment feasibility given our constraints.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gaps our project fills: vision-to-report bridging, policy grounding, and accessibility. Each gap directly maps to one component of our pipeline.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contribution is integration, usability, and accessibility — not a novel architecture. This sets appropriate expectations for a course project.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three stages: Stage 1 - YOLO detects damage and classifies severity. Stage 2 - RAG pipeline chunks the policy PDF, embeds it, and retrieves the top-k relevant clauses. Stage 3 - LLM combines both outputs into a structured report. Human assessor reviews the report before any decision.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mAP@50 ≥ 0.70 is the primary vision target. Faithfulness ≥ 0.85 is the primary RAG target. Human evaluation with 3 raters keeps subjectivity controlled. Ablation study is key to demonstrating each component's contribution.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VehiDE (13k+ images) is our primary source. No public dataset pairs policy documents with vehicle damage — we create synthetic policies ourselves, which also lets us define ground-truth clause retrievals.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known risks, each with a concrete mitigation. Domain shift and hallucination are the highest-priority risks. The human-in-loop review requirement means errors are caught before decisions are made.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slide. Invite questions. Be ready to discuss VLM comparison, severity estimation approach, and synthetic policy design.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7132320" y="-822960"/>
            <a:ext cx="2560320" cy="2560320"/>
          </a:xfrm>
          <a:prstGeom prst="ellipse">
            <a:avLst/>
          </a:prstGeom>
          <a:solidFill>
            <a:srgbClr val="0D9488">
              <a:alpha val="28000"/>
            </a:srgbClr>
          </a:solidFill>
          <a:ln w="12700">
            <a:solidFill>
              <a:srgbClr val="0D9488">
                <a:alpha val="28000"/>
              </a:srgbClr>
            </a:solidFill>
            <a:prstDash val="solid"/>
          </a:ln>
        </p:spPr>
      </p:sp>
      <p:sp>
        <p:nvSpPr>
          <p:cNvPr id="3" name="Shape 1"/>
          <p:cNvSpPr/>
          <p:nvPr/>
        </p:nvSpPr>
        <p:spPr>
          <a:xfrm>
            <a:off x="-548640" y="3474720"/>
            <a:ext cx="2011680" cy="2011680"/>
          </a:xfrm>
          <a:prstGeom prst="ellipse">
            <a:avLst/>
          </a:prstGeom>
          <a:solidFill>
            <a:srgbClr val="0D9488">
              <a:alpha val="22000"/>
            </a:srgbClr>
          </a:solidFill>
          <a:ln w="12700">
            <a:solidFill>
              <a:srgbClr val="0D9488">
                <a:alpha val="22000"/>
              </a:srgbClr>
            </a:solidFill>
            <a:prstDash val="solid"/>
          </a:ln>
        </p:spPr>
      </p:sp>
      <p:sp>
        <p:nvSpPr>
          <p:cNvPr id="4" name="Text 2"/>
          <p:cNvSpPr/>
          <p:nvPr/>
        </p:nvSpPr>
        <p:spPr>
          <a:xfrm>
            <a:off x="457200" y="685800"/>
            <a:ext cx="8229600" cy="320040"/>
          </a:xfrm>
          <a:prstGeom prst="rect">
            <a:avLst/>
          </a:prstGeom>
          <a:noFill/>
          <a:ln/>
        </p:spPr>
        <p:txBody>
          <a:bodyPr wrap="square" rtlCol="0" anchor="ctr"/>
          <a:lstStyle/>
          <a:p>
            <a:pPr marL="0" indent="0" algn="ctr">
              <a:buNone/>
            </a:pPr>
            <a:r>
              <a:rPr lang="en-US" sz="1000" b="1" kern="0" spc="300" dirty="0">
                <a:solidFill>
                  <a:srgbClr val="64748B"/>
                </a:solidFill>
                <a:latin typeface="Calibri" pitchFamily="34" charset="0"/>
                <a:ea typeface="Calibri" pitchFamily="34" charset="-122"/>
                <a:cs typeface="Calibri" pitchFamily="34" charset="-120"/>
              </a:rPr>
              <a:t>MILESTONE 1  ·  DS &amp; AI LAB  ·  MAY 2026</a:t>
            </a:r>
            <a:endParaRPr lang="en-US" sz="1000" dirty="0"/>
          </a:p>
        </p:txBody>
      </p:sp>
      <p:sp>
        <p:nvSpPr>
          <p:cNvPr id="5" name="Text 3"/>
          <p:cNvSpPr/>
          <p:nvPr/>
        </p:nvSpPr>
        <p:spPr>
          <a:xfrm>
            <a:off x="457200" y="1097280"/>
            <a:ext cx="822960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Multimodal Damage Assessment</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for Insurance Claims</a:t>
            </a:r>
            <a:endParaRPr lang="en-US" sz="3400" dirty="0"/>
          </a:p>
        </p:txBody>
      </p:sp>
      <p:sp>
        <p:nvSpPr>
          <p:cNvPr id="6" name="Text 4"/>
          <p:cNvSpPr/>
          <p:nvPr/>
        </p:nvSpPr>
        <p:spPr>
          <a:xfrm>
            <a:off x="457200" y="3017520"/>
            <a:ext cx="8229600" cy="411480"/>
          </a:xfrm>
          <a:prstGeom prst="rect">
            <a:avLst/>
          </a:prstGeom>
          <a:noFill/>
          <a:ln/>
        </p:spPr>
        <p:txBody>
          <a:bodyPr wrap="square" rtlCol="0" anchor="ctr"/>
          <a:lstStyle/>
          <a:p>
            <a:pPr marL="0" indent="0" algn="ctr">
              <a:buNone/>
            </a:pPr>
            <a:r>
              <a:rPr lang="en-US" sz="1600" dirty="0">
                <a:solidFill>
                  <a:srgbClr val="99F6E4"/>
                </a:solidFill>
                <a:latin typeface="Calibri" pitchFamily="34" charset="0"/>
                <a:ea typeface="Calibri" pitchFamily="34" charset="-122"/>
                <a:cs typeface="Calibri" pitchFamily="34" charset="-120"/>
              </a:rPr>
              <a:t>Problem Definition &amp; Literature Review</a:t>
            </a:r>
            <a:endParaRPr lang="en-US" sz="1600" dirty="0"/>
          </a:p>
        </p:txBody>
      </p:sp>
      <p:sp>
        <p:nvSpPr>
          <p:cNvPr id="7" name="Text 5"/>
          <p:cNvSpPr/>
          <p:nvPr/>
        </p:nvSpPr>
        <p:spPr>
          <a:xfrm>
            <a:off x="1371600" y="3566160"/>
            <a:ext cx="6400800" cy="1143000"/>
          </a:xfrm>
          <a:prstGeom prst="rect">
            <a:avLst/>
          </a:prstGeom>
          <a:noFill/>
          <a:ln/>
        </p:spPr>
        <p:txBody>
          <a:bodyPr wrap="square"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Satyajeet Kumar</a:t>
            </a:r>
            <a:endParaRPr lang="en-US" sz="1100" dirty="0"/>
          </a:p>
          <a:p>
            <a:pPr marL="0" indent="0" algn="ctr">
              <a:buNone/>
            </a:pPr>
            <a:r>
              <a:rPr lang="en-US" sz="1100" dirty="0">
                <a:solidFill>
                  <a:srgbClr val="94A3B8"/>
                </a:solidFill>
                <a:latin typeface="Calibri" pitchFamily="34" charset="0"/>
                <a:ea typeface="Calibri" pitchFamily="34" charset="-122"/>
                <a:cs typeface="Calibri" pitchFamily="34" charset="-120"/>
              </a:rPr>
              <a:t>Agnesh Kundu</a:t>
            </a:r>
            <a:endParaRPr lang="en-US" sz="1100" dirty="0"/>
          </a:p>
          <a:p>
            <a:pPr marL="0" indent="0" algn="ctr">
              <a:buNone/>
            </a:pPr>
            <a:r>
              <a:rPr lang="en-US" sz="1100" dirty="0">
                <a:solidFill>
                  <a:srgbClr val="94A3B8"/>
                </a:solidFill>
                <a:latin typeface="Calibri" pitchFamily="34" charset="0"/>
                <a:ea typeface="Calibri" pitchFamily="34" charset="-122"/>
                <a:cs typeface="Calibri" pitchFamily="34" charset="-120"/>
              </a:rPr>
              <a:t>Anuj Gautam</a:t>
            </a:r>
            <a:endParaRPr lang="en-US" sz="1100" dirty="0"/>
          </a:p>
          <a:p>
            <a:pPr marL="0" indent="0" algn="ctr">
              <a:buNone/>
            </a:pPr>
            <a:r>
              <a:rPr lang="en-US" sz="1100" dirty="0">
                <a:solidFill>
                  <a:srgbClr val="94A3B8"/>
                </a:solidFill>
                <a:latin typeface="Calibri" pitchFamily="34" charset="0"/>
                <a:ea typeface="Calibri" pitchFamily="34" charset="-122"/>
                <a:cs typeface="Calibri" pitchFamily="34" charset="-120"/>
              </a:rPr>
              <a:t>Pranab Kumar Manna</a:t>
            </a:r>
            <a:endParaRPr lang="en-US" sz="1100" dirty="0"/>
          </a:p>
          <a:p>
            <a:pPr marL="0" indent="0" algn="ctr">
              <a:buNone/>
            </a:pPr>
            <a:r>
              <a:rPr lang="en-US" sz="1100" dirty="0">
                <a:solidFill>
                  <a:srgbClr val="94A3B8"/>
                </a:solidFill>
                <a:latin typeface="Calibri" pitchFamily="34" charset="0"/>
                <a:ea typeface="Calibri" pitchFamily="34" charset="-122"/>
                <a:cs typeface="Calibri" pitchFamily="34" charset="-120"/>
              </a:rPr>
              <a:t>Venkata Siva Kamal Guddanti</a:t>
            </a:r>
            <a:endParaRPr lang="en-US" sz="1100" dirty="0"/>
          </a:p>
        </p:txBody>
      </p:sp>
      <p:sp>
        <p:nvSpPr>
          <p:cNvPr id="8" name="Text 6"/>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Group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Agenda</a:t>
            </a:r>
            <a:endParaRPr lang="en-US" sz="3000" dirty="0"/>
          </a:p>
        </p:txBody>
      </p:sp>
      <p:sp>
        <p:nvSpPr>
          <p:cNvPr id="3" name="Shape 1"/>
          <p:cNvSpPr/>
          <p:nvPr/>
        </p:nvSpPr>
        <p:spPr>
          <a:xfrm>
            <a:off x="411480" y="987552"/>
            <a:ext cx="329184" cy="329184"/>
          </a:xfrm>
          <a:prstGeom prst="ellipse">
            <a:avLst/>
          </a:prstGeom>
          <a:solidFill>
            <a:srgbClr val="0D9488"/>
          </a:solidFill>
          <a:ln w="12700">
            <a:solidFill>
              <a:srgbClr val="0D9488"/>
            </a:solidFill>
            <a:prstDash val="solid"/>
          </a:ln>
        </p:spPr>
      </p:sp>
      <p:sp>
        <p:nvSpPr>
          <p:cNvPr id="4" name="Text 2"/>
          <p:cNvSpPr/>
          <p:nvPr/>
        </p:nvSpPr>
        <p:spPr>
          <a:xfrm>
            <a:off x="411480" y="98755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886968" y="969264"/>
            <a:ext cx="3749040" cy="365760"/>
          </a:xfrm>
          <a:prstGeom prst="rect">
            <a:avLst/>
          </a:prstGeom>
          <a:noFill/>
          <a:ln/>
        </p:spPr>
        <p:txBody>
          <a:bodyPr wrap="square" rtlCol="0" anchor="ctr"/>
          <a:lstStyle/>
          <a:p>
            <a:pPr marL="0" indent="0">
              <a:buNone/>
            </a:pPr>
            <a:r>
              <a:rPr lang="en-US" sz="1300" dirty="0">
                <a:solidFill>
                  <a:srgbClr val="0F2A4D"/>
                </a:solidFill>
                <a:latin typeface="Calibri" pitchFamily="34" charset="0"/>
                <a:ea typeface="Calibri" pitchFamily="34" charset="-122"/>
                <a:cs typeface="Calibri" pitchFamily="34" charset="-120"/>
              </a:rPr>
              <a:t>Problem </a:t>
            </a:r>
            <a:r>
              <a:rPr lang="en-US" sz="1300" dirty="0" smtClean="0">
                <a:solidFill>
                  <a:srgbClr val="0F2A4D"/>
                </a:solidFill>
                <a:latin typeface="Calibri" pitchFamily="34" charset="0"/>
                <a:ea typeface="Calibri" pitchFamily="34" charset="-122"/>
                <a:cs typeface="Calibri" pitchFamily="34" charset="-120"/>
              </a:rPr>
              <a:t>Statement</a:t>
            </a:r>
            <a:endParaRPr lang="en-US" sz="1300" dirty="0"/>
          </a:p>
        </p:txBody>
      </p:sp>
      <p:sp>
        <p:nvSpPr>
          <p:cNvPr id="6" name="Shape 4"/>
          <p:cNvSpPr/>
          <p:nvPr/>
        </p:nvSpPr>
        <p:spPr>
          <a:xfrm>
            <a:off x="411480" y="1764792"/>
            <a:ext cx="329184" cy="329184"/>
          </a:xfrm>
          <a:prstGeom prst="ellipse">
            <a:avLst/>
          </a:prstGeom>
          <a:solidFill>
            <a:srgbClr val="0D9488"/>
          </a:solidFill>
          <a:ln w="12700">
            <a:solidFill>
              <a:srgbClr val="0D9488"/>
            </a:solidFill>
            <a:prstDash val="solid"/>
          </a:ln>
        </p:spPr>
      </p:sp>
      <p:sp>
        <p:nvSpPr>
          <p:cNvPr id="7" name="Text 5"/>
          <p:cNvSpPr/>
          <p:nvPr/>
        </p:nvSpPr>
        <p:spPr>
          <a:xfrm>
            <a:off x="411480" y="176479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8" name="Text 6"/>
          <p:cNvSpPr/>
          <p:nvPr/>
        </p:nvSpPr>
        <p:spPr>
          <a:xfrm>
            <a:off x="886968" y="1746504"/>
            <a:ext cx="3749040" cy="365760"/>
          </a:xfrm>
          <a:prstGeom prst="rect">
            <a:avLst/>
          </a:prstGeom>
          <a:noFill/>
          <a:ln/>
        </p:spPr>
        <p:txBody>
          <a:bodyPr wrap="square" rtlCol="0" anchor="ctr"/>
          <a:lstStyle/>
          <a:p>
            <a:pPr marL="0" indent="0">
              <a:buNone/>
            </a:pPr>
            <a:r>
              <a:rPr lang="en-US" sz="1300" dirty="0">
                <a:solidFill>
                  <a:srgbClr val="0F2A4D"/>
                </a:solidFill>
                <a:latin typeface="Calibri" pitchFamily="34" charset="0"/>
                <a:ea typeface="Calibri" pitchFamily="34" charset="-122"/>
                <a:cs typeface="Calibri" pitchFamily="34" charset="-120"/>
              </a:rPr>
              <a:t>Problem Motivation</a:t>
            </a:r>
            <a:endParaRPr lang="en-US" sz="1300" dirty="0"/>
          </a:p>
        </p:txBody>
      </p:sp>
      <p:sp>
        <p:nvSpPr>
          <p:cNvPr id="9" name="Shape 7"/>
          <p:cNvSpPr/>
          <p:nvPr/>
        </p:nvSpPr>
        <p:spPr>
          <a:xfrm>
            <a:off x="411480" y="2542032"/>
            <a:ext cx="329184" cy="329184"/>
          </a:xfrm>
          <a:prstGeom prst="ellipse">
            <a:avLst/>
          </a:prstGeom>
          <a:solidFill>
            <a:srgbClr val="0D9488"/>
          </a:solidFill>
          <a:ln w="12700">
            <a:solidFill>
              <a:srgbClr val="0D9488"/>
            </a:solidFill>
            <a:prstDash val="solid"/>
          </a:ln>
        </p:spPr>
      </p:sp>
      <p:sp>
        <p:nvSpPr>
          <p:cNvPr id="10" name="Text 8"/>
          <p:cNvSpPr/>
          <p:nvPr/>
        </p:nvSpPr>
        <p:spPr>
          <a:xfrm>
            <a:off x="411480" y="254203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1" name="Text 9"/>
          <p:cNvSpPr/>
          <p:nvPr/>
        </p:nvSpPr>
        <p:spPr>
          <a:xfrm>
            <a:off x="886968" y="2523744"/>
            <a:ext cx="3749040" cy="365760"/>
          </a:xfrm>
          <a:prstGeom prst="rect">
            <a:avLst/>
          </a:prstGeom>
          <a:noFill/>
          <a:ln/>
        </p:spPr>
        <p:txBody>
          <a:bodyPr wrap="square" rtlCol="0" anchor="ctr"/>
          <a:lstStyle/>
          <a:p>
            <a:pPr marL="0" indent="0">
              <a:buNone/>
            </a:pPr>
            <a:r>
              <a:rPr lang="en-US" sz="1300" dirty="0">
                <a:solidFill>
                  <a:srgbClr val="0F2A4D"/>
                </a:solidFill>
                <a:latin typeface="Calibri" pitchFamily="34" charset="0"/>
                <a:ea typeface="Calibri" pitchFamily="34" charset="-122"/>
                <a:cs typeface="Calibri" pitchFamily="34" charset="-120"/>
              </a:rPr>
              <a:t>Prior </a:t>
            </a:r>
            <a:r>
              <a:rPr lang="en-US" sz="1300" dirty="0" smtClean="0">
                <a:solidFill>
                  <a:srgbClr val="0F2A4D"/>
                </a:solidFill>
                <a:latin typeface="Calibri" pitchFamily="34" charset="0"/>
                <a:ea typeface="Calibri" pitchFamily="34" charset="-122"/>
                <a:cs typeface="Calibri" pitchFamily="34" charset="-120"/>
              </a:rPr>
              <a:t>Research</a:t>
            </a:r>
            <a:endParaRPr lang="en-US" sz="1300" dirty="0"/>
          </a:p>
        </p:txBody>
      </p:sp>
      <p:sp>
        <p:nvSpPr>
          <p:cNvPr id="12" name="Shape 10"/>
          <p:cNvSpPr/>
          <p:nvPr/>
        </p:nvSpPr>
        <p:spPr>
          <a:xfrm>
            <a:off x="411480" y="3319272"/>
            <a:ext cx="329184" cy="329184"/>
          </a:xfrm>
          <a:prstGeom prst="ellipse">
            <a:avLst/>
          </a:prstGeom>
          <a:solidFill>
            <a:srgbClr val="0D9488"/>
          </a:solidFill>
          <a:ln w="12700">
            <a:solidFill>
              <a:srgbClr val="0D9488"/>
            </a:solidFill>
            <a:prstDash val="solid"/>
          </a:ln>
        </p:spPr>
      </p:sp>
      <p:sp>
        <p:nvSpPr>
          <p:cNvPr id="13" name="Text 11"/>
          <p:cNvSpPr/>
          <p:nvPr/>
        </p:nvSpPr>
        <p:spPr>
          <a:xfrm>
            <a:off x="411480" y="33192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Text 12"/>
          <p:cNvSpPr/>
          <p:nvPr/>
        </p:nvSpPr>
        <p:spPr>
          <a:xfrm>
            <a:off x="886968" y="3300984"/>
            <a:ext cx="3749040" cy="365760"/>
          </a:xfrm>
          <a:prstGeom prst="rect">
            <a:avLst/>
          </a:prstGeom>
          <a:noFill/>
          <a:ln/>
        </p:spPr>
        <p:txBody>
          <a:bodyPr wrap="square" rtlCol="0" anchor="ctr"/>
          <a:lstStyle/>
          <a:p>
            <a:pPr marL="0" indent="0">
              <a:buNone/>
            </a:pPr>
            <a:r>
              <a:rPr lang="en-US" sz="1300" dirty="0" smtClean="0">
                <a:solidFill>
                  <a:srgbClr val="0F2A4D"/>
                </a:solidFill>
                <a:latin typeface="Calibri" pitchFamily="34" charset="0"/>
                <a:ea typeface="Calibri" pitchFamily="34" charset="-122"/>
                <a:cs typeface="Calibri" pitchFamily="34" charset="-120"/>
              </a:rPr>
              <a:t>RAG </a:t>
            </a:r>
            <a:r>
              <a:rPr lang="en-US" sz="1300" dirty="0">
                <a:solidFill>
                  <a:srgbClr val="0F2A4D"/>
                </a:solidFill>
                <a:latin typeface="Calibri" pitchFamily="34" charset="0"/>
                <a:ea typeface="Calibri" pitchFamily="34" charset="-122"/>
                <a:cs typeface="Calibri" pitchFamily="34" charset="-120"/>
              </a:rPr>
              <a:t>&amp; Industry</a:t>
            </a:r>
            <a:endParaRPr lang="en-US" sz="1300" dirty="0"/>
          </a:p>
        </p:txBody>
      </p:sp>
      <p:sp>
        <p:nvSpPr>
          <p:cNvPr id="15" name="Shape 13"/>
          <p:cNvSpPr/>
          <p:nvPr/>
        </p:nvSpPr>
        <p:spPr>
          <a:xfrm>
            <a:off x="411480" y="4096512"/>
            <a:ext cx="329184" cy="329184"/>
          </a:xfrm>
          <a:prstGeom prst="ellipse">
            <a:avLst/>
          </a:prstGeom>
          <a:solidFill>
            <a:srgbClr val="0D9488"/>
          </a:solidFill>
          <a:ln w="12700">
            <a:solidFill>
              <a:srgbClr val="0D9488"/>
            </a:solidFill>
            <a:prstDash val="solid"/>
          </a:ln>
        </p:spPr>
      </p:sp>
      <p:sp>
        <p:nvSpPr>
          <p:cNvPr id="16" name="Text 14"/>
          <p:cNvSpPr/>
          <p:nvPr/>
        </p:nvSpPr>
        <p:spPr>
          <a:xfrm>
            <a:off x="411480" y="409651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7" name="Text 15"/>
          <p:cNvSpPr/>
          <p:nvPr/>
        </p:nvSpPr>
        <p:spPr>
          <a:xfrm>
            <a:off x="886968" y="4078224"/>
            <a:ext cx="3749040" cy="365760"/>
          </a:xfrm>
          <a:prstGeom prst="rect">
            <a:avLst/>
          </a:prstGeom>
          <a:noFill/>
          <a:ln/>
        </p:spPr>
        <p:txBody>
          <a:bodyPr wrap="square" rtlCol="0" anchor="ctr"/>
          <a:lstStyle/>
          <a:p>
            <a:pPr marL="0" indent="0">
              <a:buNone/>
            </a:pPr>
            <a:r>
              <a:rPr lang="en-US" sz="1300" dirty="0" smtClean="0">
                <a:solidFill>
                  <a:srgbClr val="0F2A4D"/>
                </a:solidFill>
                <a:latin typeface="Calibri" pitchFamily="34" charset="0"/>
                <a:ea typeface="Calibri" pitchFamily="34" charset="-122"/>
                <a:cs typeface="Calibri" pitchFamily="34" charset="-120"/>
              </a:rPr>
              <a:t>Modular </a:t>
            </a:r>
            <a:r>
              <a:rPr lang="en-US" sz="1300" dirty="0">
                <a:solidFill>
                  <a:srgbClr val="0F2A4D"/>
                </a:solidFill>
                <a:latin typeface="Calibri" pitchFamily="34" charset="0"/>
                <a:ea typeface="Calibri" pitchFamily="34" charset="-122"/>
                <a:cs typeface="Calibri" pitchFamily="34" charset="-120"/>
              </a:rPr>
              <a:t>Pipeline </a:t>
            </a:r>
            <a:r>
              <a:rPr lang="en-US" sz="1300" dirty="0" smtClean="0">
                <a:solidFill>
                  <a:srgbClr val="0F2A4D"/>
                </a:solidFill>
                <a:latin typeface="Calibri" pitchFamily="34" charset="0"/>
                <a:ea typeface="Calibri" pitchFamily="34" charset="-122"/>
                <a:cs typeface="Calibri" pitchFamily="34" charset="-120"/>
              </a:rPr>
              <a:t>v/s VLMs</a:t>
            </a:r>
            <a:endParaRPr lang="en-US" sz="1300" dirty="0"/>
          </a:p>
        </p:txBody>
      </p:sp>
      <p:sp>
        <p:nvSpPr>
          <p:cNvPr id="18" name="Shape 16"/>
          <p:cNvSpPr/>
          <p:nvPr/>
        </p:nvSpPr>
        <p:spPr>
          <a:xfrm>
            <a:off x="4709160" y="987552"/>
            <a:ext cx="329184" cy="329184"/>
          </a:xfrm>
          <a:prstGeom prst="ellipse">
            <a:avLst/>
          </a:prstGeom>
          <a:solidFill>
            <a:srgbClr val="0D9488"/>
          </a:solidFill>
          <a:ln w="12700">
            <a:solidFill>
              <a:srgbClr val="0D9488"/>
            </a:solidFill>
            <a:prstDash val="solid"/>
          </a:ln>
        </p:spPr>
      </p:sp>
      <p:sp>
        <p:nvSpPr>
          <p:cNvPr id="19" name="Text 17"/>
          <p:cNvSpPr/>
          <p:nvPr/>
        </p:nvSpPr>
        <p:spPr>
          <a:xfrm>
            <a:off x="4709160" y="98755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0" name="Text 18"/>
          <p:cNvSpPr/>
          <p:nvPr/>
        </p:nvSpPr>
        <p:spPr>
          <a:xfrm>
            <a:off x="5184648" y="969264"/>
            <a:ext cx="3749040" cy="365760"/>
          </a:xfrm>
          <a:prstGeom prst="rect">
            <a:avLst/>
          </a:prstGeom>
          <a:noFill/>
          <a:ln/>
        </p:spPr>
        <p:txBody>
          <a:bodyPr wrap="square" rtlCol="0" anchor="ctr"/>
          <a:lstStyle/>
          <a:p>
            <a:pPr marL="0" indent="0">
              <a:buNone/>
            </a:pPr>
            <a:r>
              <a:rPr lang="en-US" sz="1300" dirty="0">
                <a:solidFill>
                  <a:srgbClr val="0F2A4D"/>
                </a:solidFill>
                <a:latin typeface="Calibri" pitchFamily="34" charset="0"/>
                <a:ea typeface="Calibri" pitchFamily="34" charset="-122"/>
                <a:cs typeface="Calibri" pitchFamily="34" charset="-120"/>
              </a:rPr>
              <a:t>Gaps in Existing Solutions</a:t>
            </a:r>
            <a:endParaRPr lang="en-US" sz="1300" dirty="0"/>
          </a:p>
        </p:txBody>
      </p:sp>
      <p:sp>
        <p:nvSpPr>
          <p:cNvPr id="21" name="Shape 19"/>
          <p:cNvSpPr/>
          <p:nvPr/>
        </p:nvSpPr>
        <p:spPr>
          <a:xfrm>
            <a:off x="4709160" y="1764792"/>
            <a:ext cx="329184" cy="329184"/>
          </a:xfrm>
          <a:prstGeom prst="ellipse">
            <a:avLst/>
          </a:prstGeom>
          <a:solidFill>
            <a:srgbClr val="0D9488"/>
          </a:solidFill>
          <a:ln w="12700">
            <a:solidFill>
              <a:srgbClr val="0D9488"/>
            </a:solidFill>
            <a:prstDash val="solid"/>
          </a:ln>
        </p:spPr>
      </p:sp>
      <p:sp>
        <p:nvSpPr>
          <p:cNvPr id="22" name="Text 20"/>
          <p:cNvSpPr/>
          <p:nvPr/>
        </p:nvSpPr>
        <p:spPr>
          <a:xfrm>
            <a:off x="4709160" y="176479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3" name="Text 21"/>
          <p:cNvSpPr/>
          <p:nvPr/>
        </p:nvSpPr>
        <p:spPr>
          <a:xfrm>
            <a:off x="5184648" y="1746504"/>
            <a:ext cx="3749040" cy="365760"/>
          </a:xfrm>
          <a:prstGeom prst="rect">
            <a:avLst/>
          </a:prstGeom>
          <a:noFill/>
          <a:ln/>
        </p:spPr>
        <p:txBody>
          <a:bodyPr wrap="square" rtlCol="0" anchor="ctr"/>
          <a:lstStyle/>
          <a:p>
            <a:pPr marL="0" indent="0">
              <a:buNone/>
            </a:pPr>
            <a:r>
              <a:rPr lang="en-US" sz="1300" dirty="0">
                <a:solidFill>
                  <a:srgbClr val="0F2A4D"/>
                </a:solidFill>
                <a:latin typeface="Calibri" pitchFamily="34" charset="0"/>
                <a:ea typeface="Calibri" pitchFamily="34" charset="-122"/>
                <a:cs typeface="Calibri" pitchFamily="34" charset="-120"/>
              </a:rPr>
              <a:t>Our Contribution</a:t>
            </a:r>
            <a:endParaRPr lang="en-US" sz="1300" dirty="0"/>
          </a:p>
        </p:txBody>
      </p:sp>
      <p:sp>
        <p:nvSpPr>
          <p:cNvPr id="24" name="Shape 22"/>
          <p:cNvSpPr/>
          <p:nvPr/>
        </p:nvSpPr>
        <p:spPr>
          <a:xfrm>
            <a:off x="4709160" y="2542032"/>
            <a:ext cx="329184" cy="329184"/>
          </a:xfrm>
          <a:prstGeom prst="ellipse">
            <a:avLst/>
          </a:prstGeom>
          <a:solidFill>
            <a:srgbClr val="0D9488"/>
          </a:solidFill>
          <a:ln w="12700">
            <a:solidFill>
              <a:srgbClr val="0D9488"/>
            </a:solidFill>
            <a:prstDash val="solid"/>
          </a:ln>
        </p:spPr>
      </p:sp>
      <p:sp>
        <p:nvSpPr>
          <p:cNvPr id="25" name="Text 23"/>
          <p:cNvSpPr/>
          <p:nvPr/>
        </p:nvSpPr>
        <p:spPr>
          <a:xfrm>
            <a:off x="4709160" y="254203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6" name="Text 24"/>
          <p:cNvSpPr/>
          <p:nvPr/>
        </p:nvSpPr>
        <p:spPr>
          <a:xfrm>
            <a:off x="5184648" y="2523744"/>
            <a:ext cx="3749040" cy="365760"/>
          </a:xfrm>
          <a:prstGeom prst="rect">
            <a:avLst/>
          </a:prstGeom>
          <a:noFill/>
          <a:ln/>
        </p:spPr>
        <p:txBody>
          <a:bodyPr wrap="square" rtlCol="0" anchor="ctr"/>
          <a:lstStyle/>
          <a:p>
            <a:pPr marL="0" indent="0">
              <a:buNone/>
            </a:pPr>
            <a:r>
              <a:rPr lang="en-US" sz="1300" dirty="0">
                <a:solidFill>
                  <a:srgbClr val="0F2A4D"/>
                </a:solidFill>
                <a:latin typeface="Calibri" pitchFamily="34" charset="0"/>
                <a:ea typeface="Calibri" pitchFamily="34" charset="-122"/>
                <a:cs typeface="Calibri" pitchFamily="34" charset="-120"/>
              </a:rPr>
              <a:t>System Architecture</a:t>
            </a:r>
            <a:endParaRPr lang="en-US" sz="1300" dirty="0"/>
          </a:p>
        </p:txBody>
      </p:sp>
      <p:sp>
        <p:nvSpPr>
          <p:cNvPr id="27" name="Shape 25"/>
          <p:cNvSpPr/>
          <p:nvPr/>
        </p:nvSpPr>
        <p:spPr>
          <a:xfrm>
            <a:off x="4709160" y="3319272"/>
            <a:ext cx="329184" cy="329184"/>
          </a:xfrm>
          <a:prstGeom prst="ellipse">
            <a:avLst/>
          </a:prstGeom>
          <a:solidFill>
            <a:srgbClr val="0D9488"/>
          </a:solidFill>
          <a:ln w="12700">
            <a:solidFill>
              <a:srgbClr val="0D9488"/>
            </a:solidFill>
            <a:prstDash val="solid"/>
          </a:ln>
        </p:spPr>
      </p:sp>
      <p:sp>
        <p:nvSpPr>
          <p:cNvPr id="28" name="Text 26"/>
          <p:cNvSpPr/>
          <p:nvPr/>
        </p:nvSpPr>
        <p:spPr>
          <a:xfrm>
            <a:off x="4709160" y="331927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29" name="Text 27"/>
          <p:cNvSpPr/>
          <p:nvPr/>
        </p:nvSpPr>
        <p:spPr>
          <a:xfrm>
            <a:off x="5184648" y="3300984"/>
            <a:ext cx="3749040" cy="365760"/>
          </a:xfrm>
          <a:prstGeom prst="rect">
            <a:avLst/>
          </a:prstGeom>
          <a:noFill/>
          <a:ln/>
        </p:spPr>
        <p:txBody>
          <a:bodyPr wrap="square" rtlCol="0" anchor="ctr"/>
          <a:lstStyle/>
          <a:p>
            <a:pPr marL="0" indent="0">
              <a:buNone/>
            </a:pPr>
            <a:r>
              <a:rPr lang="en-US" sz="1300" dirty="0">
                <a:solidFill>
                  <a:srgbClr val="0F2A4D"/>
                </a:solidFill>
                <a:latin typeface="Calibri" pitchFamily="34" charset="0"/>
                <a:ea typeface="Calibri" pitchFamily="34" charset="-122"/>
                <a:cs typeface="Calibri" pitchFamily="34" charset="-120"/>
              </a:rPr>
              <a:t>Success Metrics  ·  Dataset Plan</a:t>
            </a:r>
            <a:endParaRPr lang="en-US" sz="1300" dirty="0"/>
          </a:p>
        </p:txBody>
      </p:sp>
      <p:sp>
        <p:nvSpPr>
          <p:cNvPr id="30" name="Shape 28"/>
          <p:cNvSpPr/>
          <p:nvPr/>
        </p:nvSpPr>
        <p:spPr>
          <a:xfrm>
            <a:off x="4709160" y="4096512"/>
            <a:ext cx="329184" cy="329184"/>
          </a:xfrm>
          <a:prstGeom prst="ellipse">
            <a:avLst/>
          </a:prstGeom>
          <a:solidFill>
            <a:srgbClr val="0D9488"/>
          </a:solidFill>
          <a:ln w="12700">
            <a:solidFill>
              <a:srgbClr val="0D9488"/>
            </a:solidFill>
            <a:prstDash val="solid"/>
          </a:ln>
        </p:spPr>
      </p:sp>
      <p:sp>
        <p:nvSpPr>
          <p:cNvPr id="31" name="Text 29"/>
          <p:cNvSpPr/>
          <p:nvPr/>
        </p:nvSpPr>
        <p:spPr>
          <a:xfrm>
            <a:off x="4709160" y="409651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32" name="Text 30"/>
          <p:cNvSpPr/>
          <p:nvPr/>
        </p:nvSpPr>
        <p:spPr>
          <a:xfrm>
            <a:off x="5184648" y="4078224"/>
            <a:ext cx="3749040" cy="365760"/>
          </a:xfrm>
          <a:prstGeom prst="rect">
            <a:avLst/>
          </a:prstGeom>
          <a:noFill/>
          <a:ln/>
        </p:spPr>
        <p:txBody>
          <a:bodyPr wrap="square" rtlCol="0" anchor="ctr"/>
          <a:lstStyle/>
          <a:p>
            <a:pPr marL="0" indent="0">
              <a:buNone/>
            </a:pPr>
            <a:r>
              <a:rPr lang="en-US" sz="1300" dirty="0">
                <a:solidFill>
                  <a:srgbClr val="0F2A4D"/>
                </a:solidFill>
                <a:latin typeface="Calibri" pitchFamily="34" charset="0"/>
                <a:ea typeface="Calibri" pitchFamily="34" charset="-122"/>
                <a:cs typeface="Calibri" pitchFamily="34" charset="-120"/>
              </a:rPr>
              <a:t>Risks &amp; Challenges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The Problem</a:t>
            </a:r>
            <a:endParaRPr lang="en-US" sz="3000" dirty="0"/>
          </a:p>
        </p:txBody>
      </p:sp>
      <p:sp>
        <p:nvSpPr>
          <p:cNvPr id="3" name="Shape 1"/>
          <p:cNvSpPr/>
          <p:nvPr/>
        </p:nvSpPr>
        <p:spPr>
          <a:xfrm>
            <a:off x="365760" y="914400"/>
            <a:ext cx="4572000" cy="3977640"/>
          </a:xfrm>
          <a:prstGeom prst="roundRect">
            <a:avLst>
              <a:gd name="adj" fmla="val 2759"/>
            </a:avLst>
          </a:prstGeom>
          <a:solidFill>
            <a:srgbClr val="EFF6FF"/>
          </a:solidFill>
          <a:ln/>
        </p:spPr>
      </p:sp>
      <p:sp>
        <p:nvSpPr>
          <p:cNvPr id="4" name="Text 2"/>
          <p:cNvSpPr/>
          <p:nvPr/>
        </p:nvSpPr>
        <p:spPr>
          <a:xfrm>
            <a:off x="548640" y="1024128"/>
            <a:ext cx="4297680" cy="347472"/>
          </a:xfrm>
          <a:prstGeom prst="rect">
            <a:avLst/>
          </a:prstGeom>
          <a:noFill/>
          <a:ln/>
        </p:spPr>
        <p:txBody>
          <a:bodyPr wrap="square" rtlCol="0" anchor="ctr"/>
          <a:lstStyle/>
          <a:p>
            <a:pPr marL="0" indent="0">
              <a:buNone/>
            </a:pPr>
            <a:r>
              <a:rPr lang="en-US" sz="1500" b="1" dirty="0">
                <a:solidFill>
                  <a:srgbClr val="0D9488"/>
                </a:solidFill>
                <a:latin typeface="Calibri" pitchFamily="34" charset="0"/>
                <a:ea typeface="Calibri" pitchFamily="34" charset="-122"/>
                <a:cs typeface="Calibri" pitchFamily="34" charset="-120"/>
              </a:rPr>
              <a:t>Manual. Slow. Inconsistent.</a:t>
            </a:r>
            <a:endParaRPr lang="en-US" sz="1500" dirty="0"/>
          </a:p>
        </p:txBody>
      </p:sp>
      <p:sp>
        <p:nvSpPr>
          <p:cNvPr id="5" name="Text 3"/>
          <p:cNvSpPr/>
          <p:nvPr/>
        </p:nvSpPr>
        <p:spPr>
          <a:xfrm>
            <a:off x="548640" y="1417320"/>
            <a:ext cx="4297680" cy="320040"/>
          </a:xfrm>
          <a:prstGeom prst="rect">
            <a:avLst/>
          </a:prstGeom>
          <a:noFill/>
          <a:ln/>
        </p:spPr>
        <p:txBody>
          <a:bodyPr wrap="square" rtlCol="0" anchor="ctr"/>
          <a:lstStyle/>
          <a:p>
            <a:pPr marL="0" indent="0">
              <a:buNone/>
            </a:pPr>
            <a:r>
              <a:rPr lang="en-US" sz="1200" dirty="0">
                <a:solidFill>
                  <a:srgbClr val="0F2A4D"/>
                </a:solidFill>
                <a:latin typeface="Calibri" pitchFamily="34" charset="0"/>
                <a:ea typeface="Calibri" pitchFamily="34" charset="-122"/>
                <a:cs typeface="Calibri" pitchFamily="34" charset="-120"/>
              </a:rPr>
              <a:t>When a vehicle is damaged, a claims assessor must:</a:t>
            </a:r>
            <a:endParaRPr lang="en-US" sz="1200" dirty="0"/>
          </a:p>
        </p:txBody>
      </p:sp>
      <p:sp>
        <p:nvSpPr>
          <p:cNvPr id="6" name="Text 4"/>
          <p:cNvSpPr/>
          <p:nvPr/>
        </p:nvSpPr>
        <p:spPr>
          <a:xfrm>
            <a:off x="594360" y="1783080"/>
            <a:ext cx="4206240" cy="868680"/>
          </a:xfrm>
          <a:prstGeom prst="rect">
            <a:avLst/>
          </a:prstGeom>
          <a:noFill/>
          <a:ln/>
        </p:spPr>
        <p:txBody>
          <a:bodyPr wrap="square" rtlCol="0" anchor="t"/>
          <a:lstStyle/>
          <a:p>
            <a:pPr marL="342900" indent="-342900">
              <a:buSzPct val="100000"/>
              <a:buChar char="•"/>
            </a:pPr>
            <a:r>
              <a:rPr lang="en-US" sz="1200" dirty="0">
                <a:solidFill>
                  <a:srgbClr val="0F2A4D"/>
                </a:solidFill>
                <a:latin typeface="Calibri" pitchFamily="34" charset="0"/>
                <a:ea typeface="Calibri" pitchFamily="34" charset="-122"/>
                <a:cs typeface="Calibri" pitchFamily="34" charset="-120"/>
              </a:rPr>
              <a:t>Manually review all submitted photographs</a:t>
            </a:r>
            <a:endParaRPr lang="en-US" sz="1200" dirty="0"/>
          </a:p>
          <a:p>
            <a:pPr marL="342900" indent="-342900">
              <a:buSzPct val="100000"/>
              <a:buChar char="•"/>
            </a:pPr>
            <a:r>
              <a:rPr lang="en-US" sz="1200" dirty="0">
                <a:solidFill>
                  <a:srgbClr val="0F2A4D"/>
                </a:solidFill>
                <a:latin typeface="Calibri" pitchFamily="34" charset="0"/>
                <a:ea typeface="Calibri" pitchFamily="34" charset="-122"/>
                <a:cs typeface="Calibri" pitchFamily="34" charset="-120"/>
              </a:rPr>
              <a:t>Cross-reference the policyholder's insurance document</a:t>
            </a:r>
            <a:endParaRPr lang="en-US" sz="1200" dirty="0"/>
          </a:p>
          <a:p>
            <a:pPr marL="342900" indent="-342900">
              <a:buSzPct val="100000"/>
              <a:buChar char="•"/>
            </a:pPr>
            <a:r>
              <a:rPr lang="en-US" sz="1200" dirty="0">
                <a:solidFill>
                  <a:srgbClr val="0F2A4D"/>
                </a:solidFill>
                <a:latin typeface="Calibri" pitchFamily="34" charset="0"/>
                <a:ea typeface="Calibri" pitchFamily="34" charset="-122"/>
                <a:cs typeface="Calibri" pitchFamily="34" charset="-120"/>
              </a:rPr>
              <a:t>Write a preliminary assessment report</a:t>
            </a:r>
            <a:endParaRPr lang="en-US" sz="1200" dirty="0"/>
          </a:p>
        </p:txBody>
      </p:sp>
      <p:sp>
        <p:nvSpPr>
          <p:cNvPr id="7" name="Text 5"/>
          <p:cNvSpPr/>
          <p:nvPr/>
        </p:nvSpPr>
        <p:spPr>
          <a:xfrm>
            <a:off x="548640" y="2724912"/>
            <a:ext cx="4251960" cy="594360"/>
          </a:xfrm>
          <a:prstGeom prst="rect">
            <a:avLst/>
          </a:prstGeom>
          <a:noFill/>
          <a:ln/>
        </p:spPr>
        <p:txBody>
          <a:bodyPr wrap="square"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This process takes one to several business days and is prone to inter-assessor variability.</a:t>
            </a:r>
            <a:endParaRPr lang="en-US" sz="1200" dirty="0"/>
          </a:p>
        </p:txBody>
      </p:sp>
      <p:sp>
        <p:nvSpPr>
          <p:cNvPr id="8" name="Text 6"/>
          <p:cNvSpPr/>
          <p:nvPr/>
        </p:nvSpPr>
        <p:spPr>
          <a:xfrm>
            <a:off x="548640" y="3401568"/>
            <a:ext cx="4251960" cy="457200"/>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We build an AI decision-support system to automate the initial assessment stage.</a:t>
            </a:r>
            <a:endParaRPr lang="en-US" sz="1200" dirty="0"/>
          </a:p>
        </p:txBody>
      </p:sp>
      <p:sp>
        <p:nvSpPr>
          <p:cNvPr id="9" name="Text 7"/>
          <p:cNvSpPr/>
          <p:nvPr/>
        </p:nvSpPr>
        <p:spPr>
          <a:xfrm>
            <a:off x="5212080" y="914400"/>
            <a:ext cx="3566160" cy="347472"/>
          </a:xfrm>
          <a:prstGeom prst="rect">
            <a:avLst/>
          </a:prstGeom>
          <a:noFill/>
          <a:ln/>
        </p:spPr>
        <p:txBody>
          <a:bodyPr wrap="square" rtlCol="0" anchor="ctr"/>
          <a:lstStyle/>
          <a:p>
            <a:pPr marL="0" indent="0">
              <a:buNone/>
            </a:pPr>
            <a:r>
              <a:rPr lang="en-US" sz="1400" b="1" dirty="0">
                <a:solidFill>
                  <a:srgbClr val="0F2A4D"/>
                </a:solidFill>
                <a:latin typeface="Calibri" pitchFamily="34" charset="0"/>
                <a:ea typeface="Calibri" pitchFamily="34" charset="-122"/>
                <a:cs typeface="Calibri" pitchFamily="34" charset="-120"/>
              </a:rPr>
              <a:t>Stakeholders</a:t>
            </a:r>
            <a:endParaRPr lang="en-US" sz="1400" dirty="0"/>
          </a:p>
        </p:txBody>
      </p:sp>
      <p:sp>
        <p:nvSpPr>
          <p:cNvPr id="10" name="Shape 8"/>
          <p:cNvSpPr/>
          <p:nvPr/>
        </p:nvSpPr>
        <p:spPr>
          <a:xfrm>
            <a:off x="5212080" y="1371600"/>
            <a:ext cx="3566160" cy="1051560"/>
          </a:xfrm>
          <a:prstGeom prst="roundRect">
            <a:avLst>
              <a:gd name="adj" fmla="val 8696"/>
            </a:avLst>
          </a:prstGeom>
          <a:solidFill>
            <a:srgbClr val="FFFFFF"/>
          </a:solidFill>
          <a:ln/>
          <a:effectLst>
            <a:outerShdw blurRad="101600" dist="25400" dir="2700000" algn="bl" rotWithShape="0">
              <a:srgbClr val="000000">
                <a:alpha val="10000"/>
              </a:srgbClr>
            </a:outerShdw>
          </a:effectLst>
        </p:spPr>
      </p:sp>
      <p:sp>
        <p:nvSpPr>
          <p:cNvPr id="11" name="Shape 9"/>
          <p:cNvSpPr/>
          <p:nvPr/>
        </p:nvSpPr>
        <p:spPr>
          <a:xfrm>
            <a:off x="5321808" y="1463040"/>
            <a:ext cx="1005840" cy="228600"/>
          </a:xfrm>
          <a:prstGeom prst="roundRect">
            <a:avLst>
              <a:gd name="adj" fmla="val 20000"/>
            </a:avLst>
          </a:prstGeom>
          <a:solidFill>
            <a:srgbClr val="0D9488"/>
          </a:solidFill>
          <a:ln w="12700">
            <a:solidFill>
              <a:srgbClr val="0D9488"/>
            </a:solidFill>
            <a:prstDash val="solid"/>
          </a:ln>
        </p:spPr>
      </p:sp>
      <p:sp>
        <p:nvSpPr>
          <p:cNvPr id="12" name="Text 10"/>
          <p:cNvSpPr/>
          <p:nvPr/>
        </p:nvSpPr>
        <p:spPr>
          <a:xfrm>
            <a:off x="5321808" y="1463040"/>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PRIMARY</a:t>
            </a:r>
            <a:endParaRPr lang="en-US" sz="800" dirty="0"/>
          </a:p>
        </p:txBody>
      </p:sp>
      <p:sp>
        <p:nvSpPr>
          <p:cNvPr id="13" name="Text 11"/>
          <p:cNvSpPr/>
          <p:nvPr/>
        </p:nvSpPr>
        <p:spPr>
          <a:xfrm>
            <a:off x="5321808" y="1737360"/>
            <a:ext cx="3401568" cy="274320"/>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Claim Assessors</a:t>
            </a:r>
            <a:endParaRPr lang="en-US" sz="1300" dirty="0"/>
          </a:p>
        </p:txBody>
      </p:sp>
      <p:sp>
        <p:nvSpPr>
          <p:cNvPr id="14" name="Text 12"/>
          <p:cNvSpPr/>
          <p:nvPr/>
        </p:nvSpPr>
        <p:spPr>
          <a:xfrm>
            <a:off x="5321808" y="2020824"/>
            <a:ext cx="3401568" cy="34747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Faster first-pass reports; less repetitive manual work</a:t>
            </a:r>
            <a:endParaRPr lang="en-US" sz="1100" dirty="0"/>
          </a:p>
        </p:txBody>
      </p:sp>
      <p:sp>
        <p:nvSpPr>
          <p:cNvPr id="15" name="Shape 13"/>
          <p:cNvSpPr/>
          <p:nvPr/>
        </p:nvSpPr>
        <p:spPr>
          <a:xfrm>
            <a:off x="5212080" y="2606040"/>
            <a:ext cx="3566160" cy="1051560"/>
          </a:xfrm>
          <a:prstGeom prst="roundRect">
            <a:avLst>
              <a:gd name="adj" fmla="val 8696"/>
            </a:avLst>
          </a:prstGeom>
          <a:solidFill>
            <a:srgbClr val="FFFFFF"/>
          </a:solidFill>
          <a:ln/>
          <a:effectLst>
            <a:outerShdw blurRad="101600" dist="25400" dir="2700000" algn="bl" rotWithShape="0">
              <a:srgbClr val="000000">
                <a:alpha val="10000"/>
              </a:srgbClr>
            </a:outerShdw>
          </a:effectLst>
        </p:spPr>
      </p:sp>
      <p:sp>
        <p:nvSpPr>
          <p:cNvPr id="16" name="Shape 14"/>
          <p:cNvSpPr/>
          <p:nvPr/>
        </p:nvSpPr>
        <p:spPr>
          <a:xfrm>
            <a:off x="5321808" y="2697480"/>
            <a:ext cx="1005840" cy="228600"/>
          </a:xfrm>
          <a:prstGeom prst="roundRect">
            <a:avLst>
              <a:gd name="adj" fmla="val 20000"/>
            </a:avLst>
          </a:prstGeom>
          <a:solidFill>
            <a:srgbClr val="0D9488"/>
          </a:solidFill>
          <a:ln w="12700">
            <a:solidFill>
              <a:srgbClr val="0D9488"/>
            </a:solidFill>
            <a:prstDash val="solid"/>
          </a:ln>
        </p:spPr>
      </p:sp>
      <p:sp>
        <p:nvSpPr>
          <p:cNvPr id="17" name="Text 15"/>
          <p:cNvSpPr/>
          <p:nvPr/>
        </p:nvSpPr>
        <p:spPr>
          <a:xfrm>
            <a:off x="5321808" y="2697480"/>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PRIMARY</a:t>
            </a:r>
            <a:endParaRPr lang="en-US" sz="800" dirty="0"/>
          </a:p>
        </p:txBody>
      </p:sp>
      <p:sp>
        <p:nvSpPr>
          <p:cNvPr id="18" name="Text 16"/>
          <p:cNvSpPr/>
          <p:nvPr/>
        </p:nvSpPr>
        <p:spPr>
          <a:xfrm>
            <a:off x="5321808" y="2971800"/>
            <a:ext cx="3401568" cy="274320"/>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Insurance Companies</a:t>
            </a:r>
            <a:endParaRPr lang="en-US" sz="1300" dirty="0"/>
          </a:p>
        </p:txBody>
      </p:sp>
      <p:sp>
        <p:nvSpPr>
          <p:cNvPr id="19" name="Text 17"/>
          <p:cNvSpPr/>
          <p:nvPr/>
        </p:nvSpPr>
        <p:spPr>
          <a:xfrm>
            <a:off x="5321808" y="3255264"/>
            <a:ext cx="3401568" cy="34747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Reduced processing time; standardised initial assessments</a:t>
            </a:r>
            <a:endParaRPr lang="en-US" sz="1100" dirty="0"/>
          </a:p>
        </p:txBody>
      </p:sp>
      <p:sp>
        <p:nvSpPr>
          <p:cNvPr id="20" name="Shape 18"/>
          <p:cNvSpPr/>
          <p:nvPr/>
        </p:nvSpPr>
        <p:spPr>
          <a:xfrm>
            <a:off x="5212080" y="3840480"/>
            <a:ext cx="3566160" cy="1051560"/>
          </a:xfrm>
          <a:prstGeom prst="roundRect">
            <a:avLst>
              <a:gd name="adj" fmla="val 8696"/>
            </a:avLst>
          </a:prstGeom>
          <a:solidFill>
            <a:srgbClr val="FFFFFF"/>
          </a:solidFill>
          <a:ln/>
          <a:effectLst>
            <a:outerShdw blurRad="101600" dist="25400" dir="2700000" algn="bl" rotWithShape="0">
              <a:srgbClr val="000000">
                <a:alpha val="10000"/>
              </a:srgbClr>
            </a:outerShdw>
          </a:effectLst>
        </p:spPr>
      </p:sp>
      <p:sp>
        <p:nvSpPr>
          <p:cNvPr id="21" name="Shape 19"/>
          <p:cNvSpPr/>
          <p:nvPr/>
        </p:nvSpPr>
        <p:spPr>
          <a:xfrm>
            <a:off x="5321808" y="3931920"/>
            <a:ext cx="1005840" cy="228600"/>
          </a:xfrm>
          <a:prstGeom prst="roundRect">
            <a:avLst>
              <a:gd name="adj" fmla="val 20000"/>
            </a:avLst>
          </a:prstGeom>
          <a:solidFill>
            <a:srgbClr val="F59E0B"/>
          </a:solidFill>
          <a:ln w="12700">
            <a:solidFill>
              <a:srgbClr val="F59E0B"/>
            </a:solidFill>
            <a:prstDash val="solid"/>
          </a:ln>
        </p:spPr>
      </p:sp>
      <p:sp>
        <p:nvSpPr>
          <p:cNvPr id="22" name="Text 20"/>
          <p:cNvSpPr/>
          <p:nvPr/>
        </p:nvSpPr>
        <p:spPr>
          <a:xfrm>
            <a:off x="5321808" y="3931920"/>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SECONDARY</a:t>
            </a:r>
            <a:endParaRPr lang="en-US" sz="800" dirty="0"/>
          </a:p>
        </p:txBody>
      </p:sp>
      <p:sp>
        <p:nvSpPr>
          <p:cNvPr id="23" name="Text 21"/>
          <p:cNvSpPr/>
          <p:nvPr/>
        </p:nvSpPr>
        <p:spPr>
          <a:xfrm>
            <a:off x="5321808" y="4206240"/>
            <a:ext cx="3401568" cy="274320"/>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Policyholders</a:t>
            </a:r>
            <a:endParaRPr lang="en-US" sz="1300" dirty="0"/>
          </a:p>
        </p:txBody>
      </p:sp>
      <p:sp>
        <p:nvSpPr>
          <p:cNvPr id="24" name="Text 22"/>
          <p:cNvSpPr/>
          <p:nvPr/>
        </p:nvSpPr>
        <p:spPr>
          <a:xfrm>
            <a:off x="5321808" y="4489704"/>
            <a:ext cx="3401568" cy="347472"/>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Faster decisions; transparent, traceable documentation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This Matters</a:t>
            </a:r>
            <a:endParaRPr lang="en-US" sz="3000" dirty="0"/>
          </a:p>
        </p:txBody>
      </p:sp>
      <p:sp>
        <p:nvSpPr>
          <p:cNvPr id="3" name="Shape 1"/>
          <p:cNvSpPr/>
          <p:nvPr/>
        </p:nvSpPr>
        <p:spPr>
          <a:xfrm>
            <a:off x="365760" y="960120"/>
            <a:ext cx="3566160" cy="1920240"/>
          </a:xfrm>
          <a:prstGeom prst="roundRect">
            <a:avLst>
              <a:gd name="adj" fmla="val 7143"/>
            </a:avLst>
          </a:prstGeom>
          <a:solidFill>
            <a:srgbClr val="1E3A5F"/>
          </a:solidFill>
          <a:ln/>
          <a:effectLst>
            <a:outerShdw blurRad="101600" dist="25400" dir="2700000" algn="bl" rotWithShape="0">
              <a:srgbClr val="000000">
                <a:alpha val="10000"/>
              </a:srgbClr>
            </a:outerShdw>
          </a:effectLst>
        </p:spPr>
      </p:sp>
      <p:sp>
        <p:nvSpPr>
          <p:cNvPr id="4" name="Text 2"/>
          <p:cNvSpPr/>
          <p:nvPr/>
        </p:nvSpPr>
        <p:spPr>
          <a:xfrm>
            <a:off x="365760" y="1097280"/>
            <a:ext cx="3566160" cy="685800"/>
          </a:xfrm>
          <a:prstGeom prst="rect">
            <a:avLst/>
          </a:prstGeom>
          <a:noFill/>
          <a:ln/>
        </p:spPr>
        <p:txBody>
          <a:bodyPr wrap="square" rtlCol="0" anchor="ctr"/>
          <a:lstStyle/>
          <a:p>
            <a:pPr marL="0" indent="0" algn="ctr">
              <a:buNone/>
            </a:pPr>
            <a:r>
              <a:rPr lang="en-US" sz="4400" b="1" dirty="0">
                <a:solidFill>
                  <a:srgbClr val="99F6E4"/>
                </a:solidFill>
                <a:latin typeface="Cambria" pitchFamily="34" charset="0"/>
                <a:ea typeface="Cambria" pitchFamily="34" charset="-122"/>
                <a:cs typeface="Cambria" pitchFamily="34" charset="-120"/>
              </a:rPr>
              <a:t>$10B</a:t>
            </a:r>
            <a:endParaRPr lang="en-US" sz="4400" dirty="0"/>
          </a:p>
        </p:txBody>
      </p:sp>
      <p:sp>
        <p:nvSpPr>
          <p:cNvPr id="5" name="Text 3"/>
          <p:cNvSpPr/>
          <p:nvPr/>
        </p:nvSpPr>
        <p:spPr>
          <a:xfrm>
            <a:off x="365760" y="1737360"/>
            <a:ext cx="3566160" cy="438912"/>
          </a:xfrm>
          <a:prstGeom prst="rect">
            <a:avLst/>
          </a:prstGeom>
          <a:noFill/>
          <a:ln/>
        </p:spPr>
        <p:txBody>
          <a:bodyPr wrap="square" rtlCol="0" anchor="ctr"/>
          <a:lstStyle/>
          <a:p>
            <a:pPr marL="0" indent="0" algn="ctr">
              <a:buNone/>
            </a:pPr>
            <a:r>
              <a:rPr lang="en-US" sz="2600" b="1" dirty="0">
                <a:solidFill>
                  <a:srgbClr val="99F6E4"/>
                </a:solidFill>
                <a:latin typeface="Cambria" pitchFamily="34" charset="0"/>
                <a:ea typeface="Cambria" pitchFamily="34" charset="-122"/>
                <a:cs typeface="Cambria" pitchFamily="34" charset="-120"/>
              </a:rPr>
              <a:t>to $15B</a:t>
            </a:r>
            <a:endParaRPr lang="en-US" sz="2600" dirty="0"/>
          </a:p>
        </p:txBody>
      </p:sp>
      <p:sp>
        <p:nvSpPr>
          <p:cNvPr id="6" name="Text 4"/>
          <p:cNvSpPr/>
          <p:nvPr/>
        </p:nvSpPr>
        <p:spPr>
          <a:xfrm>
            <a:off x="365760" y="2212848"/>
            <a:ext cx="3566160" cy="548640"/>
          </a:xfrm>
          <a:prstGeom prst="rect">
            <a:avLst/>
          </a:prstGeom>
          <a:noFill/>
          <a:ln/>
        </p:spPr>
        <p:txBody>
          <a:bodyPr wrap="square"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India Motor Insurance Market</a:t>
            </a:r>
            <a:endParaRPr lang="en-US" sz="1100" dirty="0"/>
          </a:p>
          <a:p>
            <a:pPr marL="0" indent="0" algn="ctr">
              <a:buNone/>
            </a:pPr>
            <a:r>
              <a:rPr lang="en-US" sz="1100" dirty="0">
                <a:solidFill>
                  <a:srgbClr val="64748B"/>
                </a:solidFill>
                <a:latin typeface="Calibri" pitchFamily="34" charset="0"/>
                <a:ea typeface="Calibri" pitchFamily="34" charset="-122"/>
                <a:cs typeface="Calibri" pitchFamily="34" charset="-120"/>
              </a:rPr>
              <a:t>2026 → 2031</a:t>
            </a:r>
            <a:endParaRPr lang="en-US" sz="1100" dirty="0"/>
          </a:p>
        </p:txBody>
      </p:sp>
      <p:sp>
        <p:nvSpPr>
          <p:cNvPr id="7" name="Shape 5"/>
          <p:cNvSpPr/>
          <p:nvPr/>
        </p:nvSpPr>
        <p:spPr>
          <a:xfrm>
            <a:off x="4206240" y="960120"/>
            <a:ext cx="2331720" cy="1810512"/>
          </a:xfrm>
          <a:prstGeom prst="roundRect">
            <a:avLst>
              <a:gd name="adj" fmla="val 6061"/>
            </a:avLst>
          </a:prstGeom>
          <a:solidFill>
            <a:srgbClr val="1E3A5F"/>
          </a:solidFill>
          <a:ln/>
          <a:effectLst>
            <a:outerShdw blurRad="101600" dist="25400" dir="2700000" algn="bl" rotWithShape="0">
              <a:srgbClr val="000000">
                <a:alpha val="10000"/>
              </a:srgbClr>
            </a:outerShdw>
          </a:effectLst>
        </p:spPr>
      </p:sp>
      <p:sp>
        <p:nvSpPr>
          <p:cNvPr id="8" name="Text 6"/>
          <p:cNvSpPr/>
          <p:nvPr/>
        </p:nvSpPr>
        <p:spPr>
          <a:xfrm>
            <a:off x="4206240" y="1069848"/>
            <a:ext cx="2331720" cy="438912"/>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9" name="Text 7"/>
          <p:cNvSpPr/>
          <p:nvPr/>
        </p:nvSpPr>
        <p:spPr>
          <a:xfrm>
            <a:off x="4297680" y="1536192"/>
            <a:ext cx="2148840" cy="365760"/>
          </a:xfrm>
          <a:prstGeom prst="rect">
            <a:avLst/>
          </a:prstGeom>
          <a:noFill/>
          <a:ln/>
        </p:spPr>
        <p:txBody>
          <a:bodyPr wrap="square" rtlCol="0" anchor="ctr"/>
          <a:lstStyle/>
          <a:p>
            <a:pPr marL="0" indent="0" algn="ctr">
              <a:buNone/>
            </a:pPr>
            <a:r>
              <a:rPr lang="en-US" sz="1200" b="1" dirty="0">
                <a:solidFill>
                  <a:srgbClr val="99F6E4"/>
                </a:solidFill>
                <a:latin typeface="Calibri" pitchFamily="34" charset="0"/>
                <a:ea typeface="Calibri" pitchFamily="34" charset="-122"/>
                <a:cs typeface="Calibri" pitchFamily="34" charset="-120"/>
              </a:rPr>
              <a:t>Throughput Bottleneck</a:t>
            </a:r>
            <a:endParaRPr lang="en-US" sz="1200" dirty="0"/>
          </a:p>
        </p:txBody>
      </p:sp>
      <p:sp>
        <p:nvSpPr>
          <p:cNvPr id="10" name="Text 8"/>
          <p:cNvSpPr/>
          <p:nvPr/>
        </p:nvSpPr>
        <p:spPr>
          <a:xfrm>
            <a:off x="4297680" y="1920240"/>
            <a:ext cx="2148840" cy="7498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Manual photo review is the largest time cost per claim</a:t>
            </a:r>
            <a:endParaRPr lang="en-US" sz="1000" dirty="0"/>
          </a:p>
        </p:txBody>
      </p:sp>
      <p:sp>
        <p:nvSpPr>
          <p:cNvPr id="11" name="Shape 9"/>
          <p:cNvSpPr/>
          <p:nvPr/>
        </p:nvSpPr>
        <p:spPr>
          <a:xfrm>
            <a:off x="6675120" y="960120"/>
            <a:ext cx="2331720" cy="1810512"/>
          </a:xfrm>
          <a:prstGeom prst="roundRect">
            <a:avLst>
              <a:gd name="adj" fmla="val 6061"/>
            </a:avLst>
          </a:prstGeom>
          <a:solidFill>
            <a:srgbClr val="1E3A5F"/>
          </a:solidFill>
          <a:ln/>
          <a:effectLst>
            <a:outerShdw blurRad="101600" dist="25400" dir="2700000" algn="bl" rotWithShape="0">
              <a:srgbClr val="000000">
                <a:alpha val="10000"/>
              </a:srgbClr>
            </a:outerShdw>
          </a:effectLst>
        </p:spPr>
      </p:sp>
      <p:sp>
        <p:nvSpPr>
          <p:cNvPr id="12" name="Text 10"/>
          <p:cNvSpPr/>
          <p:nvPr/>
        </p:nvSpPr>
        <p:spPr>
          <a:xfrm>
            <a:off x="6675120" y="1069848"/>
            <a:ext cx="2331720" cy="438912"/>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3" name="Text 11"/>
          <p:cNvSpPr/>
          <p:nvPr/>
        </p:nvSpPr>
        <p:spPr>
          <a:xfrm>
            <a:off x="6766560" y="1536192"/>
            <a:ext cx="2148840" cy="365760"/>
          </a:xfrm>
          <a:prstGeom prst="rect">
            <a:avLst/>
          </a:prstGeom>
          <a:noFill/>
          <a:ln/>
        </p:spPr>
        <p:txBody>
          <a:bodyPr wrap="square" rtlCol="0" anchor="ctr"/>
          <a:lstStyle/>
          <a:p>
            <a:pPr marL="0" indent="0" algn="ctr">
              <a:buNone/>
            </a:pPr>
            <a:r>
              <a:rPr lang="en-US" sz="1200" b="1" dirty="0">
                <a:solidFill>
                  <a:srgbClr val="99F6E4"/>
                </a:solidFill>
                <a:latin typeface="Calibri" pitchFamily="34" charset="0"/>
                <a:ea typeface="Calibri" pitchFamily="34" charset="-122"/>
                <a:cs typeface="Calibri" pitchFamily="34" charset="-120"/>
              </a:rPr>
              <a:t>Assessor Variability</a:t>
            </a:r>
            <a:endParaRPr lang="en-US" sz="1200" dirty="0"/>
          </a:p>
        </p:txBody>
      </p:sp>
      <p:sp>
        <p:nvSpPr>
          <p:cNvPr id="14" name="Text 12"/>
          <p:cNvSpPr/>
          <p:nvPr/>
        </p:nvSpPr>
        <p:spPr>
          <a:xfrm>
            <a:off x="6766560" y="1920240"/>
            <a:ext cx="2148840" cy="7498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Same damage, different severity ratings between assessors</a:t>
            </a:r>
            <a:endParaRPr lang="en-US" sz="1000" dirty="0"/>
          </a:p>
        </p:txBody>
      </p:sp>
      <p:sp>
        <p:nvSpPr>
          <p:cNvPr id="15" name="Shape 13"/>
          <p:cNvSpPr/>
          <p:nvPr/>
        </p:nvSpPr>
        <p:spPr>
          <a:xfrm>
            <a:off x="4206240" y="2926080"/>
            <a:ext cx="2331720" cy="1810512"/>
          </a:xfrm>
          <a:prstGeom prst="roundRect">
            <a:avLst>
              <a:gd name="adj" fmla="val 6061"/>
            </a:avLst>
          </a:prstGeom>
          <a:solidFill>
            <a:srgbClr val="1E3A5F"/>
          </a:solidFill>
          <a:ln/>
          <a:effectLst>
            <a:outerShdw blurRad="101600" dist="25400" dir="2700000" algn="bl" rotWithShape="0">
              <a:srgbClr val="000000">
                <a:alpha val="10000"/>
              </a:srgbClr>
            </a:outerShdw>
          </a:effectLst>
        </p:spPr>
      </p:sp>
      <p:sp>
        <p:nvSpPr>
          <p:cNvPr id="16" name="Text 14"/>
          <p:cNvSpPr/>
          <p:nvPr/>
        </p:nvSpPr>
        <p:spPr>
          <a:xfrm>
            <a:off x="4206240" y="3035808"/>
            <a:ext cx="2331720" cy="438912"/>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7" name="Text 15"/>
          <p:cNvSpPr/>
          <p:nvPr/>
        </p:nvSpPr>
        <p:spPr>
          <a:xfrm>
            <a:off x="4297680" y="3502152"/>
            <a:ext cx="2148840" cy="365760"/>
          </a:xfrm>
          <a:prstGeom prst="rect">
            <a:avLst/>
          </a:prstGeom>
          <a:noFill/>
          <a:ln/>
        </p:spPr>
        <p:txBody>
          <a:bodyPr wrap="square" rtlCol="0" anchor="ctr"/>
          <a:lstStyle/>
          <a:p>
            <a:pPr marL="0" indent="0" algn="ctr">
              <a:buNone/>
            </a:pPr>
            <a:r>
              <a:rPr lang="en-US" sz="1200" b="1" dirty="0">
                <a:solidFill>
                  <a:srgbClr val="99F6E4"/>
                </a:solidFill>
                <a:latin typeface="Calibri" pitchFamily="34" charset="0"/>
                <a:ea typeface="Calibri" pitchFamily="34" charset="-122"/>
                <a:cs typeface="Calibri" pitchFamily="34" charset="-120"/>
              </a:rPr>
              <a:t>Policy Cross-referencing</a:t>
            </a:r>
            <a:endParaRPr lang="en-US" sz="1200" dirty="0"/>
          </a:p>
        </p:txBody>
      </p:sp>
      <p:sp>
        <p:nvSpPr>
          <p:cNvPr id="18" name="Text 16"/>
          <p:cNvSpPr/>
          <p:nvPr/>
        </p:nvSpPr>
        <p:spPr>
          <a:xfrm>
            <a:off x="4297680" y="3886200"/>
            <a:ext cx="2148840" cy="7498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Multi-page policy docs read repeatedly for every claim</a:t>
            </a:r>
            <a:endParaRPr lang="en-US" sz="1000" dirty="0"/>
          </a:p>
        </p:txBody>
      </p:sp>
      <p:sp>
        <p:nvSpPr>
          <p:cNvPr id="19" name="Shape 17"/>
          <p:cNvSpPr/>
          <p:nvPr/>
        </p:nvSpPr>
        <p:spPr>
          <a:xfrm>
            <a:off x="6675120" y="2926080"/>
            <a:ext cx="2331720" cy="1810512"/>
          </a:xfrm>
          <a:prstGeom prst="roundRect">
            <a:avLst>
              <a:gd name="adj" fmla="val 6061"/>
            </a:avLst>
          </a:prstGeom>
          <a:solidFill>
            <a:srgbClr val="1E3A5F"/>
          </a:solidFill>
          <a:ln/>
          <a:effectLst>
            <a:outerShdw blurRad="101600" dist="25400" dir="2700000" algn="bl" rotWithShape="0">
              <a:srgbClr val="000000">
                <a:alpha val="10000"/>
              </a:srgbClr>
            </a:outerShdw>
          </a:effectLst>
        </p:spPr>
      </p:sp>
      <p:sp>
        <p:nvSpPr>
          <p:cNvPr id="20" name="Text 18"/>
          <p:cNvSpPr/>
          <p:nvPr/>
        </p:nvSpPr>
        <p:spPr>
          <a:xfrm>
            <a:off x="6675120" y="3035808"/>
            <a:ext cx="2331720" cy="438912"/>
          </a:xfrm>
          <a:prstGeom prst="rect">
            <a:avLst/>
          </a:prstGeom>
          <a:noFill/>
          <a:ln/>
        </p:spPr>
        <p:txBody>
          <a:bodyPr wrap="square"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1" name="Text 19"/>
          <p:cNvSpPr/>
          <p:nvPr/>
        </p:nvSpPr>
        <p:spPr>
          <a:xfrm>
            <a:off x="6766560" y="3502152"/>
            <a:ext cx="2148840" cy="365760"/>
          </a:xfrm>
          <a:prstGeom prst="rect">
            <a:avLst/>
          </a:prstGeom>
          <a:noFill/>
          <a:ln/>
        </p:spPr>
        <p:txBody>
          <a:bodyPr wrap="square" rtlCol="0" anchor="ctr"/>
          <a:lstStyle/>
          <a:p>
            <a:pPr marL="0" indent="0" algn="ctr">
              <a:buNone/>
            </a:pPr>
            <a:r>
              <a:rPr lang="en-US" sz="1200" b="1" dirty="0">
                <a:solidFill>
                  <a:srgbClr val="99F6E4"/>
                </a:solidFill>
                <a:latin typeface="Calibri" pitchFamily="34" charset="0"/>
                <a:ea typeface="Calibri" pitchFamily="34" charset="-122"/>
                <a:cs typeface="Calibri" pitchFamily="34" charset="-120"/>
              </a:rPr>
              <a:t>Scalability</a:t>
            </a:r>
            <a:endParaRPr lang="en-US" sz="1200" dirty="0"/>
          </a:p>
        </p:txBody>
      </p:sp>
      <p:sp>
        <p:nvSpPr>
          <p:cNvPr id="22" name="Text 20"/>
          <p:cNvSpPr/>
          <p:nvPr/>
        </p:nvSpPr>
        <p:spPr>
          <a:xfrm>
            <a:off x="6766560" y="3886200"/>
            <a:ext cx="2148840" cy="749808"/>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Surge events (storms, floods) flood the pipeline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Prior Research: Computer Vision</a:t>
            </a:r>
            <a:endParaRPr lang="en-US" sz="3000" dirty="0"/>
          </a:p>
        </p:txBody>
      </p:sp>
      <p:sp>
        <p:nvSpPr>
          <p:cNvPr id="3" name="Shape 1"/>
          <p:cNvSpPr/>
          <p:nvPr/>
        </p:nvSpPr>
        <p:spPr>
          <a:xfrm>
            <a:off x="365760" y="932688"/>
            <a:ext cx="4206240" cy="1828800"/>
          </a:xfrm>
          <a:prstGeom prst="roundRect">
            <a:avLst>
              <a:gd name="adj" fmla="val 5000"/>
            </a:avLst>
          </a:prstGeom>
          <a:solidFill>
            <a:srgbClr val="FFFFFF"/>
          </a:solidFill>
          <a:ln/>
          <a:effectLst>
            <a:outerShdw blurRad="101600" dist="25400" dir="2700000" algn="bl" rotWithShape="0">
              <a:srgbClr val="000000">
                <a:alpha val="10000"/>
              </a:srgbClr>
            </a:outerShdw>
          </a:effectLst>
        </p:spPr>
      </p:sp>
      <p:sp>
        <p:nvSpPr>
          <p:cNvPr id="4" name="Shape 2"/>
          <p:cNvSpPr/>
          <p:nvPr/>
        </p:nvSpPr>
        <p:spPr>
          <a:xfrm>
            <a:off x="475488" y="1042416"/>
            <a:ext cx="1005840" cy="228600"/>
          </a:xfrm>
          <a:prstGeom prst="roundRect">
            <a:avLst>
              <a:gd name="adj" fmla="val 20000"/>
            </a:avLst>
          </a:prstGeom>
          <a:solidFill>
            <a:srgbClr val="0D9488"/>
          </a:solidFill>
          <a:ln w="12700">
            <a:solidFill>
              <a:srgbClr val="0D9488"/>
            </a:solidFill>
            <a:prstDash val="solid"/>
          </a:ln>
        </p:spPr>
      </p:sp>
      <p:sp>
        <p:nvSpPr>
          <p:cNvPr id="5" name="Text 3"/>
          <p:cNvSpPr/>
          <p:nvPr/>
        </p:nvSpPr>
        <p:spPr>
          <a:xfrm>
            <a:off x="475488" y="1042416"/>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Foundational</a:t>
            </a:r>
            <a:endParaRPr lang="en-US" sz="800" dirty="0"/>
          </a:p>
        </p:txBody>
      </p:sp>
      <p:sp>
        <p:nvSpPr>
          <p:cNvPr id="6" name="Text 4"/>
          <p:cNvSpPr/>
          <p:nvPr/>
        </p:nvSpPr>
        <p:spPr>
          <a:xfrm>
            <a:off x="502920" y="1353312"/>
            <a:ext cx="3977640" cy="320040"/>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Patil et al. (2017)</a:t>
            </a:r>
            <a:endParaRPr lang="en-US" sz="1300" dirty="0"/>
          </a:p>
        </p:txBody>
      </p:sp>
      <p:sp>
        <p:nvSpPr>
          <p:cNvPr id="7" name="Text 5"/>
          <p:cNvSpPr/>
          <p:nvPr/>
        </p:nvSpPr>
        <p:spPr>
          <a:xfrm>
            <a:off x="502920" y="1700784"/>
            <a:ext cx="3977640" cy="9784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First CNN-based binary classifier for vehicle damage. Established that deep learning could distinguish damaged from undamaged vehicles.</a:t>
            </a:r>
            <a:endParaRPr lang="en-US" sz="1100" dirty="0"/>
          </a:p>
        </p:txBody>
      </p:sp>
      <p:sp>
        <p:nvSpPr>
          <p:cNvPr id="8" name="Shape 6"/>
          <p:cNvSpPr/>
          <p:nvPr/>
        </p:nvSpPr>
        <p:spPr>
          <a:xfrm>
            <a:off x="4754880" y="932688"/>
            <a:ext cx="4206240" cy="1828800"/>
          </a:xfrm>
          <a:prstGeom prst="roundRect">
            <a:avLst>
              <a:gd name="adj" fmla="val 5000"/>
            </a:avLst>
          </a:prstGeom>
          <a:solidFill>
            <a:srgbClr val="FFFFFF"/>
          </a:solidFill>
          <a:ln/>
          <a:effectLst>
            <a:outerShdw blurRad="101600" dist="25400" dir="2700000" algn="bl" rotWithShape="0">
              <a:srgbClr val="000000">
                <a:alpha val="10000"/>
              </a:srgbClr>
            </a:outerShdw>
          </a:effectLst>
        </p:spPr>
      </p:sp>
      <p:sp>
        <p:nvSpPr>
          <p:cNvPr id="9" name="Shape 7"/>
          <p:cNvSpPr/>
          <p:nvPr/>
        </p:nvSpPr>
        <p:spPr>
          <a:xfrm>
            <a:off x="4864608" y="1042416"/>
            <a:ext cx="1005840" cy="228600"/>
          </a:xfrm>
          <a:prstGeom prst="roundRect">
            <a:avLst>
              <a:gd name="adj" fmla="val 20000"/>
            </a:avLst>
          </a:prstGeom>
          <a:solidFill>
            <a:srgbClr val="0D9488"/>
          </a:solidFill>
          <a:ln w="12700">
            <a:solidFill>
              <a:srgbClr val="0D9488"/>
            </a:solidFill>
            <a:prstDash val="solid"/>
          </a:ln>
        </p:spPr>
      </p:sp>
      <p:sp>
        <p:nvSpPr>
          <p:cNvPr id="10" name="Text 8"/>
          <p:cNvSpPr/>
          <p:nvPr/>
        </p:nvSpPr>
        <p:spPr>
          <a:xfrm>
            <a:off x="4864608" y="1042416"/>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Detection</a:t>
            </a:r>
            <a:endParaRPr lang="en-US" sz="800" dirty="0"/>
          </a:p>
        </p:txBody>
      </p:sp>
      <p:sp>
        <p:nvSpPr>
          <p:cNvPr id="11" name="Text 9"/>
          <p:cNvSpPr/>
          <p:nvPr/>
        </p:nvSpPr>
        <p:spPr>
          <a:xfrm>
            <a:off x="4892040" y="1353312"/>
            <a:ext cx="3977640" cy="320040"/>
          </a:xfrm>
          <a:prstGeom prst="rect">
            <a:avLst/>
          </a:prstGeom>
          <a:noFill/>
          <a:ln/>
        </p:spPr>
        <p:txBody>
          <a:bodyPr wrap="square" rtlCol="0" anchor="ctr"/>
          <a:lstStyle/>
          <a:p>
            <a:pPr marL="0" indent="0">
              <a:buNone/>
            </a:pPr>
            <a:r>
              <a:rPr lang="en-US" sz="1300" b="1" dirty="0" smtClean="0">
                <a:solidFill>
                  <a:srgbClr val="0F2A4D"/>
                </a:solidFill>
                <a:latin typeface="Calibri" pitchFamily="34" charset="0"/>
                <a:ea typeface="Calibri" pitchFamily="34" charset="-122"/>
                <a:cs typeface="Calibri" pitchFamily="34" charset="-120"/>
              </a:rPr>
              <a:t>YOLOv8 </a:t>
            </a:r>
            <a:r>
              <a:rPr lang="en-US" sz="1300" b="1" dirty="0">
                <a:solidFill>
                  <a:srgbClr val="0F2A4D"/>
                </a:solidFill>
                <a:latin typeface="Calibri" pitchFamily="34" charset="0"/>
                <a:ea typeface="Calibri" pitchFamily="34" charset="-122"/>
                <a:cs typeface="Calibri" pitchFamily="34" charset="-120"/>
              </a:rPr>
              <a:t>IEEE (2024)</a:t>
            </a:r>
            <a:endParaRPr lang="en-US" sz="1300" dirty="0"/>
          </a:p>
        </p:txBody>
      </p:sp>
      <p:sp>
        <p:nvSpPr>
          <p:cNvPr id="12" name="Text 10"/>
          <p:cNvSpPr/>
          <p:nvPr/>
        </p:nvSpPr>
        <p:spPr>
          <a:xfrm>
            <a:off x="4892040" y="1700784"/>
            <a:ext cx="3977640" cy="9784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Fine-tuned on 4,000+ images with 21 car-part classes &amp; 8 damage types. Strong mAP for simultaneous part + damage segmentation.</a:t>
            </a:r>
            <a:endParaRPr lang="en-US" sz="1100" dirty="0"/>
          </a:p>
        </p:txBody>
      </p:sp>
      <p:sp>
        <p:nvSpPr>
          <p:cNvPr id="13" name="Shape 11"/>
          <p:cNvSpPr/>
          <p:nvPr/>
        </p:nvSpPr>
        <p:spPr>
          <a:xfrm>
            <a:off x="365760" y="2926080"/>
            <a:ext cx="4206240" cy="1828800"/>
          </a:xfrm>
          <a:prstGeom prst="roundRect">
            <a:avLst>
              <a:gd name="adj" fmla="val 5000"/>
            </a:avLst>
          </a:prstGeom>
          <a:solidFill>
            <a:srgbClr val="FFFFFF"/>
          </a:solidFill>
          <a:ln/>
          <a:effectLst>
            <a:outerShdw blurRad="101600" dist="25400" dir="2700000" algn="bl" rotWithShape="0">
              <a:srgbClr val="000000">
                <a:alpha val="10000"/>
              </a:srgbClr>
            </a:outerShdw>
          </a:effectLst>
        </p:spPr>
      </p:sp>
      <p:sp>
        <p:nvSpPr>
          <p:cNvPr id="14" name="Shape 12"/>
          <p:cNvSpPr/>
          <p:nvPr/>
        </p:nvSpPr>
        <p:spPr>
          <a:xfrm>
            <a:off x="475488" y="3035808"/>
            <a:ext cx="1005840" cy="228600"/>
          </a:xfrm>
          <a:prstGeom prst="roundRect">
            <a:avLst>
              <a:gd name="adj" fmla="val 20000"/>
            </a:avLst>
          </a:prstGeom>
          <a:solidFill>
            <a:srgbClr val="0D9488"/>
          </a:solidFill>
          <a:ln w="12700">
            <a:solidFill>
              <a:srgbClr val="0D9488"/>
            </a:solidFill>
            <a:prstDash val="solid"/>
          </a:ln>
        </p:spPr>
      </p:sp>
      <p:sp>
        <p:nvSpPr>
          <p:cNvPr id="15" name="Text 13"/>
          <p:cNvSpPr/>
          <p:nvPr/>
        </p:nvSpPr>
        <p:spPr>
          <a:xfrm>
            <a:off x="475488" y="3035808"/>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SOTA</a:t>
            </a:r>
            <a:endParaRPr lang="en-US" sz="800" dirty="0"/>
          </a:p>
        </p:txBody>
      </p:sp>
      <p:sp>
        <p:nvSpPr>
          <p:cNvPr id="16" name="Text 14"/>
          <p:cNvSpPr/>
          <p:nvPr/>
        </p:nvSpPr>
        <p:spPr>
          <a:xfrm>
            <a:off x="502920" y="3346704"/>
            <a:ext cx="3977640" cy="320040"/>
          </a:xfrm>
          <a:prstGeom prst="rect">
            <a:avLst/>
          </a:prstGeom>
          <a:noFill/>
          <a:ln/>
        </p:spPr>
        <p:txBody>
          <a:bodyPr wrap="square" rtlCol="0" anchor="ctr"/>
          <a:lstStyle/>
          <a:p>
            <a:pPr marL="0" indent="0">
              <a:buNone/>
            </a:pPr>
            <a:r>
              <a:rPr lang="en-US" sz="1300" b="1" dirty="0" smtClean="0">
                <a:solidFill>
                  <a:srgbClr val="0F2A4D"/>
                </a:solidFill>
                <a:latin typeface="Calibri" pitchFamily="34" charset="0"/>
                <a:ea typeface="Calibri" pitchFamily="34" charset="-122"/>
                <a:cs typeface="Calibri" pitchFamily="34" charset="-120"/>
              </a:rPr>
              <a:t>HL-YOLO </a:t>
            </a:r>
            <a:r>
              <a:rPr lang="en-US" sz="1300" b="1" dirty="0">
                <a:solidFill>
                  <a:srgbClr val="0F2A4D"/>
                </a:solidFill>
                <a:latin typeface="Calibri" pitchFamily="34" charset="0"/>
                <a:ea typeface="Calibri" pitchFamily="34" charset="-122"/>
                <a:cs typeface="Calibri" pitchFamily="34" charset="-120"/>
              </a:rPr>
              <a:t>MDPI (2025)</a:t>
            </a:r>
            <a:endParaRPr lang="en-US" sz="1300" dirty="0"/>
          </a:p>
        </p:txBody>
      </p:sp>
      <p:sp>
        <p:nvSpPr>
          <p:cNvPr id="17" name="Text 15"/>
          <p:cNvSpPr/>
          <p:nvPr/>
        </p:nvSpPr>
        <p:spPr>
          <a:xfrm>
            <a:off x="502920" y="3694176"/>
            <a:ext cx="3977640" cy="9784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+2.5% precision, +5.8% recall, +3-4% mAP over YOLO11 baseline via heterogeneous convolutions. Closest to our chosen approach.</a:t>
            </a:r>
            <a:endParaRPr lang="en-US" sz="1100" dirty="0"/>
          </a:p>
        </p:txBody>
      </p:sp>
      <p:sp>
        <p:nvSpPr>
          <p:cNvPr id="18" name="Shape 16"/>
          <p:cNvSpPr/>
          <p:nvPr/>
        </p:nvSpPr>
        <p:spPr>
          <a:xfrm>
            <a:off x="4754880" y="2926080"/>
            <a:ext cx="4206240" cy="1828800"/>
          </a:xfrm>
          <a:prstGeom prst="roundRect">
            <a:avLst>
              <a:gd name="adj" fmla="val 5000"/>
            </a:avLst>
          </a:prstGeom>
          <a:solidFill>
            <a:srgbClr val="FFFFFF"/>
          </a:solidFill>
          <a:ln/>
          <a:effectLst>
            <a:outerShdw blurRad="101600" dist="25400" dir="2700000" algn="bl" rotWithShape="0">
              <a:srgbClr val="000000">
                <a:alpha val="10000"/>
              </a:srgbClr>
            </a:outerShdw>
          </a:effectLst>
        </p:spPr>
      </p:sp>
      <p:sp>
        <p:nvSpPr>
          <p:cNvPr id="19" name="Shape 17"/>
          <p:cNvSpPr/>
          <p:nvPr/>
        </p:nvSpPr>
        <p:spPr>
          <a:xfrm>
            <a:off x="4864608" y="3035808"/>
            <a:ext cx="1005840" cy="228600"/>
          </a:xfrm>
          <a:prstGeom prst="roundRect">
            <a:avLst>
              <a:gd name="adj" fmla="val 20000"/>
            </a:avLst>
          </a:prstGeom>
          <a:solidFill>
            <a:srgbClr val="0D9488"/>
          </a:solidFill>
          <a:ln w="12700">
            <a:solidFill>
              <a:srgbClr val="0D9488"/>
            </a:solidFill>
            <a:prstDash val="solid"/>
          </a:ln>
        </p:spPr>
      </p:sp>
      <p:sp>
        <p:nvSpPr>
          <p:cNvPr id="20" name="Text 18"/>
          <p:cNvSpPr/>
          <p:nvPr/>
        </p:nvSpPr>
        <p:spPr>
          <a:xfrm>
            <a:off x="4864608" y="3035808"/>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Two-Stage</a:t>
            </a:r>
            <a:endParaRPr lang="en-US" sz="800" dirty="0"/>
          </a:p>
        </p:txBody>
      </p:sp>
      <p:sp>
        <p:nvSpPr>
          <p:cNvPr id="21" name="Text 19"/>
          <p:cNvSpPr/>
          <p:nvPr/>
        </p:nvSpPr>
        <p:spPr>
          <a:xfrm>
            <a:off x="4892040" y="3346704"/>
            <a:ext cx="3977640" cy="320040"/>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Mask </a:t>
            </a:r>
            <a:r>
              <a:rPr lang="en-US" sz="1300" b="1" dirty="0" smtClean="0">
                <a:solidFill>
                  <a:srgbClr val="0F2A4D"/>
                </a:solidFill>
                <a:latin typeface="Calibri" pitchFamily="34" charset="0"/>
                <a:ea typeface="Calibri" pitchFamily="34" charset="-122"/>
                <a:cs typeface="Calibri" pitchFamily="34" charset="-120"/>
              </a:rPr>
              <a:t>R-CNN </a:t>
            </a:r>
            <a:r>
              <a:rPr lang="en-US" sz="1300" b="1" dirty="0">
                <a:solidFill>
                  <a:srgbClr val="0F2A4D"/>
                </a:solidFill>
                <a:latin typeface="Calibri" pitchFamily="34" charset="0"/>
                <a:ea typeface="Calibri" pitchFamily="34" charset="-122"/>
                <a:cs typeface="Calibri" pitchFamily="34" charset="-120"/>
              </a:rPr>
              <a:t>He et al. (2017)</a:t>
            </a:r>
            <a:endParaRPr lang="en-US" sz="1300" dirty="0"/>
          </a:p>
        </p:txBody>
      </p:sp>
      <p:sp>
        <p:nvSpPr>
          <p:cNvPr id="22" name="Text 20"/>
          <p:cNvSpPr/>
          <p:nvPr/>
        </p:nvSpPr>
        <p:spPr>
          <a:xfrm>
            <a:off x="4892040" y="3694176"/>
            <a:ext cx="3977640" cy="9784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Higher segmentation fidelity via vehicle-then-damage pipeline. Achieves better masks but at significantly greater compute cost.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Prior Research: RAG &amp; Industry</a:t>
            </a:r>
            <a:endParaRPr lang="en-US" sz="3000" dirty="0"/>
          </a:p>
        </p:txBody>
      </p:sp>
      <p:sp>
        <p:nvSpPr>
          <p:cNvPr id="3" name="Text 1"/>
          <p:cNvSpPr/>
          <p:nvPr/>
        </p:nvSpPr>
        <p:spPr>
          <a:xfrm>
            <a:off x="365760" y="932688"/>
            <a:ext cx="4754880" cy="320040"/>
          </a:xfrm>
          <a:prstGeom prst="rect">
            <a:avLst/>
          </a:prstGeom>
          <a:noFill/>
          <a:ln/>
        </p:spPr>
        <p:txBody>
          <a:bodyPr wrap="square"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RAG for Document Understanding</a:t>
            </a:r>
            <a:endParaRPr lang="en-US" sz="1400" dirty="0"/>
          </a:p>
        </p:txBody>
      </p:sp>
      <p:sp>
        <p:nvSpPr>
          <p:cNvPr id="4" name="Shape 2"/>
          <p:cNvSpPr/>
          <p:nvPr/>
        </p:nvSpPr>
        <p:spPr>
          <a:xfrm>
            <a:off x="365760" y="1325880"/>
            <a:ext cx="4754880" cy="1024128"/>
          </a:xfrm>
          <a:prstGeom prst="roundRect">
            <a:avLst>
              <a:gd name="adj" fmla="val 8929"/>
            </a:avLst>
          </a:prstGeom>
          <a:solidFill>
            <a:srgbClr val="EFF6FF"/>
          </a:solidFill>
          <a:ln/>
        </p:spPr>
      </p:sp>
      <p:sp>
        <p:nvSpPr>
          <p:cNvPr id="5" name="Text 3"/>
          <p:cNvSpPr/>
          <p:nvPr/>
        </p:nvSpPr>
        <p:spPr>
          <a:xfrm>
            <a:off x="530352" y="1389888"/>
            <a:ext cx="4572000" cy="274320"/>
          </a:xfrm>
          <a:prstGeom prst="rect">
            <a:avLst/>
          </a:prstGeom>
          <a:noFill/>
          <a:ln/>
        </p:spPr>
        <p:txBody>
          <a:bodyPr wrap="square" rtlCol="0" anchor="ctr"/>
          <a:lstStyle/>
          <a:p>
            <a:pPr marL="0" indent="0">
              <a:buNone/>
            </a:pPr>
            <a:r>
              <a:rPr lang="en-US" sz="1200" b="1" dirty="0">
                <a:solidFill>
                  <a:srgbClr val="0F2A4D"/>
                </a:solidFill>
                <a:latin typeface="Calibri" pitchFamily="34" charset="0"/>
                <a:ea typeface="Calibri" pitchFamily="34" charset="-122"/>
                <a:cs typeface="Calibri" pitchFamily="34" charset="-120"/>
              </a:rPr>
              <a:t>Chunk Size Matters</a:t>
            </a:r>
            <a:endParaRPr lang="en-US" sz="1200" dirty="0"/>
          </a:p>
        </p:txBody>
      </p:sp>
      <p:sp>
        <p:nvSpPr>
          <p:cNvPr id="6" name="Text 4"/>
          <p:cNvSpPr/>
          <p:nvPr/>
        </p:nvSpPr>
        <p:spPr>
          <a:xfrm>
            <a:off x="530352" y="1682496"/>
            <a:ext cx="4572000" cy="59436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200-400 token chunks with overlap consistently outperform large-chunk retrieval for precise clause-level recall in legal documents.</a:t>
            </a:r>
            <a:endParaRPr lang="en-US" sz="1100" dirty="0"/>
          </a:p>
        </p:txBody>
      </p:sp>
      <p:sp>
        <p:nvSpPr>
          <p:cNvPr id="7" name="Shape 5"/>
          <p:cNvSpPr/>
          <p:nvPr/>
        </p:nvSpPr>
        <p:spPr>
          <a:xfrm>
            <a:off x="365760" y="2468880"/>
            <a:ext cx="4754880" cy="1024128"/>
          </a:xfrm>
          <a:prstGeom prst="roundRect">
            <a:avLst>
              <a:gd name="adj" fmla="val 8929"/>
            </a:avLst>
          </a:prstGeom>
          <a:solidFill>
            <a:srgbClr val="EFF6FF"/>
          </a:solidFill>
          <a:ln/>
        </p:spPr>
      </p:sp>
      <p:sp>
        <p:nvSpPr>
          <p:cNvPr id="8" name="Text 6"/>
          <p:cNvSpPr/>
          <p:nvPr/>
        </p:nvSpPr>
        <p:spPr>
          <a:xfrm>
            <a:off x="530352" y="2532888"/>
            <a:ext cx="4572000" cy="274320"/>
          </a:xfrm>
          <a:prstGeom prst="rect">
            <a:avLst/>
          </a:prstGeom>
          <a:noFill/>
          <a:ln/>
        </p:spPr>
        <p:txBody>
          <a:bodyPr wrap="square" rtlCol="0" anchor="ctr"/>
          <a:lstStyle/>
          <a:p>
            <a:pPr marL="0" indent="0">
              <a:buNone/>
            </a:pPr>
            <a:r>
              <a:rPr lang="en-US" sz="1200" b="1" dirty="0">
                <a:solidFill>
                  <a:srgbClr val="0F2A4D"/>
                </a:solidFill>
                <a:latin typeface="Calibri" pitchFamily="34" charset="0"/>
                <a:ea typeface="Calibri" pitchFamily="34" charset="-122"/>
                <a:cs typeface="Calibri" pitchFamily="34" charset="-120"/>
              </a:rPr>
              <a:t>Bi-encoders Beat BM25</a:t>
            </a:r>
            <a:endParaRPr lang="en-US" sz="1200" dirty="0"/>
          </a:p>
        </p:txBody>
      </p:sp>
      <p:sp>
        <p:nvSpPr>
          <p:cNvPr id="9" name="Text 7"/>
          <p:cNvSpPr/>
          <p:nvPr/>
        </p:nvSpPr>
        <p:spPr>
          <a:xfrm>
            <a:off x="530352" y="2825496"/>
            <a:ext cx="4572000" cy="59436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MiniLM-L6-v2 and MPNet outperform sparse BM25 retrieval for semantic matching of insurance-style queries.</a:t>
            </a:r>
            <a:endParaRPr lang="en-US" sz="1100" dirty="0"/>
          </a:p>
        </p:txBody>
      </p:sp>
      <p:sp>
        <p:nvSpPr>
          <p:cNvPr id="10" name="Shape 8"/>
          <p:cNvSpPr/>
          <p:nvPr/>
        </p:nvSpPr>
        <p:spPr>
          <a:xfrm>
            <a:off x="365760" y="3611880"/>
            <a:ext cx="4754880" cy="1024128"/>
          </a:xfrm>
          <a:prstGeom prst="roundRect">
            <a:avLst>
              <a:gd name="adj" fmla="val 8929"/>
            </a:avLst>
          </a:prstGeom>
          <a:solidFill>
            <a:srgbClr val="EFF6FF"/>
          </a:solidFill>
          <a:ln/>
        </p:spPr>
      </p:sp>
      <p:sp>
        <p:nvSpPr>
          <p:cNvPr id="11" name="Text 9"/>
          <p:cNvSpPr/>
          <p:nvPr/>
        </p:nvSpPr>
        <p:spPr>
          <a:xfrm>
            <a:off x="530352" y="3675888"/>
            <a:ext cx="4572000" cy="274320"/>
          </a:xfrm>
          <a:prstGeom prst="rect">
            <a:avLst/>
          </a:prstGeom>
          <a:noFill/>
          <a:ln/>
        </p:spPr>
        <p:txBody>
          <a:bodyPr wrap="square" rtlCol="0" anchor="ctr"/>
          <a:lstStyle/>
          <a:p>
            <a:pPr marL="0" indent="0">
              <a:buNone/>
            </a:pPr>
            <a:r>
              <a:rPr lang="en-US" sz="1200" b="1" dirty="0">
                <a:solidFill>
                  <a:srgbClr val="0F2A4D"/>
                </a:solidFill>
                <a:latin typeface="Calibri" pitchFamily="34" charset="0"/>
                <a:ea typeface="Calibri" pitchFamily="34" charset="-122"/>
                <a:cs typeface="Calibri" pitchFamily="34" charset="-120"/>
              </a:rPr>
              <a:t>Faithfulness is Critical</a:t>
            </a:r>
            <a:endParaRPr lang="en-US" sz="1200" dirty="0"/>
          </a:p>
        </p:txBody>
      </p:sp>
      <p:sp>
        <p:nvSpPr>
          <p:cNvPr id="12" name="Text 10"/>
          <p:cNvSpPr/>
          <p:nvPr/>
        </p:nvSpPr>
        <p:spPr>
          <a:xfrm>
            <a:off x="530352" y="3968496"/>
            <a:ext cx="4572000" cy="59436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Without grounding, LLMs hallucinate coverage entitlements. RAG with source attribution substantially reduces this (ES-RAG, 2024).</a:t>
            </a:r>
            <a:endParaRPr lang="en-US" sz="1100" dirty="0"/>
          </a:p>
        </p:txBody>
      </p:sp>
      <p:sp>
        <p:nvSpPr>
          <p:cNvPr id="13" name="Text 11"/>
          <p:cNvSpPr/>
          <p:nvPr/>
        </p:nvSpPr>
        <p:spPr>
          <a:xfrm>
            <a:off x="5394960" y="932688"/>
            <a:ext cx="3383280" cy="320040"/>
          </a:xfrm>
          <a:prstGeom prst="rect">
            <a:avLst/>
          </a:prstGeom>
          <a:noFill/>
          <a:ln/>
        </p:spPr>
        <p:txBody>
          <a:bodyPr wrap="square"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Industry &amp; Academic Landscape</a:t>
            </a:r>
            <a:endParaRPr lang="en-US" sz="1400" dirty="0"/>
          </a:p>
        </p:txBody>
      </p:sp>
      <p:sp>
        <p:nvSpPr>
          <p:cNvPr id="14" name="Shape 12"/>
          <p:cNvSpPr/>
          <p:nvPr/>
        </p:nvSpPr>
        <p:spPr>
          <a:xfrm>
            <a:off x="5394960" y="1325880"/>
            <a:ext cx="3429000" cy="3538728"/>
          </a:xfrm>
          <a:prstGeom prst="roundRect">
            <a:avLst>
              <a:gd name="adj" fmla="val 3200"/>
            </a:avLst>
          </a:prstGeom>
          <a:solidFill>
            <a:srgbClr val="EFF6FF"/>
          </a:solidFill>
          <a:ln/>
        </p:spPr>
      </p:sp>
      <p:sp>
        <p:nvSpPr>
          <p:cNvPr id="15" name="Text 13"/>
          <p:cNvSpPr/>
          <p:nvPr/>
        </p:nvSpPr>
        <p:spPr>
          <a:xfrm>
            <a:off x="5559552" y="1417320"/>
            <a:ext cx="3154680" cy="3337560"/>
          </a:xfrm>
          <a:prstGeom prst="rect">
            <a:avLst/>
          </a:prstGeom>
          <a:noFill/>
          <a:ln/>
        </p:spPr>
        <p:txBody>
          <a:bodyPr wrap="square" rtlCol="0" anchor="t"/>
          <a:lstStyle/>
          <a:p>
            <a:pPr marL="0" indent="0">
              <a:buNone/>
            </a:pPr>
            <a:r>
              <a:rPr lang="en-US" sz="1200" b="1" dirty="0">
                <a:solidFill>
                  <a:srgbClr val="0F2A4D"/>
                </a:solidFill>
                <a:latin typeface="Calibri" pitchFamily="34" charset="0"/>
                <a:ea typeface="Calibri" pitchFamily="34" charset="-122"/>
                <a:cs typeface="Calibri" pitchFamily="34" charset="-120"/>
              </a:rPr>
              <a:t>Industry (proprietary):</a:t>
            </a:r>
            <a:endParaRPr lang="en-US" sz="1200" dirty="0"/>
          </a:p>
          <a:p>
            <a:pPr marL="0" indent="0">
              <a:buNone/>
            </a:pPr>
            <a:r>
              <a:rPr lang="en-US" sz="1100" b="1" dirty="0">
                <a:solidFill>
                  <a:srgbClr val="475569"/>
                </a:solidFill>
                <a:latin typeface="Calibri" pitchFamily="34" charset="0"/>
                <a:ea typeface="Calibri" pitchFamily="34" charset="-122"/>
                <a:cs typeface="Calibri" pitchFamily="34" charset="-120"/>
              </a:rPr>
              <a:t>Tractable, CCC Intelligent Solutions, Mitchell</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Deployed CV systems in production. However:</a:t>
            </a:r>
            <a:endParaRPr lang="en-US" sz="12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Technical details are proprietary</a:t>
            </a:r>
            <a:endParaRPr lang="en-US" sz="12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No policy grounding in any public demo</a:t>
            </a:r>
            <a:endParaRPr lang="en-US" sz="12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Inaccessible to researchers / small insurers</a:t>
            </a:r>
            <a:endParaRPr lang="en-US" sz="1200" dirty="0"/>
          </a:p>
          <a:p>
            <a:pPr marL="0" indent="0">
              <a:buNone/>
            </a:pPr>
            <a:r>
              <a:rPr lang="en-US" sz="5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0F2A4D"/>
                </a:solidFill>
                <a:latin typeface="Calibri" pitchFamily="34" charset="0"/>
                <a:ea typeface="Calibri" pitchFamily="34" charset="-122"/>
                <a:cs typeface="Calibri" pitchFamily="34" charset="-120"/>
              </a:rPr>
              <a:t>Closest Academic Analogue:</a:t>
            </a:r>
            <a:endParaRPr lang="en-US" sz="1200" dirty="0"/>
          </a:p>
          <a:p>
            <a:pPr marL="0" indent="0">
              <a:buNone/>
            </a:pPr>
            <a:r>
              <a:rPr lang="en-US" sz="1100" dirty="0">
                <a:solidFill>
                  <a:srgbClr val="475569"/>
                </a:solidFill>
                <a:latin typeface="Calibri" pitchFamily="34" charset="0"/>
                <a:ea typeface="Calibri" pitchFamily="34" charset="-122"/>
                <a:cs typeface="Calibri" pitchFamily="34" charset="-120"/>
              </a:rPr>
              <a:t>MIMIC-CXR: vision model detects, LLM generates a structured report. We adapt this paradigm to vehicle damage assessment.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Not Just Use a VLM?</a:t>
            </a:r>
            <a:endParaRPr lang="en-US" sz="3000" dirty="0"/>
          </a:p>
        </p:txBody>
      </p:sp>
      <p:sp>
        <p:nvSpPr>
          <p:cNvPr id="3" name="Text 1"/>
          <p:cNvSpPr/>
          <p:nvPr/>
        </p:nvSpPr>
        <p:spPr>
          <a:xfrm>
            <a:off x="457200" y="868680"/>
            <a:ext cx="8229600" cy="347472"/>
          </a:xfrm>
          <a:prstGeom prst="rect">
            <a:avLst/>
          </a:prstGeom>
          <a:noFill/>
          <a:ln/>
        </p:spPr>
        <p:txBody>
          <a:bodyPr wrap="square" rtlCol="0" anchor="ctr"/>
          <a:lstStyle/>
          <a:p>
            <a:pPr marL="0" indent="0">
              <a:buNone/>
            </a:pPr>
            <a:r>
              <a:rPr lang="en-US" sz="1300" dirty="0">
                <a:solidFill>
                  <a:srgbClr val="64748B"/>
                </a:solidFill>
                <a:latin typeface="Calibri" pitchFamily="34" charset="0"/>
                <a:ea typeface="Calibri" pitchFamily="34" charset="-122"/>
                <a:cs typeface="Calibri" pitchFamily="34" charset="-120"/>
              </a:rPr>
              <a:t>Florence-2, Qwen2.5-VL, LLaVA, GPT-4V are </a:t>
            </a:r>
            <a:r>
              <a:rPr lang="en-US" sz="1300" dirty="0" smtClean="0">
                <a:solidFill>
                  <a:srgbClr val="64748B"/>
                </a:solidFill>
                <a:latin typeface="Calibri" pitchFamily="34" charset="0"/>
                <a:ea typeface="Calibri" pitchFamily="34" charset="-122"/>
                <a:cs typeface="Calibri" pitchFamily="34" charset="-120"/>
              </a:rPr>
              <a:t>compelling </a:t>
            </a:r>
            <a:r>
              <a:rPr lang="en-US" sz="1300" dirty="0">
                <a:solidFill>
                  <a:srgbClr val="64748B"/>
                </a:solidFill>
                <a:latin typeface="Calibri" pitchFamily="34" charset="0"/>
                <a:ea typeface="Calibri" pitchFamily="34" charset="-122"/>
                <a:cs typeface="Calibri" pitchFamily="34" charset="-120"/>
              </a:rPr>
              <a:t>but the modular pipeline is a better </a:t>
            </a:r>
            <a:r>
              <a:rPr lang="en-US" sz="1300" dirty="0" smtClean="0">
                <a:solidFill>
                  <a:srgbClr val="64748B"/>
                </a:solidFill>
                <a:latin typeface="Calibri" pitchFamily="34" charset="0"/>
                <a:ea typeface="Calibri" pitchFamily="34" charset="-122"/>
                <a:cs typeface="Calibri" pitchFamily="34" charset="-120"/>
              </a:rPr>
              <a:t>fit for the project:</a:t>
            </a:r>
            <a:endParaRPr lang="en-US" sz="1300" dirty="0"/>
          </a:p>
        </p:txBody>
      </p:sp>
      <p:sp>
        <p:nvSpPr>
          <p:cNvPr id="4" name="Shape 2"/>
          <p:cNvSpPr/>
          <p:nvPr/>
        </p:nvSpPr>
        <p:spPr>
          <a:xfrm>
            <a:off x="365760" y="1335024"/>
            <a:ext cx="8412480" cy="1078992"/>
          </a:xfrm>
          <a:prstGeom prst="roundRect">
            <a:avLst>
              <a:gd name="adj" fmla="val 10169"/>
            </a:avLst>
          </a:prstGeom>
          <a:solidFill>
            <a:srgbClr val="1E3A5F"/>
          </a:solidFill>
          <a:ln/>
          <a:effectLst>
            <a:outerShdw blurRad="101600" dist="25400" dir="2700000" algn="bl" rotWithShape="0">
              <a:srgbClr val="000000">
                <a:alpha val="10000"/>
              </a:srgbClr>
            </a:outerShdw>
          </a:effectLst>
        </p:spPr>
      </p:sp>
      <p:sp>
        <p:nvSpPr>
          <p:cNvPr id="5" name="Shape 3"/>
          <p:cNvSpPr/>
          <p:nvPr/>
        </p:nvSpPr>
        <p:spPr>
          <a:xfrm>
            <a:off x="502920" y="1499616"/>
            <a:ext cx="457200" cy="457200"/>
          </a:xfrm>
          <a:prstGeom prst="ellipse">
            <a:avLst/>
          </a:prstGeom>
          <a:solidFill>
            <a:srgbClr val="0D9488"/>
          </a:solidFill>
          <a:ln w="12700">
            <a:solidFill>
              <a:srgbClr val="0D9488"/>
            </a:solidFill>
            <a:prstDash val="solid"/>
          </a:ln>
        </p:spPr>
      </p:sp>
      <p:sp>
        <p:nvSpPr>
          <p:cNvPr id="6" name="Text 4"/>
          <p:cNvSpPr/>
          <p:nvPr/>
        </p:nvSpPr>
        <p:spPr>
          <a:xfrm>
            <a:off x="502920" y="14996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097280" y="1426464"/>
            <a:ext cx="7498080" cy="347472"/>
          </a:xfrm>
          <a:prstGeom prst="rect">
            <a:avLst/>
          </a:prstGeom>
          <a:noFill/>
          <a:ln/>
        </p:spPr>
        <p:txBody>
          <a:bodyPr wrap="square" rtlCol="0" anchor="ctr"/>
          <a:lstStyle/>
          <a:p>
            <a:pPr marL="0" indent="0">
              <a:buNone/>
            </a:pPr>
            <a:r>
              <a:rPr lang="en-US" sz="1300" b="1" dirty="0">
                <a:solidFill>
                  <a:srgbClr val="99F6E4"/>
                </a:solidFill>
                <a:latin typeface="Calibri" pitchFamily="34" charset="0"/>
                <a:ea typeface="Calibri" pitchFamily="34" charset="-122"/>
                <a:cs typeface="Calibri" pitchFamily="34" charset="-120"/>
              </a:rPr>
              <a:t>Separation of Concerns &amp; Debuggability</a:t>
            </a:r>
            <a:endParaRPr lang="en-US" sz="1300" dirty="0"/>
          </a:p>
        </p:txBody>
      </p:sp>
      <p:sp>
        <p:nvSpPr>
          <p:cNvPr id="8" name="Text 6"/>
          <p:cNvSpPr/>
          <p:nvPr/>
        </p:nvSpPr>
        <p:spPr>
          <a:xfrm>
            <a:off x="1097280" y="1792224"/>
            <a:ext cx="7498080" cy="57607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Each stage (detect, retrieve, generate) can be isolated and fixed independently. A monolithic VLM is a black box: a bad output gives no signal as to what went wrong, slowing iteration in a time-boxed project.</a:t>
            </a:r>
            <a:endParaRPr lang="en-US" sz="1100" dirty="0"/>
          </a:p>
        </p:txBody>
      </p:sp>
      <p:sp>
        <p:nvSpPr>
          <p:cNvPr id="9" name="Shape 7"/>
          <p:cNvSpPr/>
          <p:nvPr/>
        </p:nvSpPr>
        <p:spPr>
          <a:xfrm>
            <a:off x="365760" y="2496312"/>
            <a:ext cx="8412480" cy="1078992"/>
          </a:xfrm>
          <a:prstGeom prst="roundRect">
            <a:avLst>
              <a:gd name="adj" fmla="val 10169"/>
            </a:avLst>
          </a:prstGeom>
          <a:solidFill>
            <a:srgbClr val="1E3A5F"/>
          </a:solidFill>
          <a:ln/>
          <a:effectLst>
            <a:outerShdw blurRad="101600" dist="25400" dir="2700000" algn="bl" rotWithShape="0">
              <a:srgbClr val="000000">
                <a:alpha val="10000"/>
              </a:srgbClr>
            </a:outerShdw>
          </a:effectLst>
        </p:spPr>
      </p:sp>
      <p:sp>
        <p:nvSpPr>
          <p:cNvPr id="10" name="Shape 8"/>
          <p:cNvSpPr/>
          <p:nvPr/>
        </p:nvSpPr>
        <p:spPr>
          <a:xfrm>
            <a:off x="502920" y="2660904"/>
            <a:ext cx="457200" cy="457200"/>
          </a:xfrm>
          <a:prstGeom prst="ellipse">
            <a:avLst/>
          </a:prstGeom>
          <a:solidFill>
            <a:srgbClr val="0D9488"/>
          </a:solidFill>
          <a:ln w="12700">
            <a:solidFill>
              <a:srgbClr val="0D9488"/>
            </a:solidFill>
            <a:prstDash val="solid"/>
          </a:ln>
        </p:spPr>
      </p:sp>
      <p:sp>
        <p:nvSpPr>
          <p:cNvPr id="11" name="Text 9"/>
          <p:cNvSpPr/>
          <p:nvPr/>
        </p:nvSpPr>
        <p:spPr>
          <a:xfrm>
            <a:off x="502920" y="266090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097280" y="2587752"/>
            <a:ext cx="7498080" cy="347472"/>
          </a:xfrm>
          <a:prstGeom prst="rect">
            <a:avLst/>
          </a:prstGeom>
          <a:noFill/>
          <a:ln/>
        </p:spPr>
        <p:txBody>
          <a:bodyPr wrap="square" rtlCol="0" anchor="ctr"/>
          <a:lstStyle/>
          <a:p>
            <a:pPr marL="0" indent="0">
              <a:buNone/>
            </a:pPr>
            <a:r>
              <a:rPr lang="en-US" sz="1300" b="1" dirty="0">
                <a:solidFill>
                  <a:srgbClr val="99F6E4"/>
                </a:solidFill>
                <a:latin typeface="Calibri" pitchFamily="34" charset="0"/>
                <a:ea typeface="Calibri" pitchFamily="34" charset="-122"/>
                <a:cs typeface="Calibri" pitchFamily="34" charset="-120"/>
              </a:rPr>
              <a:t>Measurable, Ground-truth Comparable Detection</a:t>
            </a:r>
            <a:endParaRPr lang="en-US" sz="1300" dirty="0"/>
          </a:p>
        </p:txBody>
      </p:sp>
      <p:sp>
        <p:nvSpPr>
          <p:cNvPr id="13" name="Text 11"/>
          <p:cNvSpPr/>
          <p:nvPr/>
        </p:nvSpPr>
        <p:spPr>
          <a:xfrm>
            <a:off x="1097280" y="2953512"/>
            <a:ext cx="7498080" cy="57607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YOLO outputs bounding boxes and class labels, directly evaluable against VehiDE (mAP@50, F1 per class). VLM damage descriptions are free-form text — not comparable to bounding-box annotations without extra post-processing.</a:t>
            </a:r>
            <a:endParaRPr lang="en-US" sz="1100" dirty="0"/>
          </a:p>
        </p:txBody>
      </p:sp>
      <p:sp>
        <p:nvSpPr>
          <p:cNvPr id="14" name="Shape 12"/>
          <p:cNvSpPr/>
          <p:nvPr/>
        </p:nvSpPr>
        <p:spPr>
          <a:xfrm>
            <a:off x="365760" y="3657600"/>
            <a:ext cx="8412480" cy="1078992"/>
          </a:xfrm>
          <a:prstGeom prst="roundRect">
            <a:avLst>
              <a:gd name="adj" fmla="val 10169"/>
            </a:avLst>
          </a:prstGeom>
          <a:solidFill>
            <a:srgbClr val="1E3A5F"/>
          </a:solidFill>
          <a:ln/>
          <a:effectLst>
            <a:outerShdw blurRad="101600" dist="25400" dir="2700000" algn="bl" rotWithShape="0">
              <a:srgbClr val="000000">
                <a:alpha val="10000"/>
              </a:srgbClr>
            </a:outerShdw>
          </a:effectLst>
        </p:spPr>
      </p:sp>
      <p:sp>
        <p:nvSpPr>
          <p:cNvPr id="15" name="Shape 13"/>
          <p:cNvSpPr/>
          <p:nvPr/>
        </p:nvSpPr>
        <p:spPr>
          <a:xfrm>
            <a:off x="502920" y="3822192"/>
            <a:ext cx="457200" cy="457200"/>
          </a:xfrm>
          <a:prstGeom prst="ellipse">
            <a:avLst/>
          </a:prstGeom>
          <a:solidFill>
            <a:srgbClr val="0D9488"/>
          </a:solidFill>
          <a:ln w="12700">
            <a:solidFill>
              <a:srgbClr val="0D9488"/>
            </a:solidFill>
            <a:prstDash val="solid"/>
          </a:ln>
        </p:spPr>
      </p:sp>
      <p:sp>
        <p:nvSpPr>
          <p:cNvPr id="16" name="Text 14"/>
          <p:cNvSpPr/>
          <p:nvPr/>
        </p:nvSpPr>
        <p:spPr>
          <a:xfrm>
            <a:off x="502920" y="3822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97280" y="3749040"/>
            <a:ext cx="7498080" cy="347472"/>
          </a:xfrm>
          <a:prstGeom prst="rect">
            <a:avLst/>
          </a:prstGeom>
          <a:noFill/>
          <a:ln/>
        </p:spPr>
        <p:txBody>
          <a:bodyPr wrap="square" rtlCol="0" anchor="ctr"/>
          <a:lstStyle/>
          <a:p>
            <a:pPr marL="0" indent="0">
              <a:buNone/>
            </a:pPr>
            <a:r>
              <a:rPr lang="en-US" sz="1300" b="1" dirty="0">
                <a:solidFill>
                  <a:srgbClr val="99F6E4"/>
                </a:solidFill>
                <a:latin typeface="Calibri" pitchFamily="34" charset="0"/>
                <a:ea typeface="Calibri" pitchFamily="34" charset="-122"/>
                <a:cs typeface="Calibri" pitchFamily="34" charset="-120"/>
              </a:rPr>
              <a:t>Cost, Latency &amp; Deployment</a:t>
            </a:r>
            <a:endParaRPr lang="en-US" sz="1300" dirty="0"/>
          </a:p>
        </p:txBody>
      </p:sp>
      <p:sp>
        <p:nvSpPr>
          <p:cNvPr id="18" name="Text 16"/>
          <p:cNvSpPr/>
          <p:nvPr/>
        </p:nvSpPr>
        <p:spPr>
          <a:xfrm>
            <a:off x="1097280" y="4114800"/>
            <a:ext cx="7498080" cy="576072"/>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YOLO-nano/small runs on CPU and fits within Hugging Face Spaces limits. Large VLMs need paid APIs or dedicated GPU memory Spaces cannot reliably provide. Modular pipeline keeps each component lightweight and swappable.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Gaps in Existing Solutions</a:t>
            </a:r>
            <a:endParaRPr lang="en-US" sz="3000" dirty="0"/>
          </a:p>
        </p:txBody>
      </p:sp>
      <p:sp>
        <p:nvSpPr>
          <p:cNvPr id="3" name="Shape 1"/>
          <p:cNvSpPr/>
          <p:nvPr/>
        </p:nvSpPr>
        <p:spPr>
          <a:xfrm>
            <a:off x="365760" y="932688"/>
            <a:ext cx="8412480" cy="1234440"/>
          </a:xfrm>
          <a:prstGeom prst="roundRect">
            <a:avLst>
              <a:gd name="adj" fmla="val 8889"/>
            </a:avLst>
          </a:prstGeom>
          <a:solidFill>
            <a:srgbClr val="EFF6FF"/>
          </a:solidFill>
          <a:ln/>
          <a:effectLst>
            <a:outerShdw blurRad="101600" dist="25400" dir="2700000" algn="bl" rotWithShape="0">
              <a:srgbClr val="000000">
                <a:alpha val="10000"/>
              </a:srgbClr>
            </a:outerShdw>
          </a:effectLst>
        </p:spPr>
      </p:sp>
      <p:sp>
        <p:nvSpPr>
          <p:cNvPr id="4" name="Shape 2"/>
          <p:cNvSpPr/>
          <p:nvPr/>
        </p:nvSpPr>
        <p:spPr>
          <a:xfrm>
            <a:off x="365760" y="1005840"/>
            <a:ext cx="1005840" cy="228600"/>
          </a:xfrm>
          <a:prstGeom prst="roundRect">
            <a:avLst>
              <a:gd name="adj" fmla="val 20000"/>
            </a:avLst>
          </a:prstGeom>
          <a:solidFill>
            <a:srgbClr val="0F2A4D"/>
          </a:solidFill>
          <a:ln w="12700">
            <a:solidFill>
              <a:srgbClr val="0F2A4D"/>
            </a:solidFill>
            <a:prstDash val="solid"/>
          </a:ln>
        </p:spPr>
      </p:sp>
      <p:sp>
        <p:nvSpPr>
          <p:cNvPr id="5" name="Text 3"/>
          <p:cNvSpPr/>
          <p:nvPr/>
        </p:nvSpPr>
        <p:spPr>
          <a:xfrm>
            <a:off x="365760" y="1005840"/>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Gap 1</a:t>
            </a:r>
            <a:endParaRPr lang="en-US" sz="800" dirty="0"/>
          </a:p>
        </p:txBody>
      </p:sp>
      <p:sp>
        <p:nvSpPr>
          <p:cNvPr id="6" name="Text 4"/>
          <p:cNvSpPr/>
          <p:nvPr/>
        </p:nvSpPr>
        <p:spPr>
          <a:xfrm>
            <a:off x="502920" y="1298448"/>
            <a:ext cx="8229600" cy="292608"/>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Detection Without Structured Reporting</a:t>
            </a:r>
            <a:endParaRPr lang="en-US" sz="1300" dirty="0"/>
          </a:p>
        </p:txBody>
      </p:sp>
      <p:sp>
        <p:nvSpPr>
          <p:cNvPr id="7" name="Text 5"/>
          <p:cNvSpPr/>
          <p:nvPr/>
        </p:nvSpPr>
        <p:spPr>
          <a:xfrm>
            <a:off x="502920" y="1600200"/>
            <a:ext cx="8229600"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YOLO fine-tunes and CarDD benchmark models output bounding boxes and class indices </a:t>
            </a:r>
            <a:r>
              <a:rPr lang="en-US" sz="1100" dirty="0" smtClean="0">
                <a:solidFill>
                  <a:srgbClr val="475569"/>
                </a:solidFill>
                <a:latin typeface="Calibri" pitchFamily="34" charset="0"/>
                <a:ea typeface="Calibri" pitchFamily="34" charset="-122"/>
                <a:cs typeface="Calibri" pitchFamily="34" charset="-120"/>
              </a:rPr>
              <a:t>not </a:t>
            </a:r>
            <a:r>
              <a:rPr lang="en-US" sz="1100" dirty="0">
                <a:solidFill>
                  <a:srgbClr val="475569"/>
                </a:solidFill>
                <a:latin typeface="Calibri" pitchFamily="34" charset="0"/>
                <a:ea typeface="Calibri" pitchFamily="34" charset="-122"/>
                <a:cs typeface="Calibri" pitchFamily="34" charset="-120"/>
              </a:rPr>
              <a:t>human-readable reports. No open-source system bridges detection output to a final claim assessment.</a:t>
            </a:r>
            <a:endParaRPr lang="en-US" sz="1100" dirty="0"/>
          </a:p>
        </p:txBody>
      </p:sp>
      <p:sp>
        <p:nvSpPr>
          <p:cNvPr id="8" name="Shape 6"/>
          <p:cNvSpPr/>
          <p:nvPr/>
        </p:nvSpPr>
        <p:spPr>
          <a:xfrm>
            <a:off x="365760" y="2286000"/>
            <a:ext cx="8412480" cy="1234440"/>
          </a:xfrm>
          <a:prstGeom prst="roundRect">
            <a:avLst>
              <a:gd name="adj" fmla="val 8889"/>
            </a:avLst>
          </a:prstGeom>
          <a:solidFill>
            <a:srgbClr val="EFF6FF"/>
          </a:solidFill>
          <a:ln/>
          <a:effectLst>
            <a:outerShdw blurRad="101600" dist="25400" dir="2700000" algn="bl" rotWithShape="0">
              <a:srgbClr val="000000">
                <a:alpha val="10000"/>
              </a:srgbClr>
            </a:outerShdw>
          </a:effectLst>
        </p:spPr>
      </p:sp>
      <p:sp>
        <p:nvSpPr>
          <p:cNvPr id="9" name="Shape 7"/>
          <p:cNvSpPr/>
          <p:nvPr/>
        </p:nvSpPr>
        <p:spPr>
          <a:xfrm>
            <a:off x="365760" y="2359152"/>
            <a:ext cx="1005840" cy="228600"/>
          </a:xfrm>
          <a:prstGeom prst="roundRect">
            <a:avLst>
              <a:gd name="adj" fmla="val 20000"/>
            </a:avLst>
          </a:prstGeom>
          <a:solidFill>
            <a:srgbClr val="0F2A4D"/>
          </a:solidFill>
          <a:ln w="12700">
            <a:solidFill>
              <a:srgbClr val="0F2A4D"/>
            </a:solidFill>
            <a:prstDash val="solid"/>
          </a:ln>
        </p:spPr>
      </p:sp>
      <p:sp>
        <p:nvSpPr>
          <p:cNvPr id="10" name="Text 8"/>
          <p:cNvSpPr/>
          <p:nvPr/>
        </p:nvSpPr>
        <p:spPr>
          <a:xfrm>
            <a:off x="365760" y="2359152"/>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Gap 2</a:t>
            </a:r>
            <a:endParaRPr lang="en-US" sz="800" dirty="0"/>
          </a:p>
        </p:txBody>
      </p:sp>
      <p:sp>
        <p:nvSpPr>
          <p:cNvPr id="11" name="Text 9"/>
          <p:cNvSpPr/>
          <p:nvPr/>
        </p:nvSpPr>
        <p:spPr>
          <a:xfrm>
            <a:off x="502920" y="2651760"/>
            <a:ext cx="8229600" cy="292608"/>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LLM Reports Without Policy Grounding</a:t>
            </a:r>
            <a:endParaRPr lang="en-US" sz="1300" dirty="0"/>
          </a:p>
        </p:txBody>
      </p:sp>
      <p:sp>
        <p:nvSpPr>
          <p:cNvPr id="12" name="Text 10"/>
          <p:cNvSpPr/>
          <p:nvPr/>
        </p:nvSpPr>
        <p:spPr>
          <a:xfrm>
            <a:off x="502920" y="2953512"/>
            <a:ext cx="8229600"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General-purpose LLMs (GPT-4, Gemini) hallucinate coverage entitlements, incorrect exclusions, and fabricated deductible values without access to the actual policy. RAG grounding is absent from all publicly demonstrated systems.</a:t>
            </a:r>
            <a:endParaRPr lang="en-US" sz="1100" dirty="0"/>
          </a:p>
        </p:txBody>
      </p:sp>
      <p:sp>
        <p:nvSpPr>
          <p:cNvPr id="13" name="Shape 11"/>
          <p:cNvSpPr/>
          <p:nvPr/>
        </p:nvSpPr>
        <p:spPr>
          <a:xfrm>
            <a:off x="365760" y="3639312"/>
            <a:ext cx="8412480" cy="1234440"/>
          </a:xfrm>
          <a:prstGeom prst="roundRect">
            <a:avLst>
              <a:gd name="adj" fmla="val 8889"/>
            </a:avLst>
          </a:prstGeom>
          <a:solidFill>
            <a:srgbClr val="EFF6FF"/>
          </a:solidFill>
          <a:ln/>
          <a:effectLst>
            <a:outerShdw blurRad="101600" dist="25400" dir="2700000" algn="bl" rotWithShape="0">
              <a:srgbClr val="000000">
                <a:alpha val="10000"/>
              </a:srgbClr>
            </a:outerShdw>
          </a:effectLst>
        </p:spPr>
      </p:sp>
      <p:sp>
        <p:nvSpPr>
          <p:cNvPr id="14" name="Shape 12"/>
          <p:cNvSpPr/>
          <p:nvPr/>
        </p:nvSpPr>
        <p:spPr>
          <a:xfrm>
            <a:off x="365760" y="3712464"/>
            <a:ext cx="1005840" cy="228600"/>
          </a:xfrm>
          <a:prstGeom prst="roundRect">
            <a:avLst>
              <a:gd name="adj" fmla="val 20000"/>
            </a:avLst>
          </a:prstGeom>
          <a:solidFill>
            <a:srgbClr val="0F2A4D"/>
          </a:solidFill>
          <a:ln w="12700">
            <a:solidFill>
              <a:srgbClr val="0F2A4D"/>
            </a:solidFill>
            <a:prstDash val="solid"/>
          </a:ln>
        </p:spPr>
      </p:sp>
      <p:sp>
        <p:nvSpPr>
          <p:cNvPr id="15" name="Text 13"/>
          <p:cNvSpPr/>
          <p:nvPr/>
        </p:nvSpPr>
        <p:spPr>
          <a:xfrm>
            <a:off x="365760" y="3712464"/>
            <a:ext cx="1005840" cy="2286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Gap 3</a:t>
            </a:r>
            <a:endParaRPr lang="en-US" sz="800" dirty="0"/>
          </a:p>
        </p:txBody>
      </p:sp>
      <p:sp>
        <p:nvSpPr>
          <p:cNvPr id="16" name="Text 14"/>
          <p:cNvSpPr/>
          <p:nvPr/>
        </p:nvSpPr>
        <p:spPr>
          <a:xfrm>
            <a:off x="502920" y="4005072"/>
            <a:ext cx="8229600" cy="292608"/>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No Accessible Decision-Support Demo</a:t>
            </a:r>
            <a:endParaRPr lang="en-US" sz="1300" dirty="0"/>
          </a:p>
        </p:txBody>
      </p:sp>
      <p:sp>
        <p:nvSpPr>
          <p:cNvPr id="17" name="Text 15"/>
          <p:cNvSpPr/>
          <p:nvPr/>
        </p:nvSpPr>
        <p:spPr>
          <a:xfrm>
            <a:off x="502920" y="4306824"/>
            <a:ext cx="8229600" cy="50292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Industry systems (Tractable, CCC) are closed and proprietary. There is no open, deployable vision-plus-language claim assessment tool. Our Hugging Face Spaces deployment addresses this gap directly.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Our Contribution</a:t>
            </a:r>
            <a:endParaRPr lang="en-US" sz="3000" dirty="0"/>
          </a:p>
        </p:txBody>
      </p:sp>
      <p:sp>
        <p:nvSpPr>
          <p:cNvPr id="3" name="Text 1"/>
          <p:cNvSpPr/>
          <p:nvPr/>
        </p:nvSpPr>
        <p:spPr>
          <a:xfrm>
            <a:off x="457200" y="868680"/>
            <a:ext cx="8229600" cy="292608"/>
          </a:xfrm>
          <a:prstGeom prst="rect">
            <a:avLst/>
          </a:prstGeom>
          <a:noFill/>
          <a:ln/>
        </p:spPr>
        <p:txBody>
          <a:bodyPr wrap="square" rtlCol="0" anchor="ctr"/>
          <a:lstStyle/>
          <a:p>
            <a:pPr marL="0" indent="0">
              <a:buNone/>
            </a:pPr>
            <a:r>
              <a:rPr lang="en-US" sz="1300" dirty="0">
                <a:solidFill>
                  <a:srgbClr val="475569"/>
                </a:solidFill>
                <a:latin typeface="Calibri" pitchFamily="34" charset="0"/>
                <a:ea typeface="Calibri" pitchFamily="34" charset="-122"/>
                <a:cs typeface="Calibri" pitchFamily="34" charset="-120"/>
              </a:rPr>
              <a:t>Not a new model </a:t>
            </a:r>
            <a:r>
              <a:rPr lang="en-US" sz="1300" dirty="0" smtClean="0">
                <a:solidFill>
                  <a:srgbClr val="475569"/>
                </a:solidFill>
                <a:latin typeface="Calibri" pitchFamily="34" charset="0"/>
                <a:ea typeface="Calibri" pitchFamily="34" charset="-122"/>
                <a:cs typeface="Calibri" pitchFamily="34" charset="-120"/>
              </a:rPr>
              <a:t>architecture </a:t>
            </a:r>
            <a:r>
              <a:rPr lang="en-US" sz="1300" dirty="0">
                <a:solidFill>
                  <a:srgbClr val="475569"/>
                </a:solidFill>
                <a:latin typeface="Calibri" pitchFamily="34" charset="0"/>
                <a:ea typeface="Calibri" pitchFamily="34" charset="-122"/>
                <a:cs typeface="Calibri" pitchFamily="34" charset="-120"/>
              </a:rPr>
              <a:t>three meaningful contributions:</a:t>
            </a:r>
            <a:endParaRPr lang="en-US" sz="1300" dirty="0"/>
          </a:p>
        </p:txBody>
      </p:sp>
      <p:sp>
        <p:nvSpPr>
          <p:cNvPr id="4" name="Shape 2"/>
          <p:cNvSpPr/>
          <p:nvPr/>
        </p:nvSpPr>
        <p:spPr>
          <a:xfrm>
            <a:off x="365760" y="1261872"/>
            <a:ext cx="4206240" cy="1417320"/>
          </a:xfrm>
          <a:prstGeom prst="roundRect">
            <a:avLst>
              <a:gd name="adj" fmla="val 7742"/>
            </a:avLst>
          </a:prstGeom>
          <a:solidFill>
            <a:srgbClr val="EFF6FF"/>
          </a:solidFill>
          <a:ln/>
          <a:effectLst>
            <a:outerShdw blurRad="101600" dist="25400" dir="2700000" algn="bl" rotWithShape="0">
              <a:srgbClr val="000000">
                <a:alpha val="10000"/>
              </a:srgbClr>
            </a:outerShdw>
          </a:effectLst>
        </p:spPr>
      </p:sp>
      <p:sp>
        <p:nvSpPr>
          <p:cNvPr id="5" name="Text 3"/>
          <p:cNvSpPr/>
          <p:nvPr/>
        </p:nvSpPr>
        <p:spPr>
          <a:xfrm>
            <a:off x="530352" y="1371600"/>
            <a:ext cx="3931920" cy="347472"/>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  Open-Source End-to-End Pipeline</a:t>
            </a:r>
            <a:endParaRPr lang="en-US" sz="1300" dirty="0"/>
          </a:p>
        </p:txBody>
      </p:sp>
      <p:sp>
        <p:nvSpPr>
          <p:cNvPr id="6" name="Text 4"/>
          <p:cNvSpPr/>
          <p:nvPr/>
        </p:nvSpPr>
        <p:spPr>
          <a:xfrm>
            <a:off x="530352" y="1755648"/>
            <a:ext cx="3931920" cy="84124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 publicly accessible system combining YOLO-based damage detection with policy-aware LLM report generation. Specifically designed for claim assessors, dramatically reducing time to first-draft assessment.</a:t>
            </a:r>
            <a:endParaRPr lang="en-US" sz="1100" dirty="0"/>
          </a:p>
        </p:txBody>
      </p:sp>
      <p:sp>
        <p:nvSpPr>
          <p:cNvPr id="7" name="Shape 5"/>
          <p:cNvSpPr/>
          <p:nvPr/>
        </p:nvSpPr>
        <p:spPr>
          <a:xfrm>
            <a:off x="4663440" y="1261872"/>
            <a:ext cx="4206240" cy="1417320"/>
          </a:xfrm>
          <a:prstGeom prst="roundRect">
            <a:avLst>
              <a:gd name="adj" fmla="val 7742"/>
            </a:avLst>
          </a:prstGeom>
          <a:solidFill>
            <a:srgbClr val="EFF6FF"/>
          </a:solidFill>
          <a:ln/>
          <a:effectLst>
            <a:outerShdw blurRad="101600" dist="25400" dir="2700000" algn="bl" rotWithShape="0">
              <a:srgbClr val="000000">
                <a:alpha val="10000"/>
              </a:srgbClr>
            </a:outerShdw>
          </a:effectLst>
        </p:spPr>
      </p:sp>
      <p:sp>
        <p:nvSpPr>
          <p:cNvPr id="8" name="Text 6"/>
          <p:cNvSpPr/>
          <p:nvPr/>
        </p:nvSpPr>
        <p:spPr>
          <a:xfrm>
            <a:off x="4828032" y="1371600"/>
            <a:ext cx="3931920" cy="347472"/>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  Pipeline Integration</a:t>
            </a:r>
            <a:endParaRPr lang="en-US" sz="1300" dirty="0"/>
          </a:p>
        </p:txBody>
      </p:sp>
      <p:sp>
        <p:nvSpPr>
          <p:cNvPr id="9" name="Text 7"/>
          <p:cNvSpPr/>
          <p:nvPr/>
        </p:nvSpPr>
        <p:spPr>
          <a:xfrm>
            <a:off x="4828032" y="1755648"/>
            <a:ext cx="3931920" cy="84124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YOLO detections are converted to structured format, then fed to an LLM together with RAG-retrieved policy clauses, enabling accurate, grounded, non-technical reports. The integration of all three components is the core technical contribution.</a:t>
            </a:r>
            <a:endParaRPr lang="en-US" sz="1100" dirty="0"/>
          </a:p>
        </p:txBody>
      </p:sp>
      <p:sp>
        <p:nvSpPr>
          <p:cNvPr id="10" name="Shape 8"/>
          <p:cNvSpPr/>
          <p:nvPr/>
        </p:nvSpPr>
        <p:spPr>
          <a:xfrm>
            <a:off x="365760" y="2834640"/>
            <a:ext cx="8412480" cy="1417320"/>
          </a:xfrm>
          <a:prstGeom prst="roundRect">
            <a:avLst>
              <a:gd name="adj" fmla="val 7742"/>
            </a:avLst>
          </a:prstGeom>
          <a:solidFill>
            <a:srgbClr val="EFF6FF"/>
          </a:solidFill>
          <a:ln/>
          <a:effectLst>
            <a:outerShdw blurRad="101600" dist="25400" dir="2700000" algn="bl" rotWithShape="0">
              <a:srgbClr val="000000">
                <a:alpha val="10000"/>
              </a:srgbClr>
            </a:outerShdw>
          </a:effectLst>
        </p:spPr>
      </p:sp>
      <p:sp>
        <p:nvSpPr>
          <p:cNvPr id="11" name="Text 9"/>
          <p:cNvSpPr/>
          <p:nvPr/>
        </p:nvSpPr>
        <p:spPr>
          <a:xfrm>
            <a:off x="530352" y="2944368"/>
            <a:ext cx="8138160" cy="347472"/>
          </a:xfrm>
          <a:prstGeom prst="rect">
            <a:avLst/>
          </a:prstGeom>
          <a:noFill/>
          <a:ln/>
        </p:spPr>
        <p:txBody>
          <a:bodyPr wrap="square" rtlCol="0" anchor="ctr"/>
          <a:lstStyle/>
          <a:p>
            <a:pPr marL="0" indent="0">
              <a:buNone/>
            </a:pPr>
            <a:r>
              <a:rPr lang="en-US" sz="1300" b="1" dirty="0">
                <a:solidFill>
                  <a:srgbClr val="0F2A4D"/>
                </a:solidFill>
                <a:latin typeface="Calibri" pitchFamily="34" charset="0"/>
                <a:ea typeface="Calibri" pitchFamily="34" charset="-122"/>
                <a:cs typeface="Calibri" pitchFamily="34" charset="-120"/>
              </a:rPr>
              <a:t>🌐  Accessible Deployment on Hugging Face Spaces</a:t>
            </a:r>
            <a:endParaRPr lang="en-US" sz="1300" dirty="0"/>
          </a:p>
        </p:txBody>
      </p:sp>
      <p:sp>
        <p:nvSpPr>
          <p:cNvPr id="12" name="Text 10"/>
          <p:cNvSpPr/>
          <p:nvPr/>
        </p:nvSpPr>
        <p:spPr>
          <a:xfrm>
            <a:off x="530352" y="3328416"/>
            <a:ext cx="8138160" cy="84124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The first open, interactable demonstration of a vision-plus-language vehicle claim assessment tool — accessible to researchers and small insurers who cannot access proprietary industry systems.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45720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System Architecture</a:t>
            </a:r>
            <a:endParaRPr lang="en-US" sz="2800" dirty="0"/>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6743"/>
          <a:stretch/>
        </p:blipFill>
        <p:spPr>
          <a:xfrm>
            <a:off x="1676720" y="845329"/>
            <a:ext cx="5928562" cy="40837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Success Metrics</a:t>
            </a:r>
            <a:endParaRPr lang="en-US" sz="3000" dirty="0"/>
          </a:p>
        </p:txBody>
      </p:sp>
      <p:sp>
        <p:nvSpPr>
          <p:cNvPr id="3" name="Text 1"/>
          <p:cNvSpPr/>
          <p:nvPr/>
        </p:nvSpPr>
        <p:spPr>
          <a:xfrm>
            <a:off x="138736" y="1215521"/>
            <a:ext cx="3931920" cy="274320"/>
          </a:xfrm>
          <a:prstGeom prst="rect">
            <a:avLst/>
          </a:prstGeom>
          <a:noFill/>
          <a:ln/>
        </p:spPr>
        <p:txBody>
          <a:bodyPr wrap="square" rtlCol="0" anchor="ctr"/>
          <a:lstStyle/>
          <a:p>
            <a:pPr marL="0" indent="0" algn="ctr">
              <a:buNone/>
            </a:pPr>
            <a:r>
              <a:rPr lang="en-US" sz="1300" b="1" dirty="0">
                <a:solidFill>
                  <a:srgbClr val="0D9488"/>
                </a:solidFill>
                <a:latin typeface="Calibri" pitchFamily="34" charset="0"/>
                <a:ea typeface="Calibri" pitchFamily="34" charset="-122"/>
                <a:cs typeface="Calibri" pitchFamily="34" charset="-120"/>
              </a:rPr>
              <a:t>Vision Model (YOLO)</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3070091557"/>
              </p:ext>
            </p:extLst>
          </p:nvPr>
        </p:nvGraphicFramePr>
        <p:xfrm>
          <a:off x="365760" y="1692586"/>
          <a:ext cx="3931920" cy="1828800"/>
        </p:xfrm>
        <a:graphic>
          <a:graphicData uri="http://schemas.openxmlformats.org/drawingml/2006/table">
            <a:tbl>
              <a:tblPr/>
              <a:tblGrid>
                <a:gridCol w="2697480"/>
                <a:gridCol w="1234440"/>
              </a:tblGrid>
              <a:tr h="3657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0F2A4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0F2A4D"/>
                    </a:solidFill>
                  </a:tcPr>
                </a:tc>
              </a:tr>
              <a:tr h="365760">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mAP@50</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 0.70</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mAP@50-95</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 0.50</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r>
              <a:tr h="365760">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Per-class F1 (all 6 classes)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 0.65</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365760">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Inference speed</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Report only</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5" name="Text 2"/>
          <p:cNvSpPr/>
          <p:nvPr/>
        </p:nvSpPr>
        <p:spPr>
          <a:xfrm>
            <a:off x="4805330" y="1215521"/>
            <a:ext cx="4206240" cy="274320"/>
          </a:xfrm>
          <a:prstGeom prst="rect">
            <a:avLst/>
          </a:prstGeom>
          <a:noFill/>
          <a:ln/>
        </p:spPr>
        <p:txBody>
          <a:bodyPr wrap="square" rtlCol="0" anchor="ctr"/>
          <a:lstStyle/>
          <a:p>
            <a:pPr marL="0" indent="0" algn="ctr">
              <a:buNone/>
            </a:pPr>
            <a:r>
              <a:rPr lang="en-US" sz="1300" b="1" dirty="0">
                <a:solidFill>
                  <a:srgbClr val="0D9488"/>
                </a:solidFill>
                <a:latin typeface="Calibri" pitchFamily="34" charset="0"/>
                <a:ea typeface="Calibri" pitchFamily="34" charset="-122"/>
                <a:cs typeface="Calibri" pitchFamily="34" charset="-120"/>
              </a:rPr>
              <a:t>RAG Pipeline</a:t>
            </a:r>
            <a:endParaRPr lang="en-US" sz="1300" dirty="0"/>
          </a:p>
        </p:txBody>
      </p:sp>
      <p:graphicFrame>
        <p:nvGraphicFramePr>
          <p:cNvPr id="25" name="Table 1"/>
          <p:cNvGraphicFramePr>
            <a:graphicFrameLocks noGrp="1"/>
          </p:cNvGraphicFramePr>
          <p:nvPr>
            <p:extLst>
              <p:ext uri="{D42A27DB-BD31-4B8C-83A1-F6EECF244321}">
                <p14:modId xmlns:p14="http://schemas.microsoft.com/office/powerpoint/2010/main" val="813237852"/>
              </p:ext>
            </p:extLst>
          </p:nvPr>
        </p:nvGraphicFramePr>
        <p:xfrm>
          <a:off x="4805330" y="1692586"/>
          <a:ext cx="4206240" cy="1024128"/>
        </p:xfrm>
        <a:graphic>
          <a:graphicData uri="http://schemas.openxmlformats.org/drawingml/2006/table">
            <a:tbl>
              <a:tblPr/>
              <a:tblGrid>
                <a:gridCol w="2926080"/>
                <a:gridCol w="1280160"/>
              </a:tblGrid>
              <a:tr h="34137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0F2A4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Target</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0F2A4D"/>
                    </a:solidFill>
                  </a:tcPr>
                </a:tc>
              </a:tr>
              <a:tr h="341376">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Retrieval Precision@3</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 0.80</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341376">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Faithfulness score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 0.85</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Dataset Plan</a:t>
            </a:r>
            <a:endParaRPr lang="en-US" sz="3000" dirty="0"/>
          </a:p>
        </p:txBody>
      </p:sp>
      <p:sp>
        <p:nvSpPr>
          <p:cNvPr id="3" name="Text 1"/>
          <p:cNvSpPr/>
          <p:nvPr/>
        </p:nvSpPr>
        <p:spPr>
          <a:xfrm>
            <a:off x="365760" y="868680"/>
            <a:ext cx="8412480" cy="274320"/>
          </a:xfrm>
          <a:prstGeom prst="rect">
            <a:avLst/>
          </a:prstGeom>
          <a:noFill/>
          <a:ln/>
        </p:spPr>
        <p:txBody>
          <a:bodyPr wrap="square"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Vision Datasets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170432"/>
          <a:ext cx="8412480" cy="1938530"/>
        </p:xfrm>
        <a:graphic>
          <a:graphicData uri="http://schemas.openxmlformats.org/drawingml/2006/table">
            <a:tbl>
              <a:tblPr/>
              <a:tblGrid>
                <a:gridCol w="1691640"/>
                <a:gridCol w="1463040"/>
                <a:gridCol w="2606040"/>
                <a:gridCol w="2651760"/>
              </a:tblGrid>
              <a:tr h="38770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0F2A4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Size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0F2A4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Annotation Type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0F2A4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0F2A4D"/>
                    </a:solidFill>
                  </a:tcPr>
                </a:tc>
              </a:tr>
              <a:tr h="387706">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VehiDE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13,945 images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Bounding boxes, 32k+ instances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Primary training &amp; evaluation</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387706">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CarDD</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Varies by split</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Pixel-level segmentation masks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Supplementary segmentation fine-tuning</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r>
              <a:tr h="387706">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COCO Car Damage</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~500 images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COCO-format bounding boxes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Supplementary architecture comparison</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FFFFF"/>
                    </a:solidFill>
                  </a:tcPr>
                </a:tc>
              </a:tr>
              <a:tr h="387706">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Car Damage Severity</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~2,300 images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Minor / Moderate / Severe labels</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c>
                  <a:txBody>
                    <a:bodyPr/>
                    <a:lstStyle/>
                    <a:p>
                      <a:pPr marL="0" indent="0" algn="l">
                        <a:buNone/>
                      </a:pPr>
                      <a:r>
                        <a:rPr lang="en-US" sz="1100" dirty="0">
                          <a:solidFill>
                            <a:srgbClr val="0F2A4D"/>
                          </a:solidFill>
                          <a:latin typeface="Calibri" pitchFamily="34" charset="0"/>
                          <a:ea typeface="Calibri" pitchFamily="34" charset="-122"/>
                          <a:cs typeface="Calibri" pitchFamily="34" charset="-120"/>
                        </a:rPr>
                        <a:t>Severity classifier calibration</a:t>
                      </a:r>
                      <a:endParaRPr lang="en-US" sz="1100" dirty="0">
                        <a:latin typeface="Calibri" charset="0"/>
                        <a:ea typeface="Calibri" charset="0"/>
                        <a:cs typeface="Calibri" charset="0"/>
                      </a:endParaRPr>
                    </a:p>
                  </a:txBody>
                  <a:tcPr>
                    <a:lnL w="0" cap="flat" cmpd="sng" algn="ctr">
                      <a:noFill/>
                    </a:lnL>
                    <a:lnR w="0" cap="flat" cmpd="sng" algn="ctr">
                      <a:noFill/>
                    </a:lnR>
                    <a:lnT w="0" cap="flat" cmpd="sng" algn="ctr">
                      <a:noFill/>
                    </a:lnT>
                    <a:lnB w="0" cap="flat" cmpd="sng" algn="ctr">
                      <a:noFill/>
                    </a:lnB>
                    <a:solidFill>
                      <a:srgbClr val="F8FAFC"/>
                    </a:solidFill>
                  </a:tcPr>
                </a:tc>
              </a:tr>
            </a:tbl>
          </a:graphicData>
        </a:graphic>
      </p:graphicFrame>
      <p:sp>
        <p:nvSpPr>
          <p:cNvPr id="5" name="Text 2"/>
          <p:cNvSpPr/>
          <p:nvPr/>
        </p:nvSpPr>
        <p:spPr>
          <a:xfrm>
            <a:off x="365760" y="3218688"/>
            <a:ext cx="8412480" cy="274320"/>
          </a:xfrm>
          <a:prstGeom prst="rect">
            <a:avLst/>
          </a:prstGeom>
          <a:noFill/>
          <a:ln/>
        </p:spPr>
        <p:txBody>
          <a:bodyPr wrap="square" rtlCol="0" anchor="ctr"/>
          <a:lstStyle/>
          <a:p>
            <a:pPr marL="0" indent="0">
              <a:buNone/>
            </a:pPr>
            <a:r>
              <a:rPr lang="en-US" sz="1300" b="1" dirty="0" smtClean="0">
                <a:solidFill>
                  <a:srgbClr val="0D9488"/>
                </a:solidFill>
                <a:latin typeface="Calibri" pitchFamily="34" charset="0"/>
                <a:ea typeface="Calibri" pitchFamily="34" charset="-122"/>
                <a:cs typeface="Calibri" pitchFamily="34" charset="-120"/>
              </a:rPr>
              <a:t>Policy </a:t>
            </a:r>
            <a:r>
              <a:rPr lang="en-US" sz="1300" b="1" dirty="0">
                <a:solidFill>
                  <a:srgbClr val="0D9488"/>
                </a:solidFill>
                <a:latin typeface="Calibri" pitchFamily="34" charset="0"/>
                <a:ea typeface="Calibri" pitchFamily="34" charset="-122"/>
                <a:cs typeface="Calibri" pitchFamily="34" charset="-120"/>
              </a:rPr>
              <a:t>Data </a:t>
            </a:r>
            <a:r>
              <a:rPr lang="en-US" sz="1300" b="1" dirty="0" smtClean="0">
                <a:solidFill>
                  <a:srgbClr val="0D9488"/>
                </a:solidFill>
                <a:latin typeface="Calibri" pitchFamily="34" charset="0"/>
                <a:ea typeface="Calibri" pitchFamily="34" charset="-122"/>
                <a:cs typeface="Calibri" pitchFamily="34" charset="-120"/>
              </a:rPr>
              <a:t>to be created </a:t>
            </a:r>
            <a:r>
              <a:rPr lang="en-US" sz="1300" b="1" dirty="0">
                <a:solidFill>
                  <a:srgbClr val="0D9488"/>
                </a:solidFill>
                <a:latin typeface="Calibri" pitchFamily="34" charset="0"/>
                <a:ea typeface="Calibri" pitchFamily="34" charset="-122"/>
                <a:cs typeface="Calibri" pitchFamily="34" charset="-120"/>
              </a:rPr>
              <a:t>by Team</a:t>
            </a:r>
            <a:endParaRPr lang="en-US" sz="1300" dirty="0"/>
          </a:p>
        </p:txBody>
      </p:sp>
      <p:sp>
        <p:nvSpPr>
          <p:cNvPr id="6" name="Text 3"/>
          <p:cNvSpPr/>
          <p:nvPr/>
        </p:nvSpPr>
        <p:spPr>
          <a:xfrm>
            <a:off x="457200" y="3547872"/>
            <a:ext cx="8321040" cy="1417320"/>
          </a:xfrm>
          <a:prstGeom prst="rect">
            <a:avLst/>
          </a:prstGeom>
          <a:noFill/>
          <a:ln/>
        </p:spPr>
        <p:txBody>
          <a:bodyPr wrap="square" rtlCol="0" anchor="t"/>
          <a:lstStyle/>
          <a:p>
            <a:pPr marL="342900" indent="-342900">
              <a:buSzPct val="100000"/>
              <a:buChar char="•"/>
            </a:pPr>
            <a:r>
              <a:rPr lang="en-US" sz="1200" dirty="0">
                <a:solidFill>
                  <a:srgbClr val="0F2A4D"/>
                </a:solidFill>
                <a:latin typeface="Calibri" pitchFamily="34" charset="0"/>
                <a:ea typeface="Calibri" pitchFamily="34" charset="-122"/>
                <a:cs typeface="Calibri" pitchFamily="34" charset="-120"/>
              </a:rPr>
              <a:t>5 synthetic insurance policy PDFs (8-12 pages each) covering collision, comprehensive coverage, deductibles, exclusions, claim limits, and third-party liability.</a:t>
            </a:r>
            <a:endParaRPr lang="en-US" sz="1200" dirty="0"/>
          </a:p>
          <a:p>
            <a:pPr marL="342900" indent="-342900">
              <a:buSzPct val="100000"/>
              <a:buChar char="•"/>
            </a:pPr>
            <a:r>
              <a:rPr lang="en-US" sz="1200" dirty="0">
                <a:solidFill>
                  <a:srgbClr val="0F2A4D"/>
                </a:solidFill>
                <a:latin typeface="Calibri" pitchFamily="34" charset="0"/>
                <a:ea typeface="Calibri" pitchFamily="34" charset="-122"/>
                <a:cs typeface="Calibri" pitchFamily="34" charset="-120"/>
              </a:rPr>
              <a:t>Each policy has coverage clauses mapped to all 6 damage classes </a:t>
            </a:r>
            <a:r>
              <a:rPr lang="en-US" sz="1200" dirty="0" smtClean="0">
                <a:solidFill>
                  <a:srgbClr val="0F2A4D"/>
                </a:solidFill>
                <a:latin typeface="Calibri" pitchFamily="34" charset="0"/>
                <a:ea typeface="Calibri" pitchFamily="34" charset="-122"/>
                <a:cs typeface="Calibri" pitchFamily="34" charset="-120"/>
              </a:rPr>
              <a:t> </a:t>
            </a:r>
            <a:r>
              <a:rPr lang="en-US" sz="1200" dirty="0">
                <a:solidFill>
                  <a:srgbClr val="0F2A4D"/>
                </a:solidFill>
                <a:latin typeface="Calibri" pitchFamily="34" charset="0"/>
                <a:ea typeface="Calibri" pitchFamily="34" charset="-122"/>
                <a:cs typeface="Calibri" pitchFamily="34" charset="-120"/>
              </a:rPr>
              <a:t>enables ground-truth evaluation of RAG retrieval precision.</a:t>
            </a:r>
            <a:endParaRPr lang="en-US" sz="1200" dirty="0"/>
          </a:p>
          <a:p>
            <a:pPr marL="342900" indent="-342900">
              <a:buSzPct val="100000"/>
              <a:buChar char="•"/>
            </a:pPr>
            <a:r>
              <a:rPr lang="en-US" sz="1200" dirty="0">
                <a:solidFill>
                  <a:srgbClr val="0F2A4D"/>
                </a:solidFill>
                <a:latin typeface="Calibri" pitchFamily="34" charset="0"/>
                <a:ea typeface="Calibri" pitchFamily="34" charset="-122"/>
                <a:cs typeface="Calibri" pitchFamily="34" charset="-120"/>
              </a:rPr>
              <a:t>50 synthetic incident descriptions paired with test images for end-to-end report quality evaluation.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30352"/>
          </a:xfrm>
          <a:prstGeom prst="rect">
            <a:avLst/>
          </a:prstGeom>
          <a:noFill/>
          <a:ln/>
        </p:spPr>
        <p:txBody>
          <a:bodyPr wrap="square" rtlCol="0" anchor="ctr"/>
          <a:lstStyle/>
          <a:p>
            <a:pPr marL="0" indent="0">
              <a:buNone/>
            </a:pPr>
            <a:r>
              <a:rPr lang="en-US" sz="3000" b="1" dirty="0">
                <a:solidFill>
                  <a:srgbClr val="0F2A4D"/>
                </a:solidFill>
                <a:latin typeface="Cambria" pitchFamily="34" charset="0"/>
                <a:ea typeface="Cambria" pitchFamily="34" charset="-122"/>
                <a:cs typeface="Cambria" pitchFamily="34" charset="-120"/>
              </a:rPr>
              <a:t>Risks &amp; Mitigations</a:t>
            </a:r>
            <a:endParaRPr lang="en-US" sz="3000" dirty="0"/>
          </a:p>
        </p:txBody>
      </p:sp>
      <p:sp>
        <p:nvSpPr>
          <p:cNvPr id="3" name="Shape 1"/>
          <p:cNvSpPr/>
          <p:nvPr/>
        </p:nvSpPr>
        <p:spPr>
          <a:xfrm>
            <a:off x="365760" y="932688"/>
            <a:ext cx="4206240" cy="1261872"/>
          </a:xfrm>
          <a:prstGeom prst="roundRect">
            <a:avLst>
              <a:gd name="adj" fmla="val 7246"/>
            </a:avLst>
          </a:prstGeom>
          <a:solidFill>
            <a:srgbClr val="FFF7ED"/>
          </a:solidFill>
          <a:ln/>
          <a:effectLst>
            <a:outerShdw blurRad="101600" dist="25400" dir="2700000" algn="bl" rotWithShape="0">
              <a:srgbClr val="000000">
                <a:alpha val="10000"/>
              </a:srgbClr>
            </a:outerShdw>
          </a:effectLst>
        </p:spPr>
      </p:sp>
      <p:sp>
        <p:nvSpPr>
          <p:cNvPr id="4" name="Text 2"/>
          <p:cNvSpPr/>
          <p:nvPr/>
        </p:nvSpPr>
        <p:spPr>
          <a:xfrm>
            <a:off x="502920" y="1024128"/>
            <a:ext cx="3977640" cy="292608"/>
          </a:xfrm>
          <a:prstGeom prst="rect">
            <a:avLst/>
          </a:prstGeom>
          <a:noFill/>
          <a:ln/>
        </p:spPr>
        <p:txBody>
          <a:bodyPr wrap="square" rtlCol="0" anchor="ctr"/>
          <a:lstStyle/>
          <a:p>
            <a:pPr marL="0" indent="0">
              <a:buNone/>
            </a:pPr>
            <a:r>
              <a:rPr lang="en-US" sz="1200" b="1" dirty="0">
                <a:solidFill>
                  <a:srgbClr val="9A3412"/>
                </a:solidFill>
                <a:latin typeface="Calibri" pitchFamily="34" charset="0"/>
                <a:ea typeface="Calibri" pitchFamily="34" charset="-122"/>
                <a:cs typeface="Calibri" pitchFamily="34" charset="-120"/>
              </a:rPr>
              <a:t>⚠  Dataset Imbalance</a:t>
            </a:r>
            <a:endParaRPr lang="en-US" sz="1200" dirty="0"/>
          </a:p>
        </p:txBody>
      </p:sp>
      <p:sp>
        <p:nvSpPr>
          <p:cNvPr id="5" name="Text 3"/>
          <p:cNvSpPr/>
          <p:nvPr/>
        </p:nvSpPr>
        <p:spPr>
          <a:xfrm>
            <a:off x="502920" y="1353312"/>
            <a:ext cx="397764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Dents/scratches dominate rare classes. Mitigation: class-weighted loss, augmentation oversampling, per-class F1 monitoring.</a:t>
            </a:r>
            <a:endParaRPr lang="en-US" sz="1100" dirty="0"/>
          </a:p>
        </p:txBody>
      </p:sp>
      <p:sp>
        <p:nvSpPr>
          <p:cNvPr id="6" name="Shape 4"/>
          <p:cNvSpPr/>
          <p:nvPr/>
        </p:nvSpPr>
        <p:spPr>
          <a:xfrm>
            <a:off x="4663440" y="932688"/>
            <a:ext cx="4206240" cy="1261872"/>
          </a:xfrm>
          <a:prstGeom prst="roundRect">
            <a:avLst>
              <a:gd name="adj" fmla="val 7246"/>
            </a:avLst>
          </a:prstGeom>
          <a:solidFill>
            <a:srgbClr val="FFF7ED"/>
          </a:solidFill>
          <a:ln/>
          <a:effectLst>
            <a:outerShdw blurRad="101600" dist="25400" dir="2700000" algn="bl" rotWithShape="0">
              <a:srgbClr val="000000">
                <a:alpha val="10000"/>
              </a:srgbClr>
            </a:outerShdw>
          </a:effectLst>
        </p:spPr>
      </p:sp>
      <p:sp>
        <p:nvSpPr>
          <p:cNvPr id="7" name="Text 5"/>
          <p:cNvSpPr/>
          <p:nvPr/>
        </p:nvSpPr>
        <p:spPr>
          <a:xfrm>
            <a:off x="4800600" y="1024128"/>
            <a:ext cx="3977640" cy="292608"/>
          </a:xfrm>
          <a:prstGeom prst="rect">
            <a:avLst/>
          </a:prstGeom>
          <a:noFill/>
          <a:ln/>
        </p:spPr>
        <p:txBody>
          <a:bodyPr wrap="square" rtlCol="0" anchor="ctr"/>
          <a:lstStyle/>
          <a:p>
            <a:pPr marL="0" indent="0">
              <a:buNone/>
            </a:pPr>
            <a:r>
              <a:rPr lang="en-US" sz="1200" b="1" dirty="0">
                <a:solidFill>
                  <a:srgbClr val="9A3412"/>
                </a:solidFill>
                <a:latin typeface="Calibri" pitchFamily="34" charset="0"/>
                <a:ea typeface="Calibri" pitchFamily="34" charset="-122"/>
                <a:cs typeface="Calibri" pitchFamily="34" charset="-120"/>
              </a:rPr>
              <a:t>⚠  Severity Estimation</a:t>
            </a:r>
            <a:endParaRPr lang="en-US" sz="1200" dirty="0"/>
          </a:p>
        </p:txBody>
      </p:sp>
      <p:sp>
        <p:nvSpPr>
          <p:cNvPr id="8" name="Text 6"/>
          <p:cNvSpPr/>
          <p:nvPr/>
        </p:nvSpPr>
        <p:spPr>
          <a:xfrm>
            <a:off x="4800600" y="1353312"/>
            <a:ext cx="397764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BBox-area proxy has failure modes. Mitigation: calibrate against Car Damage Severity dataset + human annotator consensus.</a:t>
            </a:r>
            <a:endParaRPr lang="en-US" sz="1100" dirty="0"/>
          </a:p>
        </p:txBody>
      </p:sp>
      <p:sp>
        <p:nvSpPr>
          <p:cNvPr id="9" name="Shape 7"/>
          <p:cNvSpPr/>
          <p:nvPr/>
        </p:nvSpPr>
        <p:spPr>
          <a:xfrm>
            <a:off x="365760" y="2331720"/>
            <a:ext cx="4206240" cy="1261872"/>
          </a:xfrm>
          <a:prstGeom prst="roundRect">
            <a:avLst>
              <a:gd name="adj" fmla="val 7246"/>
            </a:avLst>
          </a:prstGeom>
          <a:solidFill>
            <a:srgbClr val="FFF7ED"/>
          </a:solidFill>
          <a:ln/>
          <a:effectLst>
            <a:outerShdw blurRad="101600" dist="25400" dir="2700000" algn="bl" rotWithShape="0">
              <a:srgbClr val="000000">
                <a:alpha val="10000"/>
              </a:srgbClr>
            </a:outerShdw>
          </a:effectLst>
        </p:spPr>
      </p:sp>
      <p:sp>
        <p:nvSpPr>
          <p:cNvPr id="10" name="Text 8"/>
          <p:cNvSpPr/>
          <p:nvPr/>
        </p:nvSpPr>
        <p:spPr>
          <a:xfrm>
            <a:off x="502920" y="2423160"/>
            <a:ext cx="3977640" cy="292608"/>
          </a:xfrm>
          <a:prstGeom prst="rect">
            <a:avLst/>
          </a:prstGeom>
          <a:noFill/>
          <a:ln/>
        </p:spPr>
        <p:txBody>
          <a:bodyPr wrap="square" rtlCol="0" anchor="ctr"/>
          <a:lstStyle/>
          <a:p>
            <a:pPr marL="0" indent="0">
              <a:buNone/>
            </a:pPr>
            <a:r>
              <a:rPr lang="en-US" sz="1200" b="1" dirty="0">
                <a:solidFill>
                  <a:srgbClr val="9A3412"/>
                </a:solidFill>
                <a:latin typeface="Calibri" pitchFamily="34" charset="0"/>
                <a:ea typeface="Calibri" pitchFamily="34" charset="-122"/>
                <a:cs typeface="Calibri" pitchFamily="34" charset="-120"/>
              </a:rPr>
              <a:t>⚠  Domain Shift</a:t>
            </a:r>
            <a:endParaRPr lang="en-US" sz="1200" dirty="0"/>
          </a:p>
        </p:txBody>
      </p:sp>
      <p:sp>
        <p:nvSpPr>
          <p:cNvPr id="11" name="Text 9"/>
          <p:cNvSpPr/>
          <p:nvPr/>
        </p:nvSpPr>
        <p:spPr>
          <a:xfrm>
            <a:off x="502920" y="2752344"/>
            <a:ext cx="397764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Training on studio images; real claims are mobile photos in variable conditions. Mitigation: brightness/contrast/perspective augmentation + realistic stress-test set.</a:t>
            </a:r>
            <a:endParaRPr lang="en-US" sz="1100" dirty="0"/>
          </a:p>
        </p:txBody>
      </p:sp>
      <p:sp>
        <p:nvSpPr>
          <p:cNvPr id="12" name="Shape 10"/>
          <p:cNvSpPr/>
          <p:nvPr/>
        </p:nvSpPr>
        <p:spPr>
          <a:xfrm>
            <a:off x="4663440" y="2331720"/>
            <a:ext cx="4206240" cy="1261872"/>
          </a:xfrm>
          <a:prstGeom prst="roundRect">
            <a:avLst>
              <a:gd name="adj" fmla="val 7246"/>
            </a:avLst>
          </a:prstGeom>
          <a:solidFill>
            <a:srgbClr val="FFF7ED"/>
          </a:solidFill>
          <a:ln/>
          <a:effectLst>
            <a:outerShdw blurRad="101600" dist="25400" dir="2700000" algn="bl" rotWithShape="0">
              <a:srgbClr val="000000">
                <a:alpha val="10000"/>
              </a:srgbClr>
            </a:outerShdw>
          </a:effectLst>
        </p:spPr>
      </p:sp>
      <p:sp>
        <p:nvSpPr>
          <p:cNvPr id="13" name="Text 11"/>
          <p:cNvSpPr/>
          <p:nvPr/>
        </p:nvSpPr>
        <p:spPr>
          <a:xfrm>
            <a:off x="4800600" y="2423160"/>
            <a:ext cx="3977640" cy="292608"/>
          </a:xfrm>
          <a:prstGeom prst="rect">
            <a:avLst/>
          </a:prstGeom>
          <a:noFill/>
          <a:ln/>
        </p:spPr>
        <p:txBody>
          <a:bodyPr wrap="square" rtlCol="0" anchor="ctr"/>
          <a:lstStyle/>
          <a:p>
            <a:pPr marL="0" indent="0">
              <a:buNone/>
            </a:pPr>
            <a:r>
              <a:rPr lang="en-US" sz="1200" b="1" dirty="0">
                <a:solidFill>
                  <a:srgbClr val="9A3412"/>
                </a:solidFill>
                <a:latin typeface="Calibri" pitchFamily="34" charset="0"/>
                <a:ea typeface="Calibri" pitchFamily="34" charset="-122"/>
                <a:cs typeface="Calibri" pitchFamily="34" charset="-120"/>
              </a:rPr>
              <a:t>⚠  RAG Faithfulness (Synthetic Policies)</a:t>
            </a:r>
            <a:endParaRPr lang="en-US" sz="1200" dirty="0"/>
          </a:p>
        </p:txBody>
      </p:sp>
      <p:sp>
        <p:nvSpPr>
          <p:cNvPr id="14" name="Text 12"/>
          <p:cNvSpPr/>
          <p:nvPr/>
        </p:nvSpPr>
        <p:spPr>
          <a:xfrm>
            <a:off x="4800600" y="2752344"/>
            <a:ext cx="397764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Synthetic docs may be simpler than real policies. Mitigation: varied phrasing, negations, and distractor clauses to stress-test retrieval.</a:t>
            </a:r>
            <a:endParaRPr lang="en-US" sz="1100" dirty="0"/>
          </a:p>
        </p:txBody>
      </p:sp>
      <p:sp>
        <p:nvSpPr>
          <p:cNvPr id="15" name="Shape 13"/>
          <p:cNvSpPr/>
          <p:nvPr/>
        </p:nvSpPr>
        <p:spPr>
          <a:xfrm>
            <a:off x="365760" y="3730752"/>
            <a:ext cx="8412480" cy="1261872"/>
          </a:xfrm>
          <a:prstGeom prst="roundRect">
            <a:avLst>
              <a:gd name="adj" fmla="val 7246"/>
            </a:avLst>
          </a:prstGeom>
          <a:solidFill>
            <a:srgbClr val="FFF7ED"/>
          </a:solidFill>
          <a:ln/>
          <a:effectLst>
            <a:outerShdw blurRad="101600" dist="25400" dir="2700000" algn="bl" rotWithShape="0">
              <a:srgbClr val="000000">
                <a:alpha val="10000"/>
              </a:srgbClr>
            </a:outerShdw>
          </a:effectLst>
        </p:spPr>
      </p:sp>
      <p:sp>
        <p:nvSpPr>
          <p:cNvPr id="16" name="Text 14"/>
          <p:cNvSpPr/>
          <p:nvPr/>
        </p:nvSpPr>
        <p:spPr>
          <a:xfrm>
            <a:off x="502920" y="3822192"/>
            <a:ext cx="8183880" cy="292608"/>
          </a:xfrm>
          <a:prstGeom prst="rect">
            <a:avLst/>
          </a:prstGeom>
          <a:noFill/>
          <a:ln/>
        </p:spPr>
        <p:txBody>
          <a:bodyPr wrap="square" rtlCol="0" anchor="ctr"/>
          <a:lstStyle/>
          <a:p>
            <a:pPr marL="0" indent="0">
              <a:buNone/>
            </a:pPr>
            <a:r>
              <a:rPr lang="en-US" sz="1200" b="1" dirty="0">
                <a:solidFill>
                  <a:srgbClr val="9A3412"/>
                </a:solidFill>
                <a:latin typeface="Calibri" pitchFamily="34" charset="0"/>
                <a:ea typeface="Calibri" pitchFamily="34" charset="-122"/>
                <a:cs typeface="Calibri" pitchFamily="34" charset="-120"/>
              </a:rPr>
              <a:t>⚠  LLM Hallucination on Edge Cases</a:t>
            </a:r>
            <a:endParaRPr lang="en-US" sz="1200" dirty="0"/>
          </a:p>
        </p:txBody>
      </p:sp>
      <p:sp>
        <p:nvSpPr>
          <p:cNvPr id="17" name="Text 15"/>
          <p:cNvSpPr/>
          <p:nvPr/>
        </p:nvSpPr>
        <p:spPr>
          <a:xfrm>
            <a:off x="502920" y="4151376"/>
            <a:ext cx="8183880" cy="77724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LLM may invent coverage when no clause is retrieved. Mitigation: explicit prompt instruction to state 'not covered' rather than infer from parametric knowledge.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949440" y="-640080"/>
            <a:ext cx="2651760" cy="2651760"/>
          </a:xfrm>
          <a:prstGeom prst="ellipse">
            <a:avLst/>
          </a:prstGeom>
          <a:solidFill>
            <a:srgbClr val="0D9488">
              <a:alpha val="26000"/>
            </a:srgbClr>
          </a:solidFill>
          <a:ln w="12700">
            <a:solidFill>
              <a:srgbClr val="0D9488">
                <a:alpha val="26000"/>
              </a:srgbClr>
            </a:solidFill>
            <a:prstDash val="solid"/>
          </a:ln>
        </p:spPr>
      </p:sp>
      <p:sp>
        <p:nvSpPr>
          <p:cNvPr id="3" name="Shape 1"/>
          <p:cNvSpPr/>
          <p:nvPr/>
        </p:nvSpPr>
        <p:spPr>
          <a:xfrm>
            <a:off x="-640080" y="3291840"/>
            <a:ext cx="2194560" cy="2194560"/>
          </a:xfrm>
          <a:prstGeom prst="ellipse">
            <a:avLst/>
          </a:prstGeom>
          <a:solidFill>
            <a:srgbClr val="0D9488">
              <a:alpha val="21000"/>
            </a:srgbClr>
          </a:solidFill>
          <a:ln w="12700">
            <a:solidFill>
              <a:srgbClr val="0D9488">
                <a:alpha val="21000"/>
              </a:srgbClr>
            </a:solidFill>
            <a:prstDash val="solid"/>
          </a:ln>
        </p:spPr>
      </p:sp>
      <p:sp>
        <p:nvSpPr>
          <p:cNvPr id="4" name="Text 2"/>
          <p:cNvSpPr/>
          <p:nvPr/>
        </p:nvSpPr>
        <p:spPr>
          <a:xfrm>
            <a:off x="457200" y="1371600"/>
            <a:ext cx="8229600" cy="1005840"/>
          </a:xfrm>
          <a:prstGeom prst="rect">
            <a:avLst/>
          </a:prstGeom>
          <a:noFill/>
          <a:ln/>
        </p:spPr>
        <p:txBody>
          <a:bodyPr wrap="square"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5" name="Text 3"/>
          <p:cNvSpPr/>
          <p:nvPr/>
        </p:nvSpPr>
        <p:spPr>
          <a:xfrm>
            <a:off x="457200" y="2514600"/>
            <a:ext cx="8229600" cy="502920"/>
          </a:xfrm>
          <a:prstGeom prst="rect">
            <a:avLst/>
          </a:prstGeom>
          <a:noFill/>
          <a:ln/>
        </p:spPr>
        <p:txBody>
          <a:bodyPr wrap="square" rtlCol="0" anchor="ctr"/>
          <a:lstStyle/>
          <a:p>
            <a:pPr marL="0" indent="0" algn="ctr">
              <a:buNone/>
            </a:pPr>
            <a:r>
              <a:rPr lang="en-US" sz="2200" dirty="0">
                <a:solidFill>
                  <a:srgbClr val="99F6E4"/>
                </a:solidFill>
                <a:latin typeface="Calibri" pitchFamily="34" charset="0"/>
                <a:ea typeface="Calibri" pitchFamily="34" charset="-122"/>
                <a:cs typeface="Calibri" pitchFamily="34" charset="-120"/>
              </a:rPr>
              <a:t>Questions &amp; Discussion</a:t>
            </a:r>
            <a:endParaRPr lang="en-US" sz="2200" dirty="0"/>
          </a:p>
        </p:txBody>
      </p:sp>
      <p:sp>
        <p:nvSpPr>
          <p:cNvPr id="6" name="Shape 4"/>
          <p:cNvSpPr/>
          <p:nvPr/>
        </p:nvSpPr>
        <p:spPr>
          <a:xfrm>
            <a:off x="1371600" y="3246120"/>
            <a:ext cx="6400800" cy="1371600"/>
          </a:xfrm>
          <a:prstGeom prst="roundRect">
            <a:avLst>
              <a:gd name="adj" fmla="val 10000"/>
            </a:avLst>
          </a:prstGeom>
          <a:solidFill>
            <a:srgbClr val="1E3A5F"/>
          </a:solidFill>
          <a:ln/>
        </p:spPr>
      </p:sp>
      <p:sp>
        <p:nvSpPr>
          <p:cNvPr id="7" name="Text 5"/>
          <p:cNvSpPr/>
          <p:nvPr/>
        </p:nvSpPr>
        <p:spPr>
          <a:xfrm>
            <a:off x="1508760" y="3364992"/>
            <a:ext cx="6126480" cy="292608"/>
          </a:xfrm>
          <a:prstGeom prst="rect">
            <a:avLst/>
          </a:prstGeom>
          <a:noFill/>
          <a:ln/>
        </p:spPr>
        <p:txBody>
          <a:bodyPr wrap="square" rtlCol="0" anchor="ctr"/>
          <a:lstStyle/>
          <a:p>
            <a:pPr marL="0" indent="0">
              <a:buNone/>
            </a:pPr>
            <a:r>
              <a:rPr lang="en-US" sz="1200" b="1" dirty="0">
                <a:solidFill>
                  <a:srgbClr val="99F6E4"/>
                </a:solidFill>
                <a:latin typeface="Calibri" pitchFamily="34" charset="0"/>
                <a:ea typeface="Calibri" pitchFamily="34" charset="-122"/>
                <a:cs typeface="Calibri" pitchFamily="34" charset="-120"/>
              </a:rPr>
              <a:t>GitHub:  </a:t>
            </a:r>
            <a:r>
              <a:rPr lang="en-US" sz="1200" dirty="0">
                <a:solidFill>
                  <a:srgbClr val="94A3B8"/>
                </a:solidFill>
                <a:latin typeface="Calibri" pitchFamily="34" charset="0"/>
                <a:ea typeface="Calibri" pitchFamily="34" charset="-122"/>
                <a:cs typeface="Calibri" pitchFamily="34" charset="-120"/>
              </a:rPr>
              <a:t>HiveCase/Group-1-DS-and-AI-Lab-Project</a:t>
            </a:r>
            <a:endParaRPr lang="en-US" sz="1200" dirty="0"/>
          </a:p>
        </p:txBody>
      </p:sp>
      <p:sp>
        <p:nvSpPr>
          <p:cNvPr id="8" name="Text 6"/>
          <p:cNvSpPr/>
          <p:nvPr/>
        </p:nvSpPr>
        <p:spPr>
          <a:xfrm>
            <a:off x="1508760" y="3675888"/>
            <a:ext cx="6126480" cy="292608"/>
          </a:xfrm>
          <a:prstGeom prst="rect">
            <a:avLst/>
          </a:prstGeom>
          <a:noFill/>
          <a:ln/>
        </p:spPr>
        <p:txBody>
          <a:bodyPr wrap="square" rtlCol="0" anchor="ctr"/>
          <a:lstStyle/>
          <a:p>
            <a:pPr marL="0" indent="0">
              <a:buNone/>
            </a:pPr>
            <a:r>
              <a:rPr lang="en-US" sz="1200" b="1" dirty="0">
                <a:solidFill>
                  <a:srgbClr val="99F6E4"/>
                </a:solidFill>
                <a:latin typeface="Calibri" pitchFamily="34" charset="0"/>
                <a:ea typeface="Calibri" pitchFamily="34" charset="-122"/>
                <a:cs typeface="Calibri" pitchFamily="34" charset="-120"/>
              </a:rPr>
              <a:t>Demo:  </a:t>
            </a:r>
            <a:r>
              <a:rPr lang="en-US" sz="1200" dirty="0">
                <a:solidFill>
                  <a:srgbClr val="94A3B8"/>
                </a:solidFill>
                <a:latin typeface="Calibri" pitchFamily="34" charset="0"/>
                <a:ea typeface="Calibri" pitchFamily="34" charset="-122"/>
                <a:cs typeface="Calibri" pitchFamily="34" charset="-120"/>
              </a:rPr>
              <a:t>Hugging Face Spaces (to be deployed)</a:t>
            </a:r>
            <a:endParaRPr lang="en-US" sz="1200" dirty="0"/>
          </a:p>
        </p:txBody>
      </p:sp>
      <p:sp>
        <p:nvSpPr>
          <p:cNvPr id="9" name="Text 7"/>
          <p:cNvSpPr/>
          <p:nvPr/>
        </p:nvSpPr>
        <p:spPr>
          <a:xfrm>
            <a:off x="1508760" y="3986784"/>
            <a:ext cx="6126480" cy="292608"/>
          </a:xfrm>
          <a:prstGeom prst="rect">
            <a:avLst/>
          </a:prstGeom>
          <a:noFill/>
          <a:ln/>
        </p:spPr>
        <p:txBody>
          <a:bodyPr wrap="square" rtlCol="0" anchor="ctr"/>
          <a:lstStyle/>
          <a:p>
            <a:pPr marL="0" indent="0">
              <a:buNone/>
            </a:pPr>
            <a:r>
              <a:rPr lang="en-US" sz="1200" b="1" dirty="0">
                <a:solidFill>
                  <a:srgbClr val="99F6E4"/>
                </a:solidFill>
                <a:latin typeface="Calibri" pitchFamily="34" charset="0"/>
                <a:ea typeface="Calibri" pitchFamily="34" charset="-122"/>
                <a:cs typeface="Calibri" pitchFamily="34" charset="-120"/>
              </a:rPr>
              <a:t>Course:  </a:t>
            </a:r>
            <a:r>
              <a:rPr lang="en-US" sz="1200" dirty="0">
                <a:solidFill>
                  <a:srgbClr val="94A3B8"/>
                </a:solidFill>
                <a:latin typeface="Calibri" pitchFamily="34" charset="0"/>
                <a:ea typeface="Calibri" pitchFamily="34" charset="-122"/>
                <a:cs typeface="Calibri" pitchFamily="34" charset="-120"/>
              </a:rPr>
              <a:t>DS &amp; AI Lab  ·  May 2026  ·  Group 1  ·  IIT Madras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1617</Words>
  <Application>Microsoft Office PowerPoint</Application>
  <PresentationFormat>On-screen Show (16:9)</PresentationFormat>
  <Paragraphs>217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Damage Assessment for Insurance Claims — Milestone 1</dc:title>
  <dc:subject>PptxGenJS Presentation</dc:subject>
  <dc:creator>PptxGenJS</dc:creator>
  <cp:lastModifiedBy>Microsoft account</cp:lastModifiedBy>
  <cp:revision>3</cp:revision>
  <dcterms:created xsi:type="dcterms:W3CDTF">2026-07-02T18:48:00Z</dcterms:created>
  <dcterms:modified xsi:type="dcterms:W3CDTF">2026-07-02T18:59:37Z</dcterms:modified>
</cp:coreProperties>
</file>